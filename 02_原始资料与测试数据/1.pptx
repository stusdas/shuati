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5"/>
  </p:notesMasterIdLst>
  <p:handoutMasterIdLst>
    <p:handoutMasterId r:id="rId16"/>
  </p:handoutMasterIdLst>
  <p:sldIdLst>
    <p:sldId id="1435" r:id="rId6"/>
    <p:sldId id="1436" r:id="rId7"/>
    <p:sldId id="1434" r:id="rId8"/>
    <p:sldId id="1437" r:id="rId9"/>
    <p:sldId id="1438" r:id="rId10"/>
    <p:sldId id="1439" r:id="rId11"/>
    <p:sldId id="1442" r:id="rId12"/>
    <p:sldId id="1440" r:id="rId13"/>
    <p:sldId id="1441" r:id="rId14"/>
  </p:sldIdLst>
  <p:sldSz cx="12192000" cy="6858000"/>
  <p:notesSz cx="6833870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94651"/>
  </p:normalViewPr>
  <p:slideViewPr>
    <p:cSldViewPr snapToObjects="1" showGuides="1">
      <p:cViewPr varScale="1">
        <p:scale>
          <a:sx n="59" d="100"/>
          <a:sy n="59" d="100"/>
        </p:scale>
        <p:origin x="868" y="52"/>
      </p:cViewPr>
      <p:guideLst>
        <p:guide orient="horz" pos="2160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7325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7325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84F3FDE9-766E-824F-8219-5FA0102948F5}" type="datetimeFigureOut">
              <a:rPr lang="zh-CN" altLang="en-US"/>
            </a:fld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04FE809C-0FE3-3145-BED1-7DEB80ACC30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625" y="621030"/>
            <a:ext cx="12072620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运动员用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Sno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描述，所在系用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Sdept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来描述，比赛项目用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Event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描述，成绩用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Grade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描述，比赛主管用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Tname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描述。现用一个单一的关系模式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Sports( Sno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Sdept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Event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Grade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800" b="1" kern="10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Tname</a:t>
            </a:r>
            <a:r>
              <a:rPr lang="en-US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来表示。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其语义为：</a:t>
            </a:r>
            <a:endParaRPr kumimoji="0" lang="zh-CN" altLang="zh-CN" sz="2800" b="1" kern="100" cap="none" spc="0" normalizeH="0" baseline="0" noProof="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每名运动员只属于一个系，每个系有多名运动员；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每个运动员可以参加多个比赛项目，每个比赛项目也可有多名运动员参加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每个运动员参加某一个比赛项目，有唯一的成绩；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zh-CN" sz="2800" b="1" kern="10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每个比赛项目只有一名比赛主管，一名比赛主管可以负责多个比赛项目。</a:t>
            </a:r>
            <a:endParaRPr kumimoji="0" lang="zh-CN" altLang="zh-CN" sz="28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80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题目</a:t>
            </a:r>
            <a:endParaRPr lang="zh-CN" altLang="en-US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11225" y="1052830"/>
            <a:ext cx="10927080" cy="521462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 → Sdept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：每名运动员只属于一个系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 → Tname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：每个比赛项目只有一名主管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(Sno, Event) → Grade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：运动员参加某项目，成绩唯一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1NF：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属性都是原子项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题目中所有属性都是不可再分的原子值，满足 1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NF。</a:t>
            </a:r>
            <a:endParaRPr lang="en-US" altLang="zh-CN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2NF：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存在非主属性对主键的部分函数依赖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2NF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要求：消除非主属性对主键的部分函数依赖。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答案</a:t>
            </a:r>
            <a:endParaRPr lang="zh-C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设有关系模式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F(A, B, C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D),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其函数依赖集为：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= {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→ B,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 →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C,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C →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}。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主码？最高达到第几范式？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题目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478472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将学生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2018001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的出生日期改为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年第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学期选修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81002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课程所有学生的成绩减少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删除学号为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20180007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的学生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SQL</a:t>
            </a:r>
            <a:r>
              <a:rPr lang="zh-CN" altLang="en-US" sz="3600"/>
              <a:t>改，</a:t>
            </a:r>
            <a:r>
              <a:rPr lang="zh-CN" altLang="en-US" sz="3600"/>
              <a:t>删数据</a:t>
            </a:r>
            <a:r>
              <a:rPr lang="en-US" altLang="zh-CN" sz="3600"/>
              <a:t>-------</a:t>
            </a:r>
            <a:r>
              <a:rPr lang="zh-CN" altLang="en-US" sz="3600"/>
              <a:t>打开课本</a:t>
            </a:r>
            <a:r>
              <a:rPr lang="en-US" altLang="zh-CN" sz="3600"/>
              <a:t>40</a:t>
            </a:r>
            <a:endParaRPr lang="en-US" altLang="zh-CN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150495" y="836930"/>
            <a:ext cx="12038965" cy="37261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3555" dirty="0"/>
              <a:t>员工表：</a:t>
            </a:r>
            <a:r>
              <a:rPr lang="en-US" altLang="zh-CN" sz="3555" dirty="0"/>
              <a:t>Employee(EmpId, EmpName, Dept, Salary)</a:t>
            </a:r>
            <a:endParaRPr lang="en-US" altLang="zh-CN" sz="3555" dirty="0"/>
          </a:p>
          <a:p>
            <a:pPr marL="0" indent="0" eaLnBrk="1" hangingPunct="1">
              <a:buNone/>
            </a:pPr>
            <a:r>
              <a:rPr lang="zh-CN" altLang="en-US" sz="3555" dirty="0"/>
              <a:t>部门表：</a:t>
            </a:r>
            <a:r>
              <a:rPr lang="en-US" altLang="zh-CN" sz="3555" dirty="0"/>
              <a:t>Dept(DeptId, DeptName, Manager)</a:t>
            </a:r>
            <a:endParaRPr lang="en-US" altLang="zh-CN" sz="3555" dirty="0"/>
          </a:p>
          <a:p>
            <a:pPr marL="0" indent="0" eaLnBrk="1" hangingPunct="1">
              <a:buNone/>
            </a:pPr>
            <a:r>
              <a:rPr lang="zh-CN" altLang="en-US" sz="3555" dirty="0"/>
              <a:t>题目要求：建立部门名称为 '市场部'、部门经理为 '张总监' 且员工薪资大于 8000 的员工视图，包含员工编号、姓名、薪资三个属性。</a:t>
            </a:r>
            <a:endParaRPr lang="zh-CN" altLang="en-US" sz="3555" dirty="0"/>
          </a:p>
          <a:p>
            <a:pPr marL="0" indent="0" eaLnBrk="1" hangingPunct="1">
              <a:buNone/>
            </a:pPr>
            <a:endParaRPr lang="en-US" altLang="zh-CN" sz="3555" dirty="0"/>
          </a:p>
          <a:p>
            <a:pPr marL="0" indent="0" eaLnBrk="1" hangingPunct="1">
              <a:buNone/>
            </a:pPr>
            <a:r>
              <a:rPr lang="en-US" altLang="zh-CN" sz="3555" dirty="0">
                <a:sym typeface="+mn-ea"/>
              </a:rPr>
              <a:t>   </a:t>
            </a:r>
            <a:r>
              <a:rPr lang="en-US" altLang="zh-CN" sz="3555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3555" dirty="0"/>
          </a:p>
          <a:p>
            <a:pPr marL="0" indent="0" eaLnBrk="1" hangingPunct="1">
              <a:buNone/>
            </a:pPr>
            <a:endParaRPr lang="en-US" altLang="zh-CN" sz="3555" dirty="0"/>
          </a:p>
          <a:p>
            <a:pPr marL="0" indent="0" eaLnBrk="1" hangingPunct="1">
              <a:buNone/>
            </a:pPr>
            <a:endParaRPr lang="en-US" altLang="zh-CN" sz="3555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263525" y="2925445"/>
            <a:ext cx="13374370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v_market_highsalary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Employee.EmpId, Employee.EmpName, Employee.Salary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Employee, Dept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Employee.Dept = Dept.DeptId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Dept.DeptName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市场部'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Dept.Manager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张总监'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AND Employee.Salary &gt; 8000;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3156565" cy="66167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6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员工 </a:t>
            </a:r>
            <a:r>
              <a:rPr lang="en-US" altLang="zh-CN" sz="4400" dirty="0"/>
              <a:t>E (Eno,Ename,Edept)Eno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Ename </a:t>
            </a:r>
            <a:r>
              <a:rPr lang="zh-CN" altLang="en-US" sz="4400" dirty="0"/>
              <a:t>姓名，</a:t>
            </a:r>
            <a:r>
              <a:rPr lang="en-US" altLang="zh-CN" sz="4400" dirty="0"/>
              <a:t>Edept </a:t>
            </a:r>
            <a:r>
              <a:rPr lang="zh-CN" altLang="en-US" sz="4400" dirty="0"/>
              <a:t>所属部门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工作记录 </a:t>
            </a:r>
            <a:r>
              <a:rPr lang="en-US" altLang="zh-CN" sz="4400" dirty="0"/>
              <a:t>W (Eno,Jno,Wage)Eno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Wage </a:t>
            </a:r>
            <a:r>
              <a:rPr lang="zh-CN" altLang="en-US" sz="4400" dirty="0"/>
              <a:t>岗位薪资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岗位 </a:t>
            </a:r>
            <a:r>
              <a:rPr lang="en-US" altLang="zh-CN" sz="4400" dirty="0"/>
              <a:t>J (Jno,Jname,Leader)Jno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Jname </a:t>
            </a:r>
            <a:r>
              <a:rPr lang="zh-CN" altLang="en-US" sz="4400" dirty="0"/>
              <a:t>岗位名称，</a:t>
            </a:r>
            <a:r>
              <a:rPr lang="en-US" altLang="zh-CN" sz="4400" dirty="0"/>
              <a:t>Leader </a:t>
            </a:r>
            <a:r>
              <a:rPr lang="zh-CN" altLang="en-US" sz="4400" dirty="0"/>
              <a:t>岗位负责人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1. 用关系代数表达式写出下列查询（每题 3 分，共 6 分）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(1) </a:t>
            </a:r>
            <a:r>
              <a:rPr lang="zh-CN" altLang="en-US" sz="4400" dirty="0">
                <a:solidFill>
                  <a:srgbClr val="FF0000"/>
                </a:solidFill>
              </a:rPr>
              <a:t>查询</a:t>
            </a:r>
            <a:r>
              <a:rPr lang="zh-CN" altLang="en-US" sz="4400" dirty="0"/>
              <a:t>王主管负责</a:t>
            </a:r>
            <a:r>
              <a:rPr lang="zh-CN" altLang="en-US" sz="4400" dirty="0">
                <a:solidFill>
                  <a:srgbClr val="FF0000"/>
                </a:solidFill>
              </a:rPr>
              <a:t>的岗位编号与岗位名称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1 </a:t>
            </a:r>
            <a:r>
              <a:rPr lang="zh-CN" altLang="en-US" sz="4400" dirty="0"/>
              <a:t>把【查询】变为</a:t>
            </a:r>
            <a:r>
              <a:rPr lang="en-US" altLang="zh-CN" sz="4400" dirty="0"/>
              <a:t> </a:t>
            </a:r>
            <a:r>
              <a:rPr lang="en-US" altLang="zh-CN" sz="6665" dirty="0"/>
              <a:t>π </a:t>
            </a:r>
            <a:r>
              <a:rPr lang="zh-CN" altLang="en-US" sz="4400" dirty="0">
                <a:sym typeface="+mn-ea"/>
              </a:rPr>
              <a:t>，把【的】字后面的内容写到</a:t>
            </a:r>
            <a:r>
              <a:rPr lang="en-US" altLang="zh-CN" sz="4400" dirty="0">
                <a:sym typeface="+mn-ea"/>
              </a:rPr>
              <a:t> </a:t>
            </a:r>
            <a:r>
              <a:rPr lang="en-US" altLang="zh-CN" sz="6665" dirty="0">
                <a:sym typeface="+mn-ea"/>
              </a:rPr>
              <a:t>π 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Jno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,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Jname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2 </a:t>
            </a:r>
            <a:r>
              <a:rPr lang="zh-CN" altLang="en-US" sz="4400" dirty="0">
                <a:sym typeface="+mn-ea"/>
              </a:rPr>
              <a:t>看题目中出现的属性涉及到哪些表。</a:t>
            </a:r>
            <a:r>
              <a:rPr lang="en-US" altLang="zh-CN" sz="4400" dirty="0">
                <a:sym typeface="+mn-ea"/>
              </a:rPr>
              <a:t>  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 J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3 </a:t>
            </a:r>
            <a:r>
              <a:rPr lang="zh-CN" altLang="en-US" sz="4400" dirty="0">
                <a:sym typeface="+mn-ea"/>
              </a:rPr>
              <a:t>把【查询】和</a:t>
            </a:r>
            <a:r>
              <a:rPr lang="zh-CN" altLang="en-US" sz="4400" dirty="0">
                <a:sym typeface="+mn-ea"/>
              </a:rPr>
              <a:t>【的】字之间的内容放到</a:t>
            </a:r>
            <a:r>
              <a:rPr lang="en-US" altLang="zh-CN" sz="6665" dirty="0">
                <a:sym typeface="+mn-ea"/>
              </a:rPr>
              <a:t>σ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（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Leader =’王主管’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）</a:t>
            </a:r>
            <a:endParaRPr lang="zh-CN" altLang="en-US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4 </a:t>
            </a:r>
            <a:r>
              <a:rPr lang="zh-CN" altLang="en-US" sz="4400" dirty="0">
                <a:sym typeface="+mn-ea"/>
              </a:rPr>
              <a:t>按顺序拼接。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π(Jno, Jname) (σ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（Leader =’王主管’）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J)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4400" u="sng" dirty="0">
                <a:solidFill>
                  <a:srgbClr val="FF0000"/>
                </a:solidFill>
                <a:sym typeface="+mn-ea"/>
              </a:rPr>
              <a:t>解释：</a:t>
            </a:r>
            <a:r>
              <a:rPr lang="en-US" altLang="zh-CN" sz="4400" u="sng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4400" u="sng" dirty="0">
                <a:solidFill>
                  <a:srgbClr val="FF0000"/>
                </a:solidFill>
                <a:sym typeface="+mn-ea"/>
              </a:rPr>
              <a:t>（Leader =’王主管’）属于哪个表就放哪个表前面</a:t>
            </a:r>
            <a:endParaRPr lang="en-US" altLang="zh-CN" sz="4400" u="sng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600"/>
          </a:p>
        </p:txBody>
      </p:sp>
      <p:sp>
        <p:nvSpPr>
          <p:cNvPr id="2" name="标题 1"/>
          <p:cNvSpPr>
            <a:spLocks noGrp="1" noChangeArrowheads="1"/>
          </p:cNvSpPr>
          <p:nvPr/>
        </p:nvSpPr>
        <p:spPr>
          <a:xfrm>
            <a:off x="736600" y="-4984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4380210" cy="71901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6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员工 </a:t>
            </a:r>
            <a:r>
              <a:rPr lang="en-US" altLang="zh-CN" sz="4400" dirty="0"/>
              <a:t>E (Eno,Ename,Edept)Eno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Ename </a:t>
            </a:r>
            <a:r>
              <a:rPr lang="zh-CN" altLang="en-US" sz="4400" dirty="0"/>
              <a:t>姓名，</a:t>
            </a:r>
            <a:r>
              <a:rPr lang="en-US" altLang="zh-CN" sz="4400" dirty="0"/>
              <a:t>Edept </a:t>
            </a:r>
            <a:r>
              <a:rPr lang="zh-CN" altLang="en-US" sz="4400" dirty="0"/>
              <a:t>所属部门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工作记录 </a:t>
            </a:r>
            <a:r>
              <a:rPr lang="en-US" altLang="zh-CN" sz="4400" dirty="0"/>
              <a:t>W (Eno,Jno,Wage)Eno </a:t>
            </a:r>
            <a:r>
              <a:rPr lang="zh-CN" altLang="en-US" sz="4400" dirty="0"/>
              <a:t>员工号，</a:t>
            </a:r>
            <a:r>
              <a:rPr lang="en-US" altLang="zh-CN" sz="4400" dirty="0"/>
              <a:t>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Wage </a:t>
            </a:r>
            <a:r>
              <a:rPr lang="zh-CN" altLang="en-US" sz="4400" dirty="0"/>
              <a:t>岗位薪资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岗位 </a:t>
            </a:r>
            <a:r>
              <a:rPr lang="en-US" altLang="zh-CN" sz="4400" dirty="0"/>
              <a:t>J (Jno,Jname,Leader)Jno </a:t>
            </a:r>
            <a:r>
              <a:rPr lang="zh-CN" altLang="en-US" sz="4400" dirty="0"/>
              <a:t>岗位编号，</a:t>
            </a:r>
            <a:r>
              <a:rPr lang="en-US" altLang="zh-CN" sz="4400" dirty="0"/>
              <a:t>Jname </a:t>
            </a:r>
            <a:r>
              <a:rPr lang="zh-CN" altLang="en-US" sz="4400" dirty="0"/>
              <a:t>岗位名称，</a:t>
            </a:r>
            <a:r>
              <a:rPr lang="en-US" altLang="zh-CN" sz="4400" dirty="0"/>
              <a:t>Leader </a:t>
            </a:r>
            <a:r>
              <a:rPr lang="zh-CN" altLang="en-US" sz="4400" dirty="0"/>
              <a:t>岗位负责人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1. 用关系代数表达式写出下列查询（每题 3 分，共 6 分）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(2) </a:t>
            </a:r>
            <a:r>
              <a:rPr lang="zh-CN" altLang="en-US" sz="4400" dirty="0">
                <a:solidFill>
                  <a:srgbClr val="FF0000"/>
                </a:solidFill>
              </a:rPr>
              <a:t>查询</a:t>
            </a:r>
            <a:r>
              <a:rPr lang="zh-CN" altLang="en-US" sz="4400" dirty="0"/>
              <a:t>选择了王主管所负责岗位</a:t>
            </a:r>
            <a:r>
              <a:rPr lang="zh-CN" altLang="en-US" sz="4400" dirty="0">
                <a:solidFill>
                  <a:srgbClr val="FF0000"/>
                </a:solidFill>
              </a:rPr>
              <a:t>的所有员工姓名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1 </a:t>
            </a:r>
            <a:r>
              <a:rPr lang="zh-CN" altLang="en-US" sz="4400" dirty="0"/>
              <a:t>把【查询】变为</a:t>
            </a:r>
            <a:r>
              <a:rPr lang="en-US" altLang="zh-CN" sz="4400" dirty="0"/>
              <a:t> </a:t>
            </a:r>
            <a:r>
              <a:rPr lang="en-US" altLang="zh-CN" sz="6665" dirty="0"/>
              <a:t>π </a:t>
            </a:r>
            <a:r>
              <a:rPr lang="zh-CN" altLang="en-US" sz="4400" dirty="0">
                <a:sym typeface="+mn-ea"/>
              </a:rPr>
              <a:t>，把【的】字后面的内容写到</a:t>
            </a:r>
            <a:r>
              <a:rPr lang="en-US" altLang="zh-CN" sz="4400" dirty="0">
                <a:sym typeface="+mn-ea"/>
              </a:rPr>
              <a:t> </a:t>
            </a:r>
            <a:r>
              <a:rPr lang="en-US" altLang="zh-CN" sz="6665" dirty="0">
                <a:sym typeface="+mn-ea"/>
              </a:rPr>
              <a:t>π 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π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(Ename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2 </a:t>
            </a:r>
            <a:r>
              <a:rPr lang="zh-CN" altLang="en-US" sz="4400" dirty="0">
                <a:sym typeface="+mn-ea"/>
              </a:rPr>
              <a:t>看题目中出现的属性涉及到哪些表。</a:t>
            </a:r>
            <a:r>
              <a:rPr lang="en-US" altLang="zh-CN" sz="4400" dirty="0">
                <a:sym typeface="+mn-ea"/>
              </a:rPr>
              <a:t>  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 E, W, J</a:t>
            </a: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3 </a:t>
            </a:r>
            <a:r>
              <a:rPr lang="zh-CN" altLang="en-US" sz="4400" dirty="0">
                <a:sym typeface="+mn-ea"/>
              </a:rPr>
              <a:t>把【查询】和【的】字之间的内容放到</a:t>
            </a:r>
            <a:r>
              <a:rPr lang="en-US" altLang="zh-CN" sz="6665" dirty="0">
                <a:sym typeface="+mn-ea"/>
              </a:rPr>
              <a:t>σ</a:t>
            </a:r>
            <a:r>
              <a:rPr lang="zh-CN" altLang="en-US" sz="4400" dirty="0">
                <a:sym typeface="+mn-ea"/>
              </a:rPr>
              <a:t>后面。</a:t>
            </a:r>
            <a:r>
              <a:rPr lang="en-US" altLang="zh-CN" sz="6665" dirty="0">
                <a:solidFill>
                  <a:srgbClr val="FF0000"/>
                </a:solidFill>
                <a:sym typeface="+mn-ea"/>
              </a:rPr>
              <a:t>σ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（Leader =’王主管’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)</a:t>
            </a:r>
            <a:endParaRPr lang="zh-CN" altLang="en-US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4400" dirty="0">
                <a:sym typeface="+mn-ea"/>
              </a:rPr>
              <a:t>4 </a:t>
            </a:r>
            <a:r>
              <a:rPr lang="zh-CN" altLang="en-US" sz="4400" dirty="0">
                <a:sym typeface="+mn-ea"/>
              </a:rPr>
              <a:t>按顺序拼接。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π(Jno, Jname) (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E    W     σ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（Leader =’王主管’）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(J))</a:t>
            </a:r>
            <a:endParaRPr lang="en-US" altLang="zh-CN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en-US" altLang="zh-CN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zh-CN" altLang="en-US" sz="4400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endParaRPr lang="en-US" altLang="zh-CN" sz="4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altLang="zh-CN" sz="4400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865" y="5228590"/>
            <a:ext cx="355600" cy="273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0" y="5228590"/>
            <a:ext cx="355600" cy="27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" y="908685"/>
            <a:ext cx="12016105" cy="5287645"/>
          </a:xfrm>
          <a:prstGeom prst="rect">
            <a:avLst/>
          </a:prstGeom>
        </p:spPr>
        <p:txBody>
          <a:bodyPr wrap="square">
            <a:noAutofit/>
          </a:bodyPr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S(Sno,Sname,Sdept)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为学号，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为姓名，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为所在系。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选课关系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SC(Sno,Cno,Grade)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为学号，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为成绩。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课程关系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C(Cno,Cname, Teacher)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为课程号，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Cname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为课程名，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为授课老师姓名。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一名学生可以选修多门课，一门课也可以被多名学生选修。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</a:t>
            </a:r>
            <a:r>
              <a:rPr lang="zh-CN" altLang="en-US" sz="2800" b="1" u="sng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关系代数表达式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表示下列查询语句：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）查询“小明”同学所上的学号和所在系（假设不允许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学生有重名）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9725" indent="3810" algn="l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）查询选修了“李四”老师授课课程的所有学生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065" y="6092825"/>
            <a:ext cx="7334250" cy="784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65" y="5207635"/>
            <a:ext cx="5617845" cy="741680"/>
          </a:xfrm>
          <a:prstGeom prst="rect">
            <a:avLst/>
          </a:prstGeom>
        </p:spPr>
      </p:pic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关系代数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8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学生表：</a:t>
            </a:r>
            <a:r>
              <a:rPr lang="en-US" altLang="zh-CN" sz="4400" dirty="0"/>
              <a:t>Student(Sno, </a:t>
            </a:r>
            <a:r>
              <a:rPr lang="en-US" altLang="zh-CN" sz="4400" dirty="0">
                <a:solidFill>
                  <a:srgbClr val="7030A0"/>
                </a:solidFill>
              </a:rPr>
              <a:t>Sname</a:t>
            </a:r>
            <a:r>
              <a:rPr lang="en-US" altLang="zh-CN" sz="4400" dirty="0"/>
              <a:t>, Sdept)       </a:t>
            </a:r>
            <a:r>
              <a:rPr lang="en-US" altLang="zh-CN" sz="4400" dirty="0">
                <a:sym typeface="+mn-ea"/>
              </a:rPr>
              <a:t>/*Sdept</a:t>
            </a:r>
            <a:r>
              <a:rPr lang="zh-CN" altLang="en-US" sz="4400" dirty="0">
                <a:sym typeface="+mn-ea"/>
              </a:rPr>
              <a:t>所在系</a:t>
            </a:r>
            <a:r>
              <a:rPr lang="en-US" altLang="zh-CN" sz="4400" dirty="0">
                <a:sym typeface="+mn-ea"/>
              </a:rPr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选课表：</a:t>
            </a:r>
            <a:r>
              <a:rPr lang="en-US" altLang="zh-CN" sz="4400" dirty="0"/>
              <a:t>SC(Sno, </a:t>
            </a:r>
            <a:r>
              <a:rPr lang="en-US" altLang="zh-CN" sz="4400" dirty="0">
                <a:solidFill>
                  <a:srgbClr val="7030A0"/>
                </a:solidFill>
              </a:rPr>
              <a:t>Cno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rgbClr val="7030A0"/>
                </a:solidFill>
              </a:rPr>
              <a:t>Grade</a:t>
            </a:r>
            <a:r>
              <a:rPr lang="en-US" altLang="zh-CN" sz="4400" dirty="0"/>
              <a:t>)    /*Cno</a:t>
            </a:r>
            <a:r>
              <a:rPr lang="zh-CN" altLang="en-US" sz="4400" dirty="0"/>
              <a:t>课程号</a:t>
            </a:r>
            <a:r>
              <a:rPr lang="en-US" altLang="zh-CN" sz="4400" dirty="0"/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建立计算机</a:t>
            </a:r>
            <a:r>
              <a:rPr lang="zh-CN" altLang="en-US" sz="4400" dirty="0"/>
              <a:t>科学与技术专业选修</a:t>
            </a:r>
            <a:r>
              <a:rPr lang="en-US" altLang="zh-CN" sz="4400" dirty="0"/>
              <a:t>2001</a:t>
            </a:r>
            <a:r>
              <a:rPr lang="zh-CN" altLang="en-US" sz="4400" dirty="0"/>
              <a:t>号课程且成绩在</a:t>
            </a:r>
            <a:r>
              <a:rPr lang="en-US" altLang="zh-CN" sz="4400" dirty="0"/>
              <a:t>60</a:t>
            </a:r>
            <a:r>
              <a:rPr lang="zh-CN" altLang="en-US" sz="4400" dirty="0"/>
              <a:t>分以上的学生的视图，包括学号、姓名、成绩属性。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335915" y="3285490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v_90score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Student.Sno, Student.Sname, SC.Grade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Student, SC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 = SC.Sno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信息管理与信息系统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 = '81001' AND Grade &gt; 90;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演示</Application>
  <PresentationFormat>宽屏</PresentationFormat>
  <Paragraphs>123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华文琥珀</vt:lpstr>
      <vt:lpstr>微软雅黑</vt:lpstr>
      <vt:lpstr>Calibri</vt:lpstr>
      <vt:lpstr>Arial Unicode MS</vt:lpstr>
      <vt:lpstr>Franklin Gothic Medium</vt:lpstr>
      <vt:lpstr>数据库系统概论</vt:lpstr>
      <vt:lpstr>1_数据库系统概论</vt:lpstr>
      <vt:lpstr>2_数据库系统概论</vt:lpstr>
      <vt:lpstr>3_数据库系统概论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guixiang</dc:creator>
  <cp:lastModifiedBy>茗</cp:lastModifiedBy>
  <cp:revision>399</cp:revision>
  <dcterms:created xsi:type="dcterms:W3CDTF">2014-10-23T04:37:00Z</dcterms:created>
  <dcterms:modified xsi:type="dcterms:W3CDTF">2026-05-20T10:19:54Z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641152CE318A4F8A8066D53ECC2E7705_12</vt:lpwstr>
  </property>
</Properties>
</file>