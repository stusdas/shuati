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471" r:id="rId5"/>
    <p:sldId id="473" r:id="rId6"/>
    <p:sldId id="270" r:id="rId7"/>
    <p:sldId id="299" r:id="rId8"/>
    <p:sldId id="300" r:id="rId9"/>
    <p:sldId id="301" r:id="rId10"/>
    <p:sldId id="303" r:id="rId11"/>
    <p:sldId id="469" r:id="rId12"/>
    <p:sldId id="271" r:id="rId13"/>
    <p:sldId id="345" r:id="rId14"/>
    <p:sldId id="525" r:id="rId15"/>
    <p:sldId id="526" r:id="rId16"/>
    <p:sldId id="322" r:id="rId17"/>
    <p:sldId id="329" r:id="rId18"/>
    <p:sldId id="341" r:id="rId19"/>
    <p:sldId id="342" r:id="rId20"/>
    <p:sldId id="343" r:id="rId21"/>
    <p:sldId id="344" r:id="rId22"/>
    <p:sldId id="482" r:id="rId23"/>
    <p:sldId id="363" r:id="rId24"/>
    <p:sldId id="497" r:id="rId25"/>
    <p:sldId id="498" r:id="rId26"/>
    <p:sldId id="521" r:id="rId27"/>
    <p:sldId id="529" r:id="rId28"/>
    <p:sldId id="528" r:id="rId29"/>
    <p:sldId id="504" r:id="rId30"/>
    <p:sldId id="516" r:id="rId31"/>
    <p:sldId id="530" r:id="rId32"/>
    <p:sldId id="505" r:id="rId33"/>
    <p:sldId id="506" r:id="rId34"/>
    <p:sldId id="507" r:id="rId35"/>
    <p:sldId id="508" r:id="rId36"/>
    <p:sldId id="487" r:id="rId37"/>
    <p:sldId id="488" r:id="rId38"/>
    <p:sldId id="489" r:id="rId39"/>
    <p:sldId id="490" r:id="rId40"/>
    <p:sldId id="265" r:id="rId41"/>
    <p:sldId id="396" r:id="rId42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588"/>
    <p:restoredTop sz="94659"/>
  </p:normalViewPr>
  <p:slideViewPr>
    <p:cSldViewPr showGuides="1">
      <p:cViewPr varScale="1">
        <p:scale>
          <a:sx n="80" d="100"/>
          <a:sy n="80" d="100"/>
        </p:scale>
        <p:origin x="880" y="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3038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417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5" Type="http://schemas.openxmlformats.org/officeDocument/2006/relationships/tableStyles" Target="tableStyles.xml"/><Relationship Id="rId44" Type="http://schemas.openxmlformats.org/officeDocument/2006/relationships/viewProps" Target="viewProps.xml"/><Relationship Id="rId43" Type="http://schemas.openxmlformats.org/officeDocument/2006/relationships/presProps" Target="presProps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72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6" name="Rectangle 4"/>
          <p:cNvSpPr>
            <a:spLocks noRo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972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72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72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fontAlgn="base" hangingPunct="1">
              <a:buNone/>
            </a:pPr>
            <a:fld id="{9A0DB2DC-4C9A-4742-B13C-FB6460FD3503}" type="slidenum">
              <a:rPr lang="en-US" altLang="zh-CN" sz="1200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z="1200" strike="noStrike" noProof="1" dirty="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2" name="备注占位符 2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5123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 eaLnBrk="1" hangingPunct="1"/>
            <a:fld id="{9A0DB2DC-4C9A-4742-B13C-FB6460FD3503}" type="slidenum"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5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 eaLnBrk="1" hangingPunct="1"/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16386" name="Rectangle 2"/>
          <p:cNvSpPr>
            <a:spLocks noRot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ln/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3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 eaLnBrk="1" hangingPunct="1"/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18434" name="Rectangle 2"/>
          <p:cNvSpPr>
            <a:spLocks noRot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ln/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5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 eaLnBrk="1" hangingPunct="1"/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21506" name="Rectangle 2"/>
          <p:cNvSpPr>
            <a:spLocks noRot="1" noTextEdit="1"/>
          </p:cNvSpPr>
          <p:nvPr>
            <p:ph type="sldImg"/>
          </p:nvPr>
        </p:nvSpPr>
        <p:spPr>
          <a:ln/>
        </p:spPr>
      </p:sp>
      <p:sp>
        <p:nvSpPr>
          <p:cNvPr id="21507" name="Rectangle 3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ln/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3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 eaLnBrk="1" hangingPunct="1"/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23554" name="Rectangle 2"/>
          <p:cNvSpPr>
            <a:spLocks noRot="1" noTextEdit="1"/>
          </p:cNvSpPr>
          <p:nvPr>
            <p:ph type="sldImg"/>
          </p:nvPr>
        </p:nvSpPr>
        <p:spPr>
          <a:ln/>
        </p:spPr>
      </p:sp>
      <p:sp>
        <p:nvSpPr>
          <p:cNvPr id="23555" name="Rectangle 3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ln/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1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 eaLnBrk="1" hangingPunct="1"/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25602" name="Rectangle 2"/>
          <p:cNvSpPr>
            <a:spLocks noRot="1" noTextEdit="1"/>
          </p:cNvSpPr>
          <p:nvPr>
            <p:ph type="sldImg"/>
          </p:nvPr>
        </p:nvSpPr>
        <p:spPr>
          <a:ln/>
        </p:spPr>
      </p:sp>
      <p:sp>
        <p:nvSpPr>
          <p:cNvPr id="25603" name="Rectangle 3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ln/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49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 eaLnBrk="1" hangingPunct="1"/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27650" name="Rectangle 2"/>
          <p:cNvSpPr>
            <a:spLocks noRot="1" noTextEdit="1"/>
          </p:cNvSpPr>
          <p:nvPr>
            <p:ph type="sldImg"/>
          </p:nvPr>
        </p:nvSpPr>
        <p:spPr>
          <a:ln/>
        </p:spPr>
      </p:sp>
      <p:sp>
        <p:nvSpPr>
          <p:cNvPr id="27651" name="Rectangle 3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ln/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7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 eaLnBrk="1" hangingPunct="1"/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29698" name="Rectangle 2"/>
          <p:cNvSpPr>
            <a:spLocks noRot="1" noTextEdit="1"/>
          </p:cNvSpPr>
          <p:nvPr>
            <p:ph type="sldImg"/>
          </p:nvPr>
        </p:nvSpPr>
        <p:spPr>
          <a:ln/>
        </p:spPr>
      </p:sp>
      <p:sp>
        <p:nvSpPr>
          <p:cNvPr id="29699" name="Rectangle 3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ln/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5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 eaLnBrk="1" hangingPunct="1"/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31746" name="Rectangle 2"/>
          <p:cNvSpPr>
            <a:spLocks noRot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ln/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7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 eaLnBrk="1" hangingPunct="1"/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45058" name="Rectangle 2"/>
          <p:cNvSpPr>
            <a:spLocks noRot="1" noTextEdit="1"/>
          </p:cNvSpPr>
          <p:nvPr>
            <p:ph type="sldImg"/>
          </p:nvPr>
        </p:nvSpPr>
        <p:spPr>
          <a:ln/>
        </p:spPr>
      </p:sp>
      <p:sp>
        <p:nvSpPr>
          <p:cNvPr id="45059" name="Rectangle 3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ln/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5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 eaLnBrk="1" hangingPunct="1"/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47106" name="Rectangle 2"/>
          <p:cNvSpPr>
            <a:spLocks noRot="1" noTextEdit="1"/>
          </p:cNvSpPr>
          <p:nvPr>
            <p:ph type="sldImg"/>
          </p:nvPr>
        </p:nvSpPr>
        <p:spPr>
          <a:ln/>
        </p:spPr>
      </p:sp>
      <p:sp>
        <p:nvSpPr>
          <p:cNvPr id="47107" name="Rectangle 3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ln/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3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 eaLnBrk="1" hangingPunct="1"/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49154" name="Rectangle 2"/>
          <p:cNvSpPr>
            <a:spLocks noRot="1" noTextEdit="1"/>
          </p:cNvSpPr>
          <p:nvPr>
            <p:ph type="sldImg"/>
          </p:nvPr>
        </p:nvSpPr>
        <p:spPr>
          <a:ln/>
        </p:spPr>
      </p:sp>
      <p:sp>
        <p:nvSpPr>
          <p:cNvPr id="49155" name="Rectangle 3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ln/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12001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Freeform 4"/>
          <p:cNvSpPr/>
          <p:nvPr userDrawn="1"/>
        </p:nvSpPr>
        <p:spPr>
          <a:xfrm>
            <a:off x="-20637" y="533400"/>
            <a:ext cx="9161462" cy="1006475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5771" h="634">
                <a:moveTo>
                  <a:pt x="20" y="109"/>
                </a:moveTo>
                <a:cubicBezTo>
                  <a:pt x="26" y="109"/>
                  <a:pt x="645" y="0"/>
                  <a:pt x="1442" y="3"/>
                </a:cubicBezTo>
                <a:cubicBezTo>
                  <a:pt x="2239" y="6"/>
                  <a:pt x="3443" y="123"/>
                  <a:pt x="4150" y="148"/>
                </a:cubicBezTo>
                <a:cubicBezTo>
                  <a:pt x="4858" y="173"/>
                  <a:pt x="5633" y="63"/>
                  <a:pt x="5771" y="37"/>
                </a:cubicBezTo>
                <a:lnTo>
                  <a:pt x="5771" y="557"/>
                </a:lnTo>
                <a:cubicBezTo>
                  <a:pt x="4926" y="634"/>
                  <a:pt x="4422" y="612"/>
                  <a:pt x="3942" y="592"/>
                </a:cubicBezTo>
                <a:cubicBezTo>
                  <a:pt x="3463" y="572"/>
                  <a:pt x="2588" y="450"/>
                  <a:pt x="1839" y="456"/>
                </a:cubicBezTo>
                <a:cubicBezTo>
                  <a:pt x="1182" y="455"/>
                  <a:pt x="0" y="618"/>
                  <a:pt x="6" y="620"/>
                </a:cubicBezTo>
                <a:cubicBezTo>
                  <a:pt x="12" y="621"/>
                  <a:pt x="14" y="109"/>
                  <a:pt x="20" y="109"/>
                </a:cubicBezTo>
                <a:close/>
              </a:path>
            </a:pathLst>
          </a:custGeom>
          <a:solidFill>
            <a:schemeClr val="accent1"/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grpSp>
        <p:nvGrpSpPr>
          <p:cNvPr id="2052" name="Group 8"/>
          <p:cNvGrpSpPr/>
          <p:nvPr userDrawn="1"/>
        </p:nvGrpSpPr>
        <p:grpSpPr>
          <a:xfrm>
            <a:off x="8153400" y="53975"/>
            <a:ext cx="609600" cy="592138"/>
            <a:chOff x="4992" y="816"/>
            <a:chExt cx="576" cy="576"/>
          </a:xfrm>
        </p:grpSpPr>
        <p:sp>
          <p:nvSpPr>
            <p:cNvPr id="5" name="Oval 9"/>
            <p:cNvSpPr>
              <a:spLocks noChangeArrowheads="1"/>
            </p:cNvSpPr>
            <p:nvPr/>
          </p:nvSpPr>
          <p:spPr bwMode="gray">
            <a:xfrm>
              <a:off x="4992" y="816"/>
              <a:ext cx="576" cy="576"/>
            </a:xfrm>
            <a:prstGeom prst="ellipse">
              <a:avLst/>
            </a:prstGeom>
            <a:solidFill>
              <a:schemeClr val="accent1">
                <a:alpha val="52940"/>
              </a:scheme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Oval 10"/>
            <p:cNvSpPr>
              <a:spLocks noChangeArrowheads="1"/>
            </p:cNvSpPr>
            <p:nvPr/>
          </p:nvSpPr>
          <p:spPr bwMode="gray">
            <a:xfrm>
              <a:off x="4992" y="912"/>
              <a:ext cx="480" cy="385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055" name="Group 11"/>
          <p:cNvGrpSpPr/>
          <p:nvPr userDrawn="1"/>
        </p:nvGrpSpPr>
        <p:grpSpPr>
          <a:xfrm>
            <a:off x="171450" y="819150"/>
            <a:ext cx="720725" cy="762000"/>
            <a:chOff x="4992" y="816"/>
            <a:chExt cx="576" cy="576"/>
          </a:xfrm>
        </p:grpSpPr>
        <p:sp>
          <p:nvSpPr>
            <p:cNvPr id="8" name="Oval 12"/>
            <p:cNvSpPr>
              <a:spLocks noChangeArrowheads="1"/>
            </p:cNvSpPr>
            <p:nvPr/>
          </p:nvSpPr>
          <p:spPr bwMode="gray">
            <a:xfrm>
              <a:off x="4992" y="816"/>
              <a:ext cx="576" cy="576"/>
            </a:xfrm>
            <a:prstGeom prst="ellipse">
              <a:avLst/>
            </a:prstGeom>
            <a:solidFill>
              <a:schemeClr val="tx2">
                <a:alpha val="52940"/>
              </a:scheme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" name="Oval 13"/>
            <p:cNvSpPr>
              <a:spLocks noChangeArrowheads="1"/>
            </p:cNvSpPr>
            <p:nvPr/>
          </p:nvSpPr>
          <p:spPr bwMode="gray">
            <a:xfrm>
              <a:off x="4992" y="912"/>
              <a:ext cx="480" cy="384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058" name="Group 5"/>
          <p:cNvGrpSpPr/>
          <p:nvPr userDrawn="1"/>
        </p:nvGrpSpPr>
        <p:grpSpPr>
          <a:xfrm>
            <a:off x="7740650" y="347663"/>
            <a:ext cx="387350" cy="366712"/>
            <a:chOff x="4752" y="1200"/>
            <a:chExt cx="288" cy="288"/>
          </a:xfrm>
        </p:grpSpPr>
        <p:sp>
          <p:nvSpPr>
            <p:cNvPr id="11" name="Oval 6"/>
            <p:cNvSpPr>
              <a:spLocks noChangeArrowheads="1"/>
            </p:cNvSpPr>
            <p:nvPr/>
          </p:nvSpPr>
          <p:spPr bwMode="gray">
            <a:xfrm>
              <a:off x="4752" y="1200"/>
              <a:ext cx="288" cy="288"/>
            </a:xfrm>
            <a:prstGeom prst="ellipse">
              <a:avLst/>
            </a:prstGeom>
            <a:gradFill rotWithShape="1">
              <a:gsLst>
                <a:gs pos="0">
                  <a:schemeClr val="tx2">
                    <a:gamma/>
                    <a:tint val="25490"/>
                    <a:invGamma/>
                  </a:schemeClr>
                </a:gs>
                <a:gs pos="100000">
                  <a:schemeClr val="tx2">
                    <a:alpha val="31000"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" name="Oval 7"/>
            <p:cNvSpPr>
              <a:spLocks noChangeArrowheads="1"/>
            </p:cNvSpPr>
            <p:nvPr/>
          </p:nvSpPr>
          <p:spPr bwMode="gray">
            <a:xfrm>
              <a:off x="4752" y="1200"/>
              <a:ext cx="192" cy="192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061" name="Freeform 3"/>
          <p:cNvSpPr/>
          <p:nvPr userDrawn="1"/>
        </p:nvSpPr>
        <p:spPr>
          <a:xfrm>
            <a:off x="-11112" y="280988"/>
            <a:ext cx="9155112" cy="1620837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5767" h="1021">
                <a:moveTo>
                  <a:pt x="6" y="109"/>
                </a:moveTo>
                <a:cubicBezTo>
                  <a:pt x="144" y="93"/>
                  <a:pt x="626" y="42"/>
                  <a:pt x="1427" y="46"/>
                </a:cubicBezTo>
                <a:cubicBezTo>
                  <a:pt x="2228" y="50"/>
                  <a:pt x="3321" y="224"/>
                  <a:pt x="4032" y="255"/>
                </a:cubicBezTo>
                <a:cubicBezTo>
                  <a:pt x="4742" y="286"/>
                  <a:pt x="5649" y="91"/>
                  <a:pt x="5767" y="0"/>
                </a:cubicBezTo>
                <a:lnTo>
                  <a:pt x="5767" y="776"/>
                </a:lnTo>
                <a:cubicBezTo>
                  <a:pt x="4948" y="879"/>
                  <a:pt x="4543" y="844"/>
                  <a:pt x="4065" y="831"/>
                </a:cubicBezTo>
                <a:cubicBezTo>
                  <a:pt x="3587" y="818"/>
                  <a:pt x="2973" y="694"/>
                  <a:pt x="1984" y="674"/>
                </a:cubicBezTo>
                <a:cubicBezTo>
                  <a:pt x="995" y="654"/>
                  <a:pt x="28" y="969"/>
                  <a:pt x="14" y="995"/>
                </a:cubicBezTo>
                <a:cubicBezTo>
                  <a:pt x="0" y="1021"/>
                  <a:pt x="6" y="255"/>
                  <a:pt x="6" y="109"/>
                </a:cubicBezTo>
                <a:close/>
              </a:path>
            </a:pathLst>
          </a:custGeom>
          <a:solidFill>
            <a:schemeClr val="accent1">
              <a:alpha val="41176"/>
            </a:scheme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420883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420884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3400"/>
            </a:lvl1pPr>
          </a:lstStyle>
          <a:p>
            <a:pPr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14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Rectangle 1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algn="r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Arial" panose="020B0604020202020204" pitchFamily="34" charset="0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Arial" panose="020B0604020202020204" pitchFamily="34" charset="0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Arial" panose="020B0604020202020204" pitchFamily="34" charset="0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Arial" panose="020B0604020202020204" pitchFamily="34" charset="0"/>
            </a:endParaRPr>
          </a:p>
        </p:txBody>
      </p:sp>
      <p:sp>
        <p:nvSpPr>
          <p:cNvPr id="9" name="日期占位符 8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Arial" panose="020B0604020202020204" pitchFamily="34" charset="0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Arial" panose="020B0604020202020204" pitchFamily="34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Arial" panose="020B0604020202020204" pitchFamily="34" charset="0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Arial" panose="020B0604020202020204" pitchFamily="34" charset="0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Arial" panose="020B0604020202020204" pitchFamily="34" charset="0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Arial" panose="020B0604020202020204" pitchFamily="34" charset="0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19842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sz="12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984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Arial Black" panose="020B0A04020102020204" pitchFamily="34" charset="0"/>
              </a:defRPr>
            </a:lvl1pPr>
          </a:lstStyle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Arial" panose="020B0604020202020204" pitchFamily="34" charset="0"/>
            </a:endParaRPr>
          </a:p>
        </p:txBody>
      </p:sp>
      <p:grpSp>
        <p:nvGrpSpPr>
          <p:cNvPr id="1028" name="Group 4"/>
          <p:cNvGrpSpPr/>
          <p:nvPr/>
        </p:nvGrpSpPr>
        <p:grpSpPr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44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5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6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7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8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9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0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1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2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38" name="Rectangle 14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39" name="Rectangle 15"/>
          <p:cNvSpPr>
            <a:spLocks noGrp="1"/>
          </p:cNvSpPr>
          <p:nvPr>
            <p:ph type="body"/>
          </p:nvPr>
        </p:nvSpPr>
        <p:spPr>
          <a:xfrm>
            <a:off x="457200" y="1981200"/>
            <a:ext cx="8229600" cy="3886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19856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041" name="Picture 2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0" y="0"/>
            <a:ext cx="9144000" cy="12001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42" name="Freeform 4"/>
          <p:cNvSpPr/>
          <p:nvPr userDrawn="1"/>
        </p:nvSpPr>
        <p:spPr>
          <a:xfrm>
            <a:off x="-20637" y="533400"/>
            <a:ext cx="9161462" cy="1006475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5771" h="634">
                <a:moveTo>
                  <a:pt x="20" y="109"/>
                </a:moveTo>
                <a:cubicBezTo>
                  <a:pt x="26" y="109"/>
                  <a:pt x="645" y="0"/>
                  <a:pt x="1442" y="3"/>
                </a:cubicBezTo>
                <a:cubicBezTo>
                  <a:pt x="2239" y="6"/>
                  <a:pt x="3443" y="123"/>
                  <a:pt x="4150" y="148"/>
                </a:cubicBezTo>
                <a:cubicBezTo>
                  <a:pt x="4858" y="173"/>
                  <a:pt x="5633" y="63"/>
                  <a:pt x="5771" y="37"/>
                </a:cubicBezTo>
                <a:lnTo>
                  <a:pt x="5771" y="557"/>
                </a:lnTo>
                <a:cubicBezTo>
                  <a:pt x="4926" y="634"/>
                  <a:pt x="4422" y="612"/>
                  <a:pt x="3942" y="592"/>
                </a:cubicBezTo>
                <a:cubicBezTo>
                  <a:pt x="3463" y="572"/>
                  <a:pt x="2588" y="450"/>
                  <a:pt x="1839" y="456"/>
                </a:cubicBezTo>
                <a:cubicBezTo>
                  <a:pt x="1182" y="455"/>
                  <a:pt x="0" y="618"/>
                  <a:pt x="6" y="620"/>
                </a:cubicBezTo>
                <a:cubicBezTo>
                  <a:pt x="12" y="621"/>
                  <a:pt x="14" y="109"/>
                  <a:pt x="20" y="109"/>
                </a:cubicBezTo>
                <a:close/>
              </a:path>
            </a:pathLst>
          </a:custGeom>
          <a:solidFill>
            <a:schemeClr val="accent1"/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grpSp>
        <p:nvGrpSpPr>
          <p:cNvPr id="1043" name="Group 8"/>
          <p:cNvGrpSpPr/>
          <p:nvPr userDrawn="1"/>
        </p:nvGrpSpPr>
        <p:grpSpPr>
          <a:xfrm>
            <a:off x="8153400" y="53975"/>
            <a:ext cx="609600" cy="592138"/>
            <a:chOff x="4992" y="816"/>
            <a:chExt cx="576" cy="576"/>
          </a:xfrm>
        </p:grpSpPr>
        <p:sp>
          <p:nvSpPr>
            <p:cNvPr id="2" name="Oval 9"/>
            <p:cNvSpPr>
              <a:spLocks noChangeArrowheads="1"/>
            </p:cNvSpPr>
            <p:nvPr/>
          </p:nvSpPr>
          <p:spPr bwMode="gray">
            <a:xfrm>
              <a:off x="4992" y="816"/>
              <a:ext cx="576" cy="576"/>
            </a:xfrm>
            <a:prstGeom prst="ellipse">
              <a:avLst/>
            </a:prstGeom>
            <a:solidFill>
              <a:schemeClr val="accent1">
                <a:alpha val="52940"/>
              </a:scheme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106" name="Oval 10"/>
            <p:cNvSpPr>
              <a:spLocks noChangeArrowheads="1"/>
            </p:cNvSpPr>
            <p:nvPr/>
          </p:nvSpPr>
          <p:spPr bwMode="gray">
            <a:xfrm>
              <a:off x="4992" y="912"/>
              <a:ext cx="480" cy="385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" name="Group 11"/>
          <p:cNvGrpSpPr/>
          <p:nvPr userDrawn="1"/>
        </p:nvGrpSpPr>
        <p:grpSpPr>
          <a:xfrm>
            <a:off x="171450" y="819150"/>
            <a:ext cx="720725" cy="762000"/>
            <a:chOff x="4992" y="816"/>
            <a:chExt cx="576" cy="576"/>
          </a:xfrm>
        </p:grpSpPr>
        <p:sp>
          <p:nvSpPr>
            <p:cNvPr id="1040" name="Oval 12"/>
            <p:cNvSpPr>
              <a:spLocks noChangeArrowheads="1"/>
            </p:cNvSpPr>
            <p:nvPr/>
          </p:nvSpPr>
          <p:spPr bwMode="gray">
            <a:xfrm>
              <a:off x="4992" y="816"/>
              <a:ext cx="576" cy="576"/>
            </a:xfrm>
            <a:prstGeom prst="ellipse">
              <a:avLst/>
            </a:prstGeom>
            <a:solidFill>
              <a:schemeClr val="tx2">
                <a:alpha val="52940"/>
              </a:scheme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109" name="Oval 13"/>
            <p:cNvSpPr>
              <a:spLocks noChangeArrowheads="1"/>
            </p:cNvSpPr>
            <p:nvPr/>
          </p:nvSpPr>
          <p:spPr bwMode="gray">
            <a:xfrm>
              <a:off x="4992" y="912"/>
              <a:ext cx="480" cy="384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" name="Group 5"/>
          <p:cNvGrpSpPr/>
          <p:nvPr userDrawn="1"/>
        </p:nvGrpSpPr>
        <p:grpSpPr>
          <a:xfrm>
            <a:off x="7740650" y="347663"/>
            <a:ext cx="387350" cy="366712"/>
            <a:chOff x="4752" y="1200"/>
            <a:chExt cx="288" cy="288"/>
          </a:xfrm>
        </p:grpSpPr>
        <p:sp>
          <p:nvSpPr>
            <p:cNvPr id="4102" name="Oval 6"/>
            <p:cNvSpPr>
              <a:spLocks noChangeArrowheads="1"/>
            </p:cNvSpPr>
            <p:nvPr/>
          </p:nvSpPr>
          <p:spPr bwMode="gray">
            <a:xfrm>
              <a:off x="4752" y="1200"/>
              <a:ext cx="288" cy="288"/>
            </a:xfrm>
            <a:prstGeom prst="ellipse">
              <a:avLst/>
            </a:prstGeom>
            <a:gradFill rotWithShape="1">
              <a:gsLst>
                <a:gs pos="0">
                  <a:schemeClr val="tx2">
                    <a:gamma/>
                    <a:tint val="25490"/>
                    <a:invGamma/>
                  </a:schemeClr>
                </a:gs>
                <a:gs pos="100000">
                  <a:schemeClr val="tx2">
                    <a:alpha val="31000"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103" name="Oval 7"/>
            <p:cNvSpPr>
              <a:spLocks noChangeArrowheads="1"/>
            </p:cNvSpPr>
            <p:nvPr/>
          </p:nvSpPr>
          <p:spPr bwMode="gray">
            <a:xfrm>
              <a:off x="4752" y="1200"/>
              <a:ext cx="192" cy="192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5" name="Freeform 3"/>
          <p:cNvSpPr/>
          <p:nvPr userDrawn="1"/>
        </p:nvSpPr>
        <p:spPr>
          <a:xfrm>
            <a:off x="-11112" y="280988"/>
            <a:ext cx="9155112" cy="1620837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5767" h="1021">
                <a:moveTo>
                  <a:pt x="6" y="109"/>
                </a:moveTo>
                <a:cubicBezTo>
                  <a:pt x="144" y="93"/>
                  <a:pt x="626" y="42"/>
                  <a:pt x="1427" y="46"/>
                </a:cubicBezTo>
                <a:cubicBezTo>
                  <a:pt x="2228" y="50"/>
                  <a:pt x="3321" y="224"/>
                  <a:pt x="4032" y="255"/>
                </a:cubicBezTo>
                <a:cubicBezTo>
                  <a:pt x="4742" y="286"/>
                  <a:pt x="5649" y="91"/>
                  <a:pt x="5767" y="0"/>
                </a:cubicBezTo>
                <a:lnTo>
                  <a:pt x="5767" y="776"/>
                </a:lnTo>
                <a:cubicBezTo>
                  <a:pt x="4948" y="879"/>
                  <a:pt x="4543" y="844"/>
                  <a:pt x="4065" y="831"/>
                </a:cubicBezTo>
                <a:cubicBezTo>
                  <a:pt x="3587" y="818"/>
                  <a:pt x="2973" y="694"/>
                  <a:pt x="1984" y="674"/>
                </a:cubicBezTo>
                <a:cubicBezTo>
                  <a:pt x="995" y="654"/>
                  <a:pt x="28" y="969"/>
                  <a:pt x="14" y="995"/>
                </a:cubicBezTo>
                <a:cubicBezTo>
                  <a:pt x="0" y="1021"/>
                  <a:pt x="6" y="255"/>
                  <a:pt x="6" y="109"/>
                </a:cubicBezTo>
                <a:close/>
              </a:path>
            </a:pathLst>
          </a:custGeom>
          <a:solidFill>
            <a:schemeClr val="accent1">
              <a:alpha val="41176"/>
            </a:scheme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7" name="Rectangle 2"/>
          <p:cNvSpPr>
            <a:spLocks noGrp="1"/>
          </p:cNvSpPr>
          <p:nvPr>
            <p:ph type="ctrTitle"/>
          </p:nvPr>
        </p:nvSpPr>
        <p:spPr>
          <a:xfrm>
            <a:off x="1116013" y="2205038"/>
            <a:ext cx="6842125" cy="1150937"/>
          </a:xfrm>
          <a:ln/>
        </p:spPr>
        <p:txBody>
          <a:bodyPr vert="horz" wrap="square" lIns="91440" tIns="45720" rIns="91440" bIns="45720" anchor="ctr" anchorCtr="0"/>
          <a:p>
            <a:pPr algn="ctr" eaLnBrk="1" hangingPunct="1">
              <a:buClrTx/>
              <a:buSzTx/>
              <a:buFontTx/>
            </a:pPr>
            <a:r>
              <a:rPr lang="zh-CN" altLang="en-US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数据库总复习</a:t>
            </a:r>
            <a:endParaRPr lang="zh-CN" altLang="en-US" b="1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Rectangle 3"/>
          <p:cNvSpPr>
            <a:spLocks noGrp="1"/>
          </p:cNvSpPr>
          <p:nvPr>
            <p:ph idx="1"/>
          </p:nvPr>
        </p:nvSpPr>
        <p:spPr>
          <a:xfrm>
            <a:off x="395288" y="1628775"/>
            <a:ext cx="7705725" cy="4824413"/>
          </a:xfrm>
          <a:ln/>
        </p:spPr>
        <p:txBody>
          <a:bodyPr vert="horz" wrap="square" lIns="91440" tIns="45720" rIns="91440" bIns="45720" anchor="t" anchorCtr="0"/>
          <a:p>
            <a:pPr marL="0" indent="719455" algn="just" eaLnBrk="1" hangingPunct="1">
              <a:lnSpc>
                <a:spcPct val="150000"/>
              </a:lnSpc>
              <a:spcAft>
                <a:spcPct val="35000"/>
              </a:spcAft>
              <a:buNone/>
            </a:pPr>
            <a:r>
              <a:rPr lang="zh-CN" altLang="en-US" sz="2400" b="1" dirty="0"/>
              <a:t>数据库</a:t>
            </a:r>
            <a:r>
              <a:rPr lang="en-US" altLang="zh-CN" sz="2400" b="1" dirty="0"/>
              <a:t>——</a:t>
            </a:r>
            <a:r>
              <a:rPr lang="zh-CN" altLang="en-US" sz="2400" b="1" dirty="0"/>
              <a:t>长期存储在计算机内的有组织</a:t>
            </a:r>
            <a:r>
              <a:rPr lang="en-US" altLang="zh-CN" sz="2400" b="1" dirty="0"/>
              <a:t>,</a:t>
            </a:r>
            <a:r>
              <a:rPr lang="zh-CN" altLang="en-US" sz="2400" b="1" dirty="0"/>
              <a:t>可共享的大量数据的集合。</a:t>
            </a:r>
            <a:endParaRPr lang="en-US" altLang="zh-CN" sz="2400" b="1" dirty="0"/>
          </a:p>
          <a:p>
            <a:pPr marL="0" indent="719455" algn="just" eaLnBrk="1" hangingPunct="1">
              <a:lnSpc>
                <a:spcPct val="150000"/>
              </a:lnSpc>
              <a:spcAft>
                <a:spcPct val="35000"/>
              </a:spcAft>
              <a:buNone/>
            </a:pPr>
            <a:r>
              <a:rPr lang="zh-CN" altLang="en-US" sz="2400" b="1" dirty="0"/>
              <a:t>数据库系统的特点之一</a:t>
            </a:r>
            <a:r>
              <a:rPr lang="en-US" altLang="zh-CN" sz="2400" b="1" dirty="0"/>
              <a:t>——</a:t>
            </a:r>
            <a:r>
              <a:rPr lang="zh-CN" altLang="en-US" sz="2400" b="1" dirty="0"/>
              <a:t>数据独立性高</a:t>
            </a:r>
            <a:endParaRPr lang="en-US" altLang="zh-CN" sz="2400" b="1" dirty="0"/>
          </a:p>
          <a:p>
            <a:pPr marL="0" indent="719455" algn="just" eaLnBrk="1" hangingPunct="1">
              <a:lnSpc>
                <a:spcPct val="150000"/>
              </a:lnSpc>
              <a:spcAft>
                <a:spcPct val="35000"/>
              </a:spcAft>
              <a:buNone/>
            </a:pPr>
            <a:r>
              <a:rPr lang="zh-CN" altLang="en-US" sz="2400" b="1" dirty="0">
                <a:solidFill>
                  <a:srgbClr val="FF0000"/>
                </a:solidFill>
              </a:rPr>
              <a:t>什么是指数据库独立性：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pPr marL="0" indent="719455" algn="just" eaLnBrk="1" hangingPunct="1">
              <a:lnSpc>
                <a:spcPct val="150000"/>
              </a:lnSpc>
              <a:spcAft>
                <a:spcPct val="35000"/>
              </a:spcAft>
              <a:buNone/>
            </a:pPr>
            <a:r>
              <a:rPr lang="zh-CN" altLang="en-US" sz="2400" b="1" dirty="0">
                <a:solidFill>
                  <a:srgbClr val="FF0000"/>
                </a:solidFill>
              </a:rPr>
              <a:t>数据的物理独立性与逻辑独立性含义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pPr marL="0" indent="719455" algn="just" eaLnBrk="1" hangingPunct="1">
              <a:lnSpc>
                <a:spcPct val="150000"/>
              </a:lnSpc>
              <a:spcAft>
                <a:spcPct val="35000"/>
              </a:spcAft>
              <a:buNone/>
            </a:pPr>
            <a:r>
              <a:rPr lang="zh-CN" altLang="en-US" sz="2400" b="1" dirty="0"/>
              <a:t>数据模型应满足的三方面要求</a:t>
            </a:r>
            <a:r>
              <a:rPr lang="en-US" altLang="zh-CN" sz="2400" b="1" dirty="0">
                <a:solidFill>
                  <a:srgbClr val="FF0000"/>
                </a:solidFill>
              </a:rPr>
              <a:t>           </a:t>
            </a:r>
            <a:endParaRPr lang="zh-CN" altLang="en-US" sz="2400" b="1" dirty="0"/>
          </a:p>
        </p:txBody>
      </p:sp>
      <p:sp>
        <p:nvSpPr>
          <p:cNvPr id="6146" name="Rectangle 4"/>
          <p:cNvSpPr/>
          <p:nvPr/>
        </p:nvSpPr>
        <p:spPr>
          <a:xfrm>
            <a:off x="971550" y="549275"/>
            <a:ext cx="5976938" cy="8636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>
              <a:buClrTx/>
              <a:buFontTx/>
            </a:pPr>
            <a:r>
              <a:rPr lang="zh-CN" altLang="en-US" sz="3600" b="1" dirty="0">
                <a:latin typeface="Arial" panose="020B0604020202020204" pitchFamily="34" charset="0"/>
                <a:ea typeface="宋体" panose="02010600030101010101" pitchFamily="2" charset="-122"/>
              </a:rPr>
              <a:t>第</a:t>
            </a:r>
            <a:r>
              <a:rPr lang="en-US" altLang="zh-CN" sz="3600" b="1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3600" b="1" dirty="0">
                <a:latin typeface="Arial" panose="020B0604020202020204" pitchFamily="34" charset="0"/>
                <a:ea typeface="宋体" panose="02010600030101010101" pitchFamily="2" charset="-122"/>
              </a:rPr>
              <a:t>章 数据库概述</a:t>
            </a:r>
            <a:endParaRPr lang="zh-CN" altLang="en-US" sz="36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9" name="Rectangle 3"/>
          <p:cNvSpPr>
            <a:spLocks noGrp="1"/>
          </p:cNvSpPr>
          <p:nvPr>
            <p:ph idx="1"/>
          </p:nvPr>
        </p:nvSpPr>
        <p:spPr>
          <a:xfrm>
            <a:off x="468313" y="1557338"/>
            <a:ext cx="8229600" cy="48768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35000"/>
              </a:lnSpc>
            </a:pPr>
            <a:r>
              <a:rPr lang="zh-CN" altLang="en-US" sz="2800" b="1" dirty="0"/>
              <a:t>概念模型特点：独立于具体的机器和</a:t>
            </a:r>
            <a:r>
              <a:rPr lang="en-US" altLang="zh-CN" sz="2800" b="1" dirty="0"/>
              <a:t>DBMS</a:t>
            </a:r>
            <a:endParaRPr lang="en-US" altLang="zh-CN" sz="2800" b="1" dirty="0"/>
          </a:p>
          <a:p>
            <a:pPr eaLnBrk="1" hangingPunct="1">
              <a:lnSpc>
                <a:spcPct val="135000"/>
              </a:lnSpc>
            </a:pPr>
            <a:r>
              <a:rPr lang="zh-CN" altLang="en-US" sz="2800" b="1" dirty="0">
                <a:latin typeface="宋体" panose="02010600030101010101" pitchFamily="2" charset="-122"/>
              </a:rPr>
              <a:t>数据模型的三个要素</a:t>
            </a:r>
            <a:r>
              <a:rPr lang="en-US" altLang="zh-CN" sz="2800" b="1" dirty="0"/>
              <a:t>——</a:t>
            </a:r>
            <a:r>
              <a:rPr lang="zh-CN" altLang="en-US" sz="2800" b="1" dirty="0"/>
              <a:t>数据结构、数据操作、数据的完整性约束条件</a:t>
            </a:r>
            <a:r>
              <a:rPr lang="zh-CN" altLang="en-US" sz="2800" b="1" dirty="0">
                <a:latin typeface="宋体" panose="02010600030101010101" pitchFamily="2" charset="-122"/>
              </a:rPr>
              <a:t>。</a:t>
            </a:r>
            <a:endParaRPr lang="en-US" altLang="zh-CN" sz="2800" b="1" dirty="0"/>
          </a:p>
          <a:p>
            <a:pPr eaLnBrk="1" hangingPunct="1">
              <a:lnSpc>
                <a:spcPct val="135000"/>
              </a:lnSpc>
            </a:pPr>
            <a:r>
              <a:rPr lang="zh-CN" altLang="en-US" sz="2800" b="1" dirty="0">
                <a:latin typeface="宋体" panose="02010600030101010101" pitchFamily="2" charset="-122"/>
              </a:rPr>
              <a:t>数据库系统三级模式结构及特点（</a:t>
            </a:r>
            <a:r>
              <a:rPr lang="zh-CN" altLang="en-US" sz="2800" b="1" dirty="0">
                <a:solidFill>
                  <a:srgbClr val="FF0000"/>
                </a:solidFill>
              </a:rPr>
              <a:t>模式</a:t>
            </a:r>
            <a:r>
              <a:rPr lang="en-US" altLang="zh-CN" sz="2800" b="1" dirty="0">
                <a:solidFill>
                  <a:srgbClr val="FF0000"/>
                </a:solidFill>
              </a:rPr>
              <a:t>1</a:t>
            </a:r>
            <a:r>
              <a:rPr lang="zh-CN" altLang="en-US" sz="2800" b="1" dirty="0">
                <a:solidFill>
                  <a:srgbClr val="FF0000"/>
                </a:solidFill>
              </a:rPr>
              <a:t> ，外模式 </a:t>
            </a:r>
            <a:r>
              <a:rPr lang="en-US" altLang="zh-CN" sz="2800" b="1" dirty="0">
                <a:solidFill>
                  <a:srgbClr val="FF0000"/>
                </a:solidFill>
              </a:rPr>
              <a:t>n</a:t>
            </a:r>
            <a:r>
              <a:rPr lang="zh-CN" altLang="en-US" sz="2800" b="1" dirty="0">
                <a:solidFill>
                  <a:srgbClr val="FF0000"/>
                </a:solidFill>
              </a:rPr>
              <a:t>，内模式</a:t>
            </a:r>
            <a:r>
              <a:rPr lang="en-US" altLang="zh-CN" sz="2800" b="1" dirty="0">
                <a:solidFill>
                  <a:srgbClr val="FF0000"/>
                </a:solidFill>
              </a:rPr>
              <a:t>1  </a:t>
            </a:r>
            <a:r>
              <a:rPr lang="zh-CN" altLang="en-US" sz="2800" b="1" dirty="0">
                <a:solidFill>
                  <a:srgbClr val="FF0000"/>
                </a:solidFill>
              </a:rPr>
              <a:t> 定义 </a:t>
            </a:r>
            <a:r>
              <a:rPr lang="zh-CN" altLang="en-US" sz="2800" b="1" dirty="0">
                <a:latin typeface="宋体" panose="02010600030101010101" pitchFamily="2" charset="-122"/>
              </a:rPr>
              <a:t>）</a:t>
            </a:r>
            <a:endParaRPr lang="en-US" altLang="zh-CN" sz="2800" b="1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135000"/>
              </a:lnSpc>
            </a:pPr>
            <a:r>
              <a:rPr lang="zh-CN" altLang="en-US" sz="2800" b="1" dirty="0">
                <a:latin typeface="宋体" panose="02010600030101010101" pitchFamily="2" charset="-122"/>
              </a:rPr>
              <a:t>数据库的两级映像功能：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外模式</a:t>
            </a:r>
            <a:r>
              <a: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/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模式映像（逻辑独立性</a:t>
            </a:r>
            <a:r>
              <a:rPr lang="zh-CN" altLang="en-US" sz="2800" b="1" dirty="0">
                <a:latin typeface="宋体" panose="02010600030101010101" pitchFamily="2" charset="-122"/>
              </a:rPr>
              <a:t>、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模式</a:t>
            </a:r>
            <a:r>
              <a: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/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内模式映像（物理独立性）</a:t>
            </a:r>
            <a:endParaRPr lang="zh-CN" altLang="en-US" sz="2800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eaLnBrk="1" hangingPunct="1">
              <a:lnSpc>
                <a:spcPct val="135000"/>
              </a:lnSpc>
            </a:pPr>
            <a:endParaRPr lang="en-US" altLang="zh-CN" sz="2800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3" name="Rectangle 2"/>
          <p:cNvSpPr>
            <a:spLocks noGrp="1"/>
          </p:cNvSpPr>
          <p:nvPr>
            <p:ph type="title"/>
          </p:nvPr>
        </p:nvSpPr>
        <p:spPr>
          <a:xfrm>
            <a:off x="971550" y="549275"/>
            <a:ext cx="4906963" cy="863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3600" b="1" dirty="0">
                <a:latin typeface="宋体" panose="02010600030101010101" pitchFamily="2" charset="-122"/>
              </a:rPr>
              <a:t>第</a:t>
            </a:r>
            <a:r>
              <a:rPr lang="en-US" altLang="zh-CN" sz="3600" b="1" dirty="0">
                <a:latin typeface="宋体" panose="02010600030101010101" pitchFamily="2" charset="-122"/>
              </a:rPr>
              <a:t>2</a:t>
            </a:r>
            <a:r>
              <a:rPr lang="zh-CN" altLang="en-US" sz="3600" b="1" dirty="0">
                <a:latin typeface="宋体" panose="02010600030101010101" pitchFamily="2" charset="-122"/>
              </a:rPr>
              <a:t>章 关系数据库</a:t>
            </a:r>
            <a:endParaRPr lang="zh-CN" altLang="en-US" sz="3600" b="1" dirty="0">
              <a:latin typeface="宋体" panose="02010600030101010101" pitchFamily="2" charset="-122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250825" y="1438275"/>
            <a:ext cx="8208963" cy="4967288"/>
          </a:xfrm>
        </p:spPr>
        <p:txBody>
          <a:bodyPr vert="horz" wrap="square" lIns="91440" tIns="45720" rIns="91440" bIns="45720" numCol="1" anchor="t" anchorCtr="0" compatLnSpc="1"/>
          <a:lstStyle/>
          <a:p>
            <a:pPr marL="990600" marR="0" lvl="1" indent="-5334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ea"/>
              </a:rPr>
              <a:t>1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ea"/>
              </a:rPr>
              <a:t>、基本术语：笛卡儿积、属性、候选码、主码、外码、主属性等。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ea"/>
            </a:endParaRPr>
          </a:p>
          <a:p>
            <a:pPr marL="990600" marR="0" lvl="1" indent="-5334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ea"/>
              </a:rPr>
              <a:t>2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ea"/>
              </a:rPr>
              <a:t>、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关系的三类完整性约束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</a:endParaRPr>
          </a:p>
          <a:p>
            <a:pPr marL="457200" marR="0" lvl="1" indent="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 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实体完整性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——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规定关系中的所有主属性不能为空   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</a:endParaRPr>
          </a:p>
          <a:p>
            <a:pPr marL="457200" marR="0" lvl="1" indent="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参照完整性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——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外码、参照关系、被参照关系外码取值规则：要么为空，要么等于对应参照关系的某个主码值。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</a:endParaRPr>
          </a:p>
          <a:p>
            <a:pPr marL="457200" marR="0" lvl="1" indent="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用户定义完整性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——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反映某一具体应用所涉及的数据必须满足的语义要求。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ea"/>
            </a:endParaRPr>
          </a:p>
          <a:p>
            <a:pPr marL="990600" marR="0" lvl="1" indent="-5334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ea"/>
              </a:rPr>
              <a:t>3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ea"/>
              </a:rPr>
              <a:t>、关系代数：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ea"/>
              </a:rPr>
              <a:t>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ea"/>
              </a:rPr>
              <a:t>传统的集合运算（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ea"/>
              </a:rPr>
              <a:t>并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ea"/>
              </a:rPr>
              <a:t>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ea"/>
              </a:rPr>
              <a:t>差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ea"/>
              </a:rPr>
              <a:t> 交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ea"/>
              </a:rPr>
              <a:t>笛卡尔积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ea"/>
              </a:rPr>
              <a:t>）      专门的关系运算（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ea"/>
              </a:rPr>
              <a:t>选择 投影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ea"/>
              </a:rPr>
              <a:t>连接 除）及五种基本运算。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ea"/>
            </a:endParaRPr>
          </a:p>
          <a:p>
            <a:pPr marL="990600" marR="0" lvl="1" indent="-5334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ea"/>
            </a:endParaRPr>
          </a:p>
          <a:p>
            <a:pPr marL="990600" marR="0" lvl="1" indent="-5334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Ø"/>
              <a:defRPr/>
            </a:pP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7" name="Rectangle 2"/>
          <p:cNvSpPr>
            <a:spLocks noGrp="1"/>
          </p:cNvSpPr>
          <p:nvPr>
            <p:ph type="title"/>
          </p:nvPr>
        </p:nvSpPr>
        <p:spPr>
          <a:xfrm>
            <a:off x="900113" y="476250"/>
            <a:ext cx="3467100" cy="1171575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3600" b="1" dirty="0"/>
              <a:t>笛卡儿积</a:t>
            </a:r>
            <a:endParaRPr lang="zh-CN" altLang="en-US" sz="3600" b="1" dirty="0"/>
          </a:p>
        </p:txBody>
      </p:sp>
      <p:graphicFrame>
        <p:nvGraphicFramePr>
          <p:cNvPr id="75914" name="Group 138"/>
          <p:cNvGraphicFramePr>
            <a:graphicFrameLocks noGrp="1"/>
          </p:cNvGraphicFramePr>
          <p:nvPr/>
        </p:nvGraphicFramePr>
        <p:xfrm>
          <a:off x="1371600" y="3429000"/>
          <a:ext cx="1096963" cy="1828800"/>
        </p:xfrm>
        <a:graphic>
          <a:graphicData uri="http://schemas.openxmlformats.org/drawingml/2006/table">
            <a:tbl>
              <a:tblPr/>
              <a:tblGrid>
                <a:gridCol w="366713"/>
                <a:gridCol w="363537"/>
                <a:gridCol w="366713"/>
              </a:tblGrid>
              <a:tr h="1809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1809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1809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1809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5915" name="Group 139"/>
          <p:cNvGraphicFramePr>
            <a:graphicFrameLocks noGrp="1"/>
          </p:cNvGraphicFramePr>
          <p:nvPr/>
        </p:nvGraphicFramePr>
        <p:xfrm>
          <a:off x="3657600" y="3429000"/>
          <a:ext cx="1096963" cy="1828800"/>
        </p:xfrm>
        <a:graphic>
          <a:graphicData uri="http://schemas.openxmlformats.org/drawingml/2006/table">
            <a:tbl>
              <a:tblPr/>
              <a:tblGrid>
                <a:gridCol w="366713"/>
                <a:gridCol w="363537"/>
                <a:gridCol w="366713"/>
              </a:tblGrid>
              <a:tr h="1809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B</a:t>
                      </a:r>
                      <a:endParaRPr kumimoji="1" lang="en-US" altLang="zh-CN" sz="2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1809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4</a:t>
                      </a:r>
                      <a:endParaRPr kumimoji="1" lang="en-US" altLang="zh-CN" sz="2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1809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1809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5916" name="Group 140"/>
          <p:cNvGraphicFramePr>
            <a:graphicFrameLocks noGrp="1"/>
          </p:cNvGraphicFramePr>
          <p:nvPr/>
        </p:nvGraphicFramePr>
        <p:xfrm>
          <a:off x="5364163" y="2178050"/>
          <a:ext cx="2774950" cy="4419600"/>
        </p:xfrm>
        <a:graphic>
          <a:graphicData uri="http://schemas.openxmlformats.org/drawingml/2006/table">
            <a:tbl>
              <a:tblPr/>
              <a:tblGrid>
                <a:gridCol w="463550"/>
                <a:gridCol w="458787"/>
                <a:gridCol w="463550"/>
                <a:gridCol w="495300"/>
                <a:gridCol w="447675"/>
                <a:gridCol w="446088"/>
              </a:tblGrid>
              <a:tr h="1809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RA</a:t>
                      </a:r>
                      <a:endParaRPr kumimoji="1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RB</a:t>
                      </a: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RC</a:t>
                      </a: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SA</a:t>
                      </a: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SB</a:t>
                      </a: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SC</a:t>
                      </a:r>
                      <a:endParaRPr kumimoji="1" lang="en-US" altLang="zh-CN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09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</a:tr>
              <a:tr h="1809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</a:tr>
              <a:tr h="1809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</a:tr>
              <a:tr h="1809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</a:tr>
              <a:tr h="1809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</a:tr>
              <a:tr h="1809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</a:tr>
              <a:tr h="1809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</a:tr>
              <a:tr h="1809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</a:tr>
              <a:tr h="1809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</a:tr>
            </a:tbl>
          </a:graphicData>
        </a:graphic>
      </p:graphicFrame>
      <p:sp>
        <p:nvSpPr>
          <p:cNvPr id="75902" name="Text Box 126"/>
          <p:cNvSpPr txBox="1"/>
          <p:nvPr/>
        </p:nvSpPr>
        <p:spPr>
          <a:xfrm>
            <a:off x="1676400" y="2667000"/>
            <a:ext cx="3810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en-US" altLang="zh-CN" sz="2400" dirty="0">
                <a:latin typeface="Tahoma" panose="020B0604030504040204" pitchFamily="34" charset="0"/>
                <a:ea typeface="宋体" panose="02010600030101010101" pitchFamily="2" charset="-122"/>
              </a:rPr>
              <a:t>R</a:t>
            </a:r>
            <a:endParaRPr lang="en-US" altLang="zh-CN" sz="240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5903" name="Text Box 127"/>
          <p:cNvSpPr txBox="1"/>
          <p:nvPr/>
        </p:nvSpPr>
        <p:spPr>
          <a:xfrm>
            <a:off x="3962400" y="2667000"/>
            <a:ext cx="3810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en-US" altLang="zh-CN" sz="2400" dirty="0">
                <a:latin typeface="Tahoma" panose="020B0604030504040204" pitchFamily="34" charset="0"/>
                <a:ea typeface="宋体" panose="02010600030101010101" pitchFamily="2" charset="-122"/>
              </a:rPr>
              <a:t>S</a:t>
            </a:r>
            <a:endParaRPr lang="en-US" altLang="zh-CN" sz="240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5904" name="Text Box 128"/>
          <p:cNvSpPr txBox="1"/>
          <p:nvPr/>
        </p:nvSpPr>
        <p:spPr>
          <a:xfrm>
            <a:off x="6477000" y="1603375"/>
            <a:ext cx="9144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en-US" altLang="zh-CN" sz="2400" dirty="0">
                <a:latin typeface="Tahoma" panose="020B0604030504040204" pitchFamily="34" charset="0"/>
                <a:ea typeface="宋体" panose="02010600030101010101" pitchFamily="2" charset="-122"/>
              </a:rPr>
              <a:t>R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×</a:t>
            </a:r>
            <a:r>
              <a:rPr lang="en-US" altLang="zh-CN" sz="2400" dirty="0">
                <a:latin typeface="Tahoma" panose="020B0604030504040204" pitchFamily="34" charset="0"/>
                <a:ea typeface="宋体" panose="02010600030101010101" pitchFamily="2" charset="-122"/>
              </a:rPr>
              <a:t>S</a:t>
            </a:r>
            <a:endParaRPr lang="en-US" altLang="zh-CN" sz="240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5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5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5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5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75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75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902" grpId="0"/>
      <p:bldP spid="75903" grpId="0"/>
      <p:bldP spid="7590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1" name="Rectangle 2"/>
          <p:cNvSpPr>
            <a:spLocks noGrp="1"/>
          </p:cNvSpPr>
          <p:nvPr>
            <p:ph type="title"/>
          </p:nvPr>
        </p:nvSpPr>
        <p:spPr>
          <a:xfrm>
            <a:off x="914400" y="476250"/>
            <a:ext cx="8229600" cy="1152525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3600" b="1" dirty="0"/>
              <a:t>选择运算</a:t>
            </a:r>
            <a:endParaRPr lang="zh-CN" altLang="en-US" sz="3600" b="1" dirty="0"/>
          </a:p>
        </p:txBody>
      </p:sp>
      <p:graphicFrame>
        <p:nvGraphicFramePr>
          <p:cNvPr id="76894" name="Group 94"/>
          <p:cNvGraphicFramePr>
            <a:graphicFrameLocks noGrp="1"/>
          </p:cNvGraphicFramePr>
          <p:nvPr/>
        </p:nvGraphicFramePr>
        <p:xfrm>
          <a:off x="1371600" y="3200400"/>
          <a:ext cx="2724150" cy="2590800"/>
        </p:xfrm>
        <a:graphic>
          <a:graphicData uri="http://schemas.openxmlformats.org/drawingml/2006/table">
            <a:tbl>
              <a:tblPr/>
              <a:tblGrid>
                <a:gridCol w="479425"/>
                <a:gridCol w="469900"/>
                <a:gridCol w="600075"/>
                <a:gridCol w="577850"/>
                <a:gridCol w="596900"/>
              </a:tblGrid>
              <a:tr h="3048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S#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SN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AGE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SEX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DEP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4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S1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CS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</a:tr>
              <a:tr h="1809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S2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21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CS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</a:tr>
              <a:tr h="1809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S3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19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MA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09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S4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19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CI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17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S5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MA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09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S6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22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CS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6895" name="Group 95"/>
          <p:cNvGraphicFramePr>
            <a:graphicFrameLocks noGrp="1"/>
          </p:cNvGraphicFramePr>
          <p:nvPr/>
        </p:nvGraphicFramePr>
        <p:xfrm>
          <a:off x="5486400" y="3657600"/>
          <a:ext cx="2724150" cy="1584325"/>
        </p:xfrm>
        <a:graphic>
          <a:graphicData uri="http://schemas.openxmlformats.org/drawingml/2006/table">
            <a:tbl>
              <a:tblPr/>
              <a:tblGrid>
                <a:gridCol w="479425"/>
                <a:gridCol w="469900"/>
                <a:gridCol w="600075"/>
                <a:gridCol w="577850"/>
                <a:gridCol w="596900"/>
              </a:tblGrid>
              <a:tr h="57896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S#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42" marB="4564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SN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42" marB="4564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AGE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42" marB="4564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SEX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42" marB="4564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DEP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42" marB="4564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122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S1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42" marB="4564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42" marB="4564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42" marB="4564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42" marB="4564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CS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42" marB="4564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</a:tr>
              <a:tr h="335122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S2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42" marB="4564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42" marB="4564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21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42" marB="4564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42" marB="4564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CS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42" marB="4564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</a:tr>
              <a:tr h="335122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S6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42" marB="45642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42" marB="4564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22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42" marB="4564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42" marB="4564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CS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42" marB="4564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</a:tr>
            </a:tbl>
          </a:graphicData>
        </a:graphic>
      </p:graphicFrame>
      <p:sp>
        <p:nvSpPr>
          <p:cNvPr id="76885" name="Text Box 85"/>
          <p:cNvSpPr txBox="1"/>
          <p:nvPr/>
        </p:nvSpPr>
        <p:spPr>
          <a:xfrm>
            <a:off x="1371600" y="2590800"/>
            <a:ext cx="4572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en-US" altLang="zh-CN" sz="2400" dirty="0">
                <a:latin typeface="Tahoma" panose="020B0604030504040204" pitchFamily="34" charset="0"/>
                <a:ea typeface="宋体" panose="02010600030101010101" pitchFamily="2" charset="-122"/>
              </a:rPr>
              <a:t>S</a:t>
            </a:r>
            <a:endParaRPr lang="en-US" altLang="zh-CN" sz="240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6886" name="Text Box 86"/>
          <p:cNvSpPr txBox="1"/>
          <p:nvPr/>
        </p:nvSpPr>
        <p:spPr>
          <a:xfrm>
            <a:off x="5410200" y="2971800"/>
            <a:ext cx="1752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</a:t>
            </a:r>
            <a:r>
              <a:rPr lang="en-US" altLang="zh-CN" sz="2400" b="1" baseline="-30000" dirty="0">
                <a:latin typeface="Tahoma" panose="020B0604030504040204" pitchFamily="34" charset="0"/>
                <a:ea typeface="宋体" panose="02010600030101010101" pitchFamily="2" charset="-122"/>
              </a:rPr>
              <a:t>DEP=</a:t>
            </a:r>
            <a:r>
              <a:rPr lang="en-US" altLang="zh-CN" sz="2400" b="1" baseline="-30000" dirty="0">
                <a:latin typeface="Times New Roman" panose="02020603050405020304" pitchFamily="18" charset="0"/>
                <a:ea typeface="宋体" panose="02010600030101010101" pitchFamily="2" charset="-122"/>
              </a:rPr>
              <a:t>‘</a:t>
            </a:r>
            <a:r>
              <a:rPr lang="en-US" altLang="zh-CN" sz="2400" b="1" baseline="-30000" dirty="0">
                <a:latin typeface="Tahoma" panose="020B0604030504040204" pitchFamily="34" charset="0"/>
                <a:ea typeface="宋体" panose="02010600030101010101" pitchFamily="2" charset="-122"/>
              </a:rPr>
              <a:t>CS</a:t>
            </a:r>
            <a:r>
              <a:rPr lang="en-US" altLang="zh-CN" sz="2400" b="1" baseline="-30000" dirty="0">
                <a:latin typeface="Times New Roman" panose="02020603050405020304" pitchFamily="18" charset="0"/>
                <a:ea typeface="宋体" panose="02010600030101010101" pitchFamily="2" charset="-122"/>
              </a:rPr>
              <a:t>’</a:t>
            </a:r>
            <a:r>
              <a:rPr lang="en-US" altLang="zh-CN" sz="2400" dirty="0">
                <a:latin typeface="Tahoma" panose="020B0604030504040204" pitchFamily="34" charset="0"/>
                <a:ea typeface="宋体" panose="02010600030101010101" pitchFamily="2" charset="-122"/>
              </a:rPr>
              <a:t>(S) </a:t>
            </a:r>
            <a:endParaRPr lang="en-US" altLang="zh-CN" sz="240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6888" name="Text Box 88"/>
          <p:cNvSpPr txBox="1"/>
          <p:nvPr/>
        </p:nvSpPr>
        <p:spPr>
          <a:xfrm>
            <a:off x="3581400" y="2209800"/>
            <a:ext cx="52578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zh-CN" altLang="en-US" sz="2400" b="1" dirty="0">
                <a:latin typeface="Tahoma" panose="020B0604030504040204" pitchFamily="34" charset="0"/>
                <a:ea typeface="宋体" panose="02010600030101010101" pitchFamily="2" charset="-122"/>
              </a:rPr>
              <a:t>求计算机系</a:t>
            </a:r>
            <a:r>
              <a:rPr lang="en-US" altLang="zh-CN" sz="2400" b="1" dirty="0">
                <a:latin typeface="Tahoma" panose="020B0604030504040204" pitchFamily="34" charset="0"/>
                <a:ea typeface="宋体" panose="02010600030101010101" pitchFamily="2" charset="-122"/>
              </a:rPr>
              <a:t>(CS)</a:t>
            </a:r>
            <a:r>
              <a:rPr lang="zh-CN" altLang="en-US" sz="2400" b="1" dirty="0">
                <a:latin typeface="Tahoma" panose="020B0604030504040204" pitchFamily="34" charset="0"/>
                <a:ea typeface="宋体" panose="02010600030101010101" pitchFamily="2" charset="-122"/>
              </a:rPr>
              <a:t>的学生基本情况</a:t>
            </a:r>
            <a:endParaRPr lang="zh-CN" altLang="en-US" sz="2400" b="1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6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6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68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68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6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6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85" grpId="0"/>
      <p:bldP spid="76886" grpId="0"/>
      <p:bldP spid="7688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5" name="Rectangle 2"/>
          <p:cNvSpPr>
            <a:spLocks noGrp="1"/>
          </p:cNvSpPr>
          <p:nvPr>
            <p:ph type="title"/>
          </p:nvPr>
        </p:nvSpPr>
        <p:spPr>
          <a:xfrm>
            <a:off x="900113" y="476250"/>
            <a:ext cx="2674937" cy="1100138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3600" b="1" dirty="0"/>
              <a:t>投影运算</a:t>
            </a:r>
            <a:endParaRPr lang="zh-CN" altLang="en-US" sz="3600" b="1" dirty="0"/>
          </a:p>
        </p:txBody>
      </p:sp>
      <p:graphicFrame>
        <p:nvGraphicFramePr>
          <p:cNvPr id="77928" name="Group 104"/>
          <p:cNvGraphicFramePr>
            <a:graphicFrameLocks noGrp="1"/>
          </p:cNvGraphicFramePr>
          <p:nvPr/>
        </p:nvGraphicFramePr>
        <p:xfrm>
          <a:off x="1219200" y="2590800"/>
          <a:ext cx="2724150" cy="2590800"/>
        </p:xfrm>
        <a:graphic>
          <a:graphicData uri="http://schemas.openxmlformats.org/drawingml/2006/table">
            <a:tbl>
              <a:tblPr/>
              <a:tblGrid>
                <a:gridCol w="479425"/>
                <a:gridCol w="469900"/>
                <a:gridCol w="600075"/>
                <a:gridCol w="577850"/>
                <a:gridCol w="596900"/>
              </a:tblGrid>
              <a:tr h="3048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S#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SN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AGE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SEX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DEP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4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S1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CS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</a:tr>
              <a:tr h="1809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S2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21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CS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</a:tr>
              <a:tr h="1809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S3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19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MA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</a:tr>
              <a:tr h="1809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S4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19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CI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</a:tr>
              <a:tr h="2317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S5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MA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</a:tr>
              <a:tr h="1809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S6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22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CS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7926" name="Group 102"/>
          <p:cNvGraphicFramePr>
            <a:graphicFrameLocks noGrp="1"/>
          </p:cNvGraphicFramePr>
          <p:nvPr/>
        </p:nvGraphicFramePr>
        <p:xfrm>
          <a:off x="4876800" y="2590800"/>
          <a:ext cx="1066800" cy="2346325"/>
        </p:xfrm>
        <a:graphic>
          <a:graphicData uri="http://schemas.openxmlformats.org/drawingml/2006/table">
            <a:tbl>
              <a:tblPr/>
              <a:tblGrid>
                <a:gridCol w="469900"/>
                <a:gridCol w="596900"/>
              </a:tblGrid>
              <a:tr h="335189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SN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76" marB="45676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DEP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76" marB="4567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189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76" marB="45676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CS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76" marB="4567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</a:tr>
              <a:tr h="335189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76" marB="45676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CS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76" marB="4567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</a:tr>
              <a:tr h="335189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76" marB="45676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MA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76" marB="4567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</a:tr>
              <a:tr h="335189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76" marB="45676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CI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76" marB="4567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</a:tr>
              <a:tr h="335189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76" marB="45676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MA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76" marB="4567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</a:tr>
              <a:tr h="335189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76" marB="45676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CS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76" marB="4567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7927" name="Group 103"/>
          <p:cNvGraphicFramePr>
            <a:graphicFrameLocks noGrp="1"/>
          </p:cNvGraphicFramePr>
          <p:nvPr/>
        </p:nvGraphicFramePr>
        <p:xfrm>
          <a:off x="7086600" y="3657600"/>
          <a:ext cx="596900" cy="1387475"/>
        </p:xfrm>
        <a:graphic>
          <a:graphicData uri="http://schemas.openxmlformats.org/drawingml/2006/table">
            <a:tbl>
              <a:tblPr/>
              <a:tblGrid>
                <a:gridCol w="596900"/>
              </a:tblGrid>
              <a:tr h="38117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DEP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41" marB="4574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43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CS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41" marB="4574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</a:tr>
              <a:tr h="33543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MA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41" marB="4574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</a:tr>
              <a:tr h="33543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CI</a:t>
                      </a: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41" marB="4574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</a:tr>
            </a:tbl>
          </a:graphicData>
        </a:graphic>
      </p:graphicFrame>
      <p:sp>
        <p:nvSpPr>
          <p:cNvPr id="77915" name="Text Box 91"/>
          <p:cNvSpPr txBox="1"/>
          <p:nvPr/>
        </p:nvSpPr>
        <p:spPr>
          <a:xfrm>
            <a:off x="1219200" y="2133600"/>
            <a:ext cx="4572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en-US" altLang="zh-CN" sz="2400" dirty="0">
                <a:latin typeface="Tahoma" panose="020B0604030504040204" pitchFamily="34" charset="0"/>
                <a:ea typeface="宋体" panose="02010600030101010101" pitchFamily="2" charset="-122"/>
              </a:rPr>
              <a:t>S</a:t>
            </a:r>
            <a:endParaRPr lang="en-US" altLang="zh-CN" sz="240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7916" name="Text Box 92"/>
          <p:cNvSpPr txBox="1"/>
          <p:nvPr/>
        </p:nvSpPr>
        <p:spPr>
          <a:xfrm>
            <a:off x="228600" y="5334000"/>
            <a:ext cx="50292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zh-CN" altLang="en-US" sz="2400" b="1" dirty="0">
                <a:latin typeface="Tahoma" panose="020B0604030504040204" pitchFamily="34" charset="0"/>
                <a:ea typeface="宋体" panose="02010600030101010101" pitchFamily="2" charset="-122"/>
              </a:rPr>
              <a:t>对学生姓名和所在系属性取投影</a:t>
            </a:r>
            <a:endParaRPr lang="zh-CN" altLang="en-US" sz="2400" b="1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7917" name="Text Box 93"/>
          <p:cNvSpPr txBox="1"/>
          <p:nvPr/>
        </p:nvSpPr>
        <p:spPr>
          <a:xfrm>
            <a:off x="4419600" y="20574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</a:t>
            </a:r>
            <a:r>
              <a:rPr lang="en-US" altLang="zh-CN" sz="2400" baseline="-30000" dirty="0">
                <a:latin typeface="Tahoma" panose="020B0604030504040204" pitchFamily="34" charset="0"/>
                <a:ea typeface="宋体" panose="02010600030101010101" pitchFamily="2" charset="-122"/>
              </a:rPr>
              <a:t>SN,DEP</a:t>
            </a:r>
            <a:r>
              <a:rPr lang="en-US" altLang="zh-CN" sz="2400" dirty="0">
                <a:latin typeface="Tahoma" panose="020B0604030504040204" pitchFamily="34" charset="0"/>
                <a:ea typeface="宋体" panose="02010600030101010101" pitchFamily="2" charset="-122"/>
              </a:rPr>
              <a:t>(S)</a:t>
            </a:r>
            <a:endParaRPr lang="en-US" altLang="zh-CN" sz="240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7918" name="Text Box 94"/>
          <p:cNvSpPr txBox="1"/>
          <p:nvPr/>
        </p:nvSpPr>
        <p:spPr>
          <a:xfrm>
            <a:off x="2514600" y="5943600"/>
            <a:ext cx="41910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zh-CN" altLang="en-US" sz="2400" b="1" dirty="0">
                <a:latin typeface="Tahoma" panose="020B0604030504040204" pitchFamily="34" charset="0"/>
                <a:ea typeface="宋体" panose="02010600030101010101" pitchFamily="2" charset="-122"/>
              </a:rPr>
              <a:t>查询学生关系中都有哪些系</a:t>
            </a:r>
            <a:endParaRPr lang="zh-CN" altLang="en-US" sz="2400" b="1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7919" name="Text Box 95"/>
          <p:cNvSpPr txBox="1"/>
          <p:nvPr/>
        </p:nvSpPr>
        <p:spPr>
          <a:xfrm>
            <a:off x="6477000" y="3124200"/>
            <a:ext cx="23622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</a:t>
            </a:r>
            <a:r>
              <a:rPr lang="en-US" altLang="zh-CN" sz="2400" baseline="-30000" dirty="0">
                <a:latin typeface="Tahoma" panose="020B0604030504040204" pitchFamily="34" charset="0"/>
                <a:ea typeface="宋体" panose="02010600030101010101" pitchFamily="2" charset="-122"/>
              </a:rPr>
              <a:t>DEP</a:t>
            </a:r>
            <a:r>
              <a:rPr lang="en-US" altLang="zh-CN" sz="2400" dirty="0">
                <a:latin typeface="Tahoma" panose="020B0604030504040204" pitchFamily="34" charset="0"/>
                <a:ea typeface="宋体" panose="02010600030101010101" pitchFamily="2" charset="-122"/>
              </a:rPr>
              <a:t>(S)</a:t>
            </a:r>
            <a:endParaRPr lang="en-US" altLang="zh-CN" sz="240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7920" name="AutoShape 96"/>
          <p:cNvSpPr/>
          <p:nvPr/>
        </p:nvSpPr>
        <p:spPr>
          <a:xfrm>
            <a:off x="5181600" y="4876800"/>
            <a:ext cx="838200" cy="838200"/>
          </a:xfrm>
          <a:custGeom>
            <a:avLst/>
            <a:gdLst/>
            <a:ahLst/>
            <a:cxnLst>
              <a:cxn ang="17694720">
                <a:pos x="2147483646" y="0"/>
              </a:cxn>
              <a:cxn ang="11796480">
                <a:pos x="2147483646" y="2147483646"/>
              </a:cxn>
              <a:cxn ang="11796480">
                <a:pos x="0" y="2147483646"/>
              </a:cxn>
              <a:cxn ang="589824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21600" h="21600">
                <a:moveTo>
                  <a:pt x="15429" y="0"/>
                </a:moveTo>
                <a:lnTo>
                  <a:pt x="9257" y="7200"/>
                </a:lnTo>
                <a:lnTo>
                  <a:pt x="12343" y="7200"/>
                </a:lnTo>
                <a:lnTo>
                  <a:pt x="12343" y="14400"/>
                </a:lnTo>
                <a:lnTo>
                  <a:pt x="0" y="14400"/>
                </a:lnTo>
                <a:lnTo>
                  <a:pt x="0" y="21600"/>
                </a:lnTo>
                <a:lnTo>
                  <a:pt x="18514" y="21600"/>
                </a:lnTo>
                <a:lnTo>
                  <a:pt x="18514" y="7200"/>
                </a:lnTo>
                <a:lnTo>
                  <a:pt x="21600" y="7200"/>
                </a:lnTo>
                <a:lnTo>
                  <a:pt x="15429" y="0"/>
                </a:ln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77921" name="AutoShape 97"/>
          <p:cNvSpPr/>
          <p:nvPr/>
        </p:nvSpPr>
        <p:spPr>
          <a:xfrm>
            <a:off x="6934200" y="4953000"/>
            <a:ext cx="838200" cy="1447800"/>
          </a:xfrm>
          <a:custGeom>
            <a:avLst/>
            <a:gdLst/>
            <a:ahLst/>
            <a:cxnLst>
              <a:cxn ang="17694720">
                <a:pos x="2147483646" y="0"/>
              </a:cxn>
              <a:cxn ang="11796480">
                <a:pos x="2147483646" y="2147483646"/>
              </a:cxn>
              <a:cxn ang="11796480">
                <a:pos x="0" y="2147483646"/>
              </a:cxn>
              <a:cxn ang="589824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21600" h="21600">
                <a:moveTo>
                  <a:pt x="15429" y="0"/>
                </a:moveTo>
                <a:lnTo>
                  <a:pt x="9257" y="7200"/>
                </a:lnTo>
                <a:lnTo>
                  <a:pt x="12343" y="7200"/>
                </a:lnTo>
                <a:lnTo>
                  <a:pt x="12343" y="14400"/>
                </a:lnTo>
                <a:lnTo>
                  <a:pt x="0" y="14400"/>
                </a:lnTo>
                <a:lnTo>
                  <a:pt x="0" y="21600"/>
                </a:lnTo>
                <a:lnTo>
                  <a:pt x="18514" y="21600"/>
                </a:lnTo>
                <a:lnTo>
                  <a:pt x="18514" y="7200"/>
                </a:lnTo>
                <a:lnTo>
                  <a:pt x="21600" y="7200"/>
                </a:lnTo>
                <a:lnTo>
                  <a:pt x="15429" y="0"/>
                </a:ln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7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7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79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79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7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77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77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79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79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77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77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77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915" grpId="0"/>
      <p:bldP spid="77916" grpId="0"/>
      <p:bldP spid="77917" grpId="0"/>
      <p:bldP spid="77918" grpId="0"/>
      <p:bldP spid="7791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89" name="Rectangle 2"/>
          <p:cNvSpPr>
            <a:spLocks noGrp="1"/>
          </p:cNvSpPr>
          <p:nvPr>
            <p:ph type="title"/>
          </p:nvPr>
        </p:nvSpPr>
        <p:spPr>
          <a:xfrm>
            <a:off x="900113" y="476250"/>
            <a:ext cx="4475162" cy="955675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3600" b="1" dirty="0"/>
              <a:t>连接运算</a:t>
            </a:r>
            <a:endParaRPr lang="zh-CN" altLang="en-US" sz="3600" b="1" dirty="0"/>
          </a:p>
        </p:txBody>
      </p:sp>
      <p:graphicFrame>
        <p:nvGraphicFramePr>
          <p:cNvPr id="80059" name="Group 187"/>
          <p:cNvGraphicFramePr>
            <a:graphicFrameLocks noGrp="1"/>
          </p:cNvGraphicFramePr>
          <p:nvPr/>
        </p:nvGraphicFramePr>
        <p:xfrm>
          <a:off x="906463" y="2708275"/>
          <a:ext cx="1282700" cy="2754313"/>
        </p:xfrm>
        <a:graphic>
          <a:graphicData uri="http://schemas.openxmlformats.org/drawingml/2006/table">
            <a:tbl>
              <a:tblPr/>
              <a:tblGrid>
                <a:gridCol w="430746"/>
                <a:gridCol w="437103"/>
                <a:gridCol w="414851"/>
              </a:tblGrid>
              <a:tr h="365819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553" marR="91553" marT="45744" marB="45744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553" marR="91553" marT="45744" marB="457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553" marR="91553" marT="45744" marB="457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462769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553" marR="91553" marT="45744" marB="45744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b1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553" marR="91553" marT="45744" marB="457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c2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553" marR="91553" marT="45744" marB="457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</a:tr>
              <a:tr h="462769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a2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553" marR="91553" marT="45744" marB="45744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b2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553" marR="91553" marT="45744" marB="457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553" marR="91553" marT="45744" marB="457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009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a3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553" marR="91553" marT="45744" marB="45744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553" marR="91553" marT="45744" marB="457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c3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553" marR="91553" marT="45744" marB="457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</a:tr>
              <a:tr h="50009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a4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553" marR="91553" marT="45744" marB="45744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b2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553" marR="91553" marT="45744" marB="457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c5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553" marR="91553" marT="45744" marB="457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2769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a5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553" marR="91553" marT="45744" marB="45744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b3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553" marR="91553" marT="45744" marB="457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c1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553" marR="91553" marT="45744" marB="457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0058" name="Group 186"/>
          <p:cNvGraphicFramePr>
            <a:graphicFrameLocks noGrp="1"/>
          </p:cNvGraphicFramePr>
          <p:nvPr/>
        </p:nvGraphicFramePr>
        <p:xfrm>
          <a:off x="2600325" y="2636838"/>
          <a:ext cx="2016125" cy="2892425"/>
        </p:xfrm>
        <a:graphic>
          <a:graphicData uri="http://schemas.openxmlformats.org/drawingml/2006/table">
            <a:tbl>
              <a:tblPr/>
              <a:tblGrid>
                <a:gridCol w="512417"/>
                <a:gridCol w="486329"/>
                <a:gridCol w="512417"/>
                <a:gridCol w="504962"/>
              </a:tblGrid>
              <a:tr h="4694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6" marR="91436" marT="45748" marB="4574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6" marR="91436" marT="45748" marB="4574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6" marR="91436" marT="45748" marB="4574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6" marR="91436" marT="45748" marB="4574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94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6" marR="91436" marT="45748" marB="4574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c2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6" marR="91436" marT="45748" marB="4574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6" marR="91436" marT="45748" marB="4574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6" marR="91436" marT="45748" marB="4574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94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b3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6" marR="91436" marT="45748" marB="4574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6" marR="91436" marT="45748" marB="4574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d2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6" marR="91436" marT="45748" marB="4574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e2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6" marR="91436" marT="45748" marB="4574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7312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6" marR="91436" marT="45748" marB="4574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c3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6" marR="91436" marT="45748" marB="4574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d3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6" marR="91436" marT="45748" marB="4574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e3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6" marR="91436" marT="45748" marB="4574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7312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6" marR="91436" marT="45748" marB="4574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c2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6" marR="91436" marT="45748" marB="4574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d4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6" marR="91436" marT="45748" marB="4574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e4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6" marR="91436" marT="45748" marB="4574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94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b3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6" marR="91436" marT="45748" marB="4574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6" marR="91436" marT="45748" marB="4574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d5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6" marR="91436" marT="45748" marB="4574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e5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6" marR="91436" marT="45748" marB="4574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80060" name="Group 188"/>
          <p:cNvGraphicFramePr>
            <a:graphicFrameLocks noGrp="1"/>
          </p:cNvGraphicFramePr>
          <p:nvPr/>
        </p:nvGraphicFramePr>
        <p:xfrm>
          <a:off x="5192713" y="2708275"/>
          <a:ext cx="2951163" cy="2808288"/>
        </p:xfrm>
        <a:graphic>
          <a:graphicData uri="http://schemas.openxmlformats.org/drawingml/2006/table">
            <a:tbl>
              <a:tblPr/>
              <a:tblGrid>
                <a:gridCol w="591105"/>
                <a:gridCol w="599829"/>
                <a:gridCol w="569293"/>
                <a:gridCol w="599829"/>
                <a:gridCol w="591105"/>
              </a:tblGrid>
              <a:tr h="45580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04" marR="91404" marT="45744" marB="45744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04" marR="91404" marT="45744" marB="457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04" marR="91404" marT="45744" marB="457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04" marR="91404" marT="45744" marB="457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04" marR="91404" marT="45744" marB="457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580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04" marR="91404" marT="45744" marB="45744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04" marR="91404" marT="45744" marB="457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c2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04" marR="91404" marT="45744" marB="457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04" marR="91404" marT="45744" marB="457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04" marR="91404" marT="45744" marB="457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572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04" marR="91404" marT="45744" marB="45744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04" marR="91404" marT="45744" marB="457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c2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04" marR="91404" marT="45744" marB="457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d4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04" marR="91404" marT="45744" marB="457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e4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04" marR="91404" marT="45744" marB="457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9257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a3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04" marR="91404" marT="45744" marB="45744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04" marR="91404" marT="45744" marB="457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c3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04" marR="91404" marT="45744" marB="457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d3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04" marR="91404" marT="45744" marB="457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e3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04" marR="91404" marT="45744" marB="457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9257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a5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04" marR="91404" marT="45744" marB="45744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b3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04" marR="91404" marT="45744" marB="457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04" marR="91404" marT="45744" marB="457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d2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04" marR="91404" marT="45744" marB="457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e2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04" marR="91404" marT="45744" marB="457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580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a5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04" marR="91404" marT="45744" marB="45744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b3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04" marR="91404" marT="45744" marB="457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04" marR="91404" marT="45744" marB="457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d5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04" marR="91404" marT="45744" marB="457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e5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04" marR="91404" marT="45744" marB="457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9986" name="Text Box 114"/>
          <p:cNvSpPr txBox="1"/>
          <p:nvPr/>
        </p:nvSpPr>
        <p:spPr>
          <a:xfrm>
            <a:off x="1319213" y="2006600"/>
            <a:ext cx="4572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en-US" altLang="zh-CN" sz="2400" dirty="0">
                <a:latin typeface="Tahoma" panose="020B0604030504040204" pitchFamily="34" charset="0"/>
                <a:ea typeface="宋体" panose="02010600030101010101" pitchFamily="2" charset="-122"/>
              </a:rPr>
              <a:t>R</a:t>
            </a:r>
            <a:endParaRPr lang="en-US" altLang="zh-CN" sz="240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9987" name="Text Box 115"/>
          <p:cNvSpPr txBox="1"/>
          <p:nvPr/>
        </p:nvSpPr>
        <p:spPr>
          <a:xfrm>
            <a:off x="3379788" y="1989138"/>
            <a:ext cx="4572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en-US" altLang="zh-CN" sz="2400" dirty="0">
                <a:latin typeface="Tahoma" panose="020B0604030504040204" pitchFamily="34" charset="0"/>
                <a:ea typeface="宋体" panose="02010600030101010101" pitchFamily="2" charset="-122"/>
              </a:rPr>
              <a:t>S</a:t>
            </a:r>
            <a:endParaRPr lang="en-US" altLang="zh-CN" sz="240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9988" name="Text Box 116"/>
          <p:cNvSpPr txBox="1"/>
          <p:nvPr/>
        </p:nvSpPr>
        <p:spPr>
          <a:xfrm>
            <a:off x="6443663" y="1728788"/>
            <a:ext cx="990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en-US" altLang="zh-CN" sz="2400" dirty="0">
                <a:latin typeface="Tahoma" panose="020B0604030504040204" pitchFamily="34" charset="0"/>
                <a:ea typeface="宋体" panose="02010600030101010101" pitchFamily="2" charset="-122"/>
              </a:rPr>
              <a:t>R    S</a:t>
            </a:r>
            <a:endParaRPr lang="en-US" altLang="zh-CN" sz="240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1381" name="AutoShape 180"/>
          <p:cNvSpPr/>
          <p:nvPr/>
        </p:nvSpPr>
        <p:spPr>
          <a:xfrm rot="-5400000" flipV="1">
            <a:off x="6835775" y="1835150"/>
            <a:ext cx="122238" cy="246063"/>
          </a:xfrm>
          <a:prstGeom prst="flowChartCollate">
            <a:avLst/>
          </a:prstGeom>
          <a:solidFill>
            <a:srgbClr val="FFFFFF"/>
          </a:solidFill>
          <a:ln w="635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>
              <a:buClrTx/>
              <a:buFont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2405" name="Picture 1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5150" y="787400"/>
            <a:ext cx="2695575" cy="571500"/>
          </a:xfrm>
          <a:prstGeom prst="rect">
            <a:avLst/>
          </a:prstGeom>
          <a:noFill/>
          <a:ln w="12700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9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80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9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80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79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3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3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80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986" grpId="0"/>
      <p:bldP spid="79987" grpId="0"/>
      <p:bldP spid="79988" grpId="0"/>
      <p:bldP spid="1138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3" name="Rectangle 2"/>
          <p:cNvSpPr/>
          <p:nvPr/>
        </p:nvSpPr>
        <p:spPr>
          <a:xfrm>
            <a:off x="344488" y="1749425"/>
            <a:ext cx="8574087" cy="4800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742950" lvl="1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查选修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号课程的学生姓名和成绩</a:t>
            </a:r>
            <a:b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</a:t>
            </a:r>
            <a:r>
              <a:rPr lang="en-US" altLang="zh-CN" sz="3200" b="1" baseline="-18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Sname,Grade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3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</a:t>
            </a:r>
            <a:r>
              <a:rPr lang="en-US" altLang="zh-CN" sz="2800" b="1" baseline="-20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Cno =‘2’ 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(S   SC)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b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</a:br>
            <a:endParaRPr lang="en-US" altLang="zh-CN" sz="32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marL="742950" lvl="1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</a:pPr>
            <a:endParaRPr lang="en-US" altLang="zh-CN" sz="28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13314" name="AutoShape 3"/>
          <p:cNvSpPr/>
          <p:nvPr/>
        </p:nvSpPr>
        <p:spPr>
          <a:xfrm rot="5400000">
            <a:off x="4775200" y="2479675"/>
            <a:ext cx="228600" cy="228600"/>
          </a:xfrm>
          <a:prstGeom prst="flowChartCollate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buClrTx/>
              <a:buFontTx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7" name="Rectangle 2"/>
          <p:cNvSpPr>
            <a:spLocks noGrp="1"/>
          </p:cNvSpPr>
          <p:nvPr>
            <p:ph type="title"/>
          </p:nvPr>
        </p:nvSpPr>
        <p:spPr>
          <a:xfrm>
            <a:off x="971550" y="333375"/>
            <a:ext cx="3827463" cy="1027113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3600" b="1" dirty="0">
                <a:latin typeface="宋体" panose="02010600030101010101" pitchFamily="2" charset="-122"/>
              </a:rPr>
              <a:t>第三章  </a:t>
            </a:r>
            <a:r>
              <a:rPr lang="en-US" altLang="zh-CN" sz="3600" b="1" dirty="0">
                <a:latin typeface="宋体" panose="02010600030101010101" pitchFamily="2" charset="-122"/>
              </a:rPr>
              <a:t>SQL</a:t>
            </a:r>
            <a:endParaRPr lang="en-US" altLang="zh-CN" sz="3600" b="1" dirty="0">
              <a:latin typeface="宋体" panose="02010600030101010101" pitchFamily="2" charset="-122"/>
            </a:endParaRP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611188" y="1628775"/>
            <a:ext cx="8208963" cy="4465638"/>
          </a:xfrm>
        </p:spPr>
        <p:txBody>
          <a:bodyPr vert="horz" wrap="square" lIns="91440" tIns="45720" rIns="91440" bIns="45720" numCol="1" anchor="t" anchorCtr="0" compatLnSpc="1"/>
          <a:lstStyle/>
          <a:p>
            <a:pPr marL="609600" marR="0" lvl="0" indent="-6096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1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、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SQL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的数据定义语言：对基本表的创建、修改与删除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609600" marR="0" lvl="0" indent="-6096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2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、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SQL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的数据操纵语言：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0" marR="0" lvl="0" indent="72009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数据查询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：选择条件、排序输出、聚集运算以及分组处理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、多表连接、嵌套查询等。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0" marR="0" lvl="0" indent="72009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数据更新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：数据的插入、修改和删除。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4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、视图的概念及视图的定义、查询、更新以及行列子集视图。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609600" marR="0" lvl="0" indent="-609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1" name="Rectangle 2"/>
          <p:cNvSpPr>
            <a:spLocks noGrp="1"/>
          </p:cNvSpPr>
          <p:nvPr>
            <p:ph type="title"/>
          </p:nvPr>
        </p:nvSpPr>
        <p:spPr>
          <a:xfrm>
            <a:off x="914400" y="476250"/>
            <a:ext cx="8229600" cy="955675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3600" b="1" dirty="0"/>
              <a:t>基本表的定义</a:t>
            </a:r>
            <a:endParaRPr lang="zh-CN" altLang="en-US" sz="3600" b="1" dirty="0"/>
          </a:p>
        </p:txBody>
      </p:sp>
      <p:sp>
        <p:nvSpPr>
          <p:cNvPr id="15362" name="Rectangle 3"/>
          <p:cNvSpPr>
            <a:spLocks noGrp="1"/>
          </p:cNvSpPr>
          <p:nvPr>
            <p:ph idx="1"/>
          </p:nvPr>
        </p:nvSpPr>
        <p:spPr>
          <a:xfrm>
            <a:off x="611188" y="1628775"/>
            <a:ext cx="8137525" cy="3960813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buNone/>
            </a:pPr>
            <a:r>
              <a:rPr lang="zh-CN" altLang="en-US" sz="2300" b="1" dirty="0"/>
              <a:t>定义基本表</a:t>
            </a:r>
            <a:endParaRPr lang="zh-CN" altLang="en-US" sz="2300" b="1" dirty="0"/>
          </a:p>
          <a:p>
            <a:pPr algn="just" eaLnBrk="1" hangingPunct="1">
              <a:lnSpc>
                <a:spcPct val="120000"/>
              </a:lnSpc>
              <a:buNone/>
            </a:pPr>
            <a:r>
              <a:rPr lang="en-US" altLang="zh-CN" sz="2300" b="1" dirty="0">
                <a:solidFill>
                  <a:srgbClr val="FF0000"/>
                </a:solidFill>
              </a:rPr>
              <a:t>CREATE TABLE </a:t>
            </a:r>
            <a:r>
              <a:rPr lang="en-US" altLang="zh-CN" sz="2300" b="1" dirty="0"/>
              <a:t>&lt;</a:t>
            </a:r>
            <a:r>
              <a:rPr lang="zh-CN" altLang="en-US" sz="2300" b="1" dirty="0"/>
              <a:t>表名</a:t>
            </a:r>
            <a:r>
              <a:rPr lang="en-US" altLang="zh-CN" sz="2300" b="1" dirty="0"/>
              <a:t>&gt;</a:t>
            </a:r>
            <a:endParaRPr lang="en-US" altLang="zh-CN" sz="2300" b="1" dirty="0"/>
          </a:p>
          <a:p>
            <a:pPr lvl="1" algn="just"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      </a:t>
            </a:r>
            <a:r>
              <a:rPr lang="zh-CN" altLang="en-US" sz="2400" b="1" dirty="0"/>
              <a:t>（</a:t>
            </a:r>
            <a:r>
              <a:rPr lang="en-US" altLang="zh-CN" sz="2400" b="1" dirty="0"/>
              <a:t>&lt;</a:t>
            </a:r>
            <a:r>
              <a:rPr lang="zh-CN" altLang="en-US" sz="2400" b="1" dirty="0"/>
              <a:t>列名</a:t>
            </a:r>
            <a:r>
              <a:rPr lang="en-US" altLang="zh-CN" sz="2400" b="1" dirty="0"/>
              <a:t>&gt; &lt;</a:t>
            </a:r>
            <a:r>
              <a:rPr lang="zh-CN" altLang="en-US" sz="2400" b="1" dirty="0"/>
              <a:t>数据类型</a:t>
            </a:r>
            <a:r>
              <a:rPr lang="en-US" altLang="zh-CN" sz="2400" b="1" dirty="0"/>
              <a:t>&gt;[ &lt;</a:t>
            </a:r>
            <a:r>
              <a:rPr lang="zh-CN" altLang="en-US" sz="2400" b="1" dirty="0"/>
              <a:t>列级完整性约束条件</a:t>
            </a:r>
            <a:r>
              <a:rPr lang="en-US" altLang="zh-CN" sz="2400" b="1" dirty="0"/>
              <a:t>&gt; ]</a:t>
            </a:r>
            <a:endParaRPr lang="en-US" altLang="zh-CN" sz="2400" b="1" dirty="0"/>
          </a:p>
          <a:p>
            <a:pPr lvl="1" algn="just"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      [</a:t>
            </a:r>
            <a:r>
              <a:rPr lang="zh-CN" altLang="en-US" sz="2400" b="1" dirty="0"/>
              <a:t>，</a:t>
            </a:r>
            <a:r>
              <a:rPr lang="en-US" altLang="zh-CN" sz="2400" b="1" dirty="0"/>
              <a:t>&lt;</a:t>
            </a:r>
            <a:r>
              <a:rPr lang="zh-CN" altLang="en-US" sz="2400" b="1" dirty="0"/>
              <a:t>列名</a:t>
            </a:r>
            <a:r>
              <a:rPr lang="en-US" altLang="zh-CN" sz="2400" b="1" dirty="0"/>
              <a:t>&gt; &lt;</a:t>
            </a:r>
            <a:r>
              <a:rPr lang="zh-CN" altLang="en-US" sz="2400" b="1" dirty="0"/>
              <a:t>数据类型</a:t>
            </a:r>
            <a:r>
              <a:rPr lang="en-US" altLang="zh-CN" sz="2400" b="1" dirty="0"/>
              <a:t>&gt;[ &lt;</a:t>
            </a:r>
            <a:r>
              <a:rPr lang="zh-CN" altLang="en-US" sz="2400" b="1" dirty="0"/>
              <a:t>列级完整性约束条件</a:t>
            </a:r>
            <a:r>
              <a:rPr lang="en-US" altLang="zh-CN" sz="2400" b="1" dirty="0"/>
              <a:t>&gt;] ] </a:t>
            </a:r>
            <a:r>
              <a:rPr lang="en-US" altLang="zh-CN" sz="2400" b="1" dirty="0">
                <a:latin typeface="Courier New" panose="02070309020205020404" pitchFamily="49" charset="0"/>
              </a:rPr>
              <a:t>…</a:t>
            </a:r>
            <a:endParaRPr lang="en-US" altLang="zh-CN" sz="2400" b="1" dirty="0"/>
          </a:p>
          <a:p>
            <a:pPr lvl="1" algn="just"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      [</a:t>
            </a:r>
            <a:r>
              <a:rPr lang="zh-CN" altLang="en-US" sz="2400" b="1" dirty="0"/>
              <a:t>，</a:t>
            </a:r>
            <a:r>
              <a:rPr lang="en-US" altLang="zh-CN" sz="2400" b="1" dirty="0"/>
              <a:t>&lt;</a:t>
            </a:r>
            <a:r>
              <a:rPr lang="zh-CN" altLang="en-US" sz="2400" b="1" dirty="0"/>
              <a:t>表级完整性约束条件</a:t>
            </a:r>
            <a:r>
              <a:rPr lang="en-US" altLang="zh-CN" sz="2400" b="1" dirty="0"/>
              <a:t>&gt; ] </a:t>
            </a:r>
            <a:r>
              <a:rPr lang="zh-CN" altLang="en-US" sz="2400" b="1" dirty="0"/>
              <a:t>）；</a:t>
            </a:r>
            <a:endParaRPr lang="en-US" altLang="zh-CN" sz="2400" b="1" dirty="0"/>
          </a:p>
          <a:p>
            <a:pPr lvl="1" algn="just" eaLnBrk="1" hangingPunct="1">
              <a:lnSpc>
                <a:spcPct val="120000"/>
              </a:lnSpc>
              <a:buNone/>
            </a:pPr>
            <a:endParaRPr lang="zh-CN" altLang="en-US" sz="2400" b="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09" name="Rectangle 2"/>
          <p:cNvSpPr>
            <a:spLocks noGrp="1"/>
          </p:cNvSpPr>
          <p:nvPr>
            <p:ph type="title"/>
          </p:nvPr>
        </p:nvSpPr>
        <p:spPr>
          <a:xfrm>
            <a:off x="914400" y="476250"/>
            <a:ext cx="8229600" cy="955675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3600" b="1" dirty="0"/>
              <a:t>基本</a:t>
            </a:r>
            <a:r>
              <a:rPr lang="zh-CN" altLang="en-US" sz="3600" b="1" dirty="0">
                <a:solidFill>
                  <a:srgbClr val="FF0000"/>
                </a:solidFill>
              </a:rPr>
              <a:t>表修改</a:t>
            </a:r>
            <a:endParaRPr lang="zh-CN" altLang="en-US" sz="3600" b="1" dirty="0">
              <a:solidFill>
                <a:srgbClr val="FF0000"/>
              </a:solidFill>
            </a:endParaRPr>
          </a:p>
        </p:txBody>
      </p:sp>
      <p:sp>
        <p:nvSpPr>
          <p:cNvPr id="17410" name="Rectangle 3"/>
          <p:cNvSpPr>
            <a:spLocks noGrp="1"/>
          </p:cNvSpPr>
          <p:nvPr>
            <p:ph idx="1"/>
          </p:nvPr>
        </p:nvSpPr>
        <p:spPr>
          <a:xfrm>
            <a:off x="611188" y="1628775"/>
            <a:ext cx="8137525" cy="3960813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buNone/>
            </a:pPr>
            <a:endParaRPr lang="en-US" altLang="zh-CN" sz="2400" b="1" dirty="0"/>
          </a:p>
          <a:p>
            <a:pPr algn="just" eaLnBrk="1" hangingPunct="1">
              <a:lnSpc>
                <a:spcPct val="120000"/>
              </a:lnSpc>
              <a:buNone/>
            </a:pPr>
            <a:r>
              <a:rPr lang="zh-CN" altLang="en-US" sz="2400" b="1" dirty="0"/>
              <a:t>格式：</a:t>
            </a:r>
            <a:endParaRPr lang="en-US" altLang="zh-CN" sz="2400" b="1" dirty="0"/>
          </a:p>
          <a:p>
            <a:pPr algn="just" eaLnBrk="1" hangingPunct="1">
              <a:lnSpc>
                <a:spcPct val="120000"/>
              </a:lnSpc>
              <a:buNone/>
            </a:pPr>
            <a:r>
              <a:rPr lang="en-US" altLang="zh-CN" sz="2400" b="1" dirty="0">
                <a:solidFill>
                  <a:srgbClr val="FF0000"/>
                </a:solidFill>
              </a:rPr>
              <a:t>ALTER TABLE </a:t>
            </a:r>
            <a:r>
              <a:rPr lang="en-US" altLang="zh-CN" sz="2400" b="1" dirty="0"/>
              <a:t>&lt;</a:t>
            </a:r>
            <a:r>
              <a:rPr lang="zh-CN" altLang="en-US" sz="2400" b="1" dirty="0"/>
              <a:t>表名</a:t>
            </a:r>
            <a:r>
              <a:rPr lang="en-US" altLang="zh-CN" sz="2400" b="1" dirty="0"/>
              <a:t>&gt;</a:t>
            </a:r>
            <a:endParaRPr lang="en-US" altLang="zh-CN" sz="2400" b="1" dirty="0"/>
          </a:p>
          <a:p>
            <a:pPr algn="just"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[ ADD [COLUMN]&lt;</a:t>
            </a:r>
            <a:r>
              <a:rPr lang="zh-CN" altLang="en-US" sz="2400" b="1" dirty="0"/>
              <a:t>新列名</a:t>
            </a:r>
            <a:r>
              <a:rPr lang="en-US" altLang="zh-CN" sz="2400" b="1" dirty="0"/>
              <a:t>&gt; &lt;</a:t>
            </a:r>
            <a:r>
              <a:rPr lang="zh-CN" altLang="en-US" sz="2400" b="1" dirty="0"/>
              <a:t>数据类型</a:t>
            </a:r>
            <a:r>
              <a:rPr lang="en-US" altLang="zh-CN" sz="2400" b="1" dirty="0"/>
              <a:t>&gt; [ </a:t>
            </a:r>
            <a:r>
              <a:rPr lang="zh-CN" altLang="en-US" sz="2400" b="1" dirty="0"/>
              <a:t>完整性约束 </a:t>
            </a:r>
            <a:r>
              <a:rPr lang="en-US" altLang="zh-CN" sz="2400" b="1" dirty="0"/>
              <a:t>] ]</a:t>
            </a:r>
            <a:endParaRPr lang="en-US" altLang="zh-CN" sz="2400" b="1" dirty="0"/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[ DROP </a:t>
            </a:r>
            <a:r>
              <a:rPr lang="en-US" altLang="zh-CN" sz="2200" b="1" dirty="0"/>
              <a:t>[COLUMN]&lt;</a:t>
            </a:r>
            <a:r>
              <a:rPr lang="zh-CN" altLang="en-US" sz="2200" b="1" dirty="0"/>
              <a:t>列名</a:t>
            </a:r>
            <a:r>
              <a:rPr lang="en-US" altLang="zh-CN" sz="2200" b="1" dirty="0"/>
              <a:t>&gt; &lt;</a:t>
            </a:r>
            <a:r>
              <a:rPr lang="zh-CN" altLang="en-US" sz="2200" b="1" dirty="0"/>
              <a:t>完整性约束名</a:t>
            </a:r>
            <a:r>
              <a:rPr lang="en-US" altLang="zh-CN" sz="2200" b="1" dirty="0"/>
              <a:t>&gt;[CASCADE|RESTRICT]</a:t>
            </a:r>
            <a:endParaRPr lang="en-US" altLang="zh-CN" sz="2200" b="1" dirty="0"/>
          </a:p>
          <a:p>
            <a:pPr algn="just" eaLnBrk="1" hangingPunct="1">
              <a:lnSpc>
                <a:spcPct val="120000"/>
              </a:lnSpc>
              <a:buNone/>
            </a:pPr>
            <a:r>
              <a:rPr lang="en-US" altLang="zh-CN" sz="2400" b="1" dirty="0"/>
              <a:t>[ ALTER COLUMN&lt;</a:t>
            </a:r>
            <a:r>
              <a:rPr lang="zh-CN" altLang="en-US" sz="2400" b="1" dirty="0"/>
              <a:t>列名</a:t>
            </a:r>
            <a:r>
              <a:rPr lang="en-US" altLang="zh-CN" sz="2400" b="1" dirty="0"/>
              <a:t>&gt; &lt;</a:t>
            </a:r>
            <a:r>
              <a:rPr lang="zh-CN" altLang="en-US" sz="2400" b="1" dirty="0"/>
              <a:t>数据类型</a:t>
            </a:r>
            <a:r>
              <a:rPr lang="en-US" altLang="zh-CN" sz="2400" b="1" dirty="0"/>
              <a:t>&gt; ]</a:t>
            </a:r>
            <a:r>
              <a:rPr lang="zh-CN" altLang="en-US" sz="2400" b="1" dirty="0"/>
              <a:t>；</a:t>
            </a:r>
            <a:endParaRPr lang="en-US" altLang="zh-CN" b="1" dirty="0"/>
          </a:p>
          <a:p>
            <a:pPr lvl="1" algn="just" eaLnBrk="1" hangingPunct="1">
              <a:lnSpc>
                <a:spcPct val="120000"/>
              </a:lnSpc>
              <a:buNone/>
            </a:pPr>
            <a:endParaRPr lang="zh-CN" altLang="en-US" sz="2400" b="1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7" name="Rectangle 2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027113"/>
          </a:xfrm>
          <a:ln/>
        </p:spPr>
        <p:txBody>
          <a:bodyPr vert="horz" wrap="square" lIns="91440" tIns="45720" rIns="91440" bIns="45720" anchor="ctr" anchorCtr="0"/>
          <a:p>
            <a:pPr algn="ctr" eaLnBrk="1" hangingPunct="1"/>
            <a:r>
              <a:rPr lang="en-US" altLang="zh-CN" sz="4000" b="1" dirty="0"/>
              <a:t>2</a:t>
            </a:r>
            <a:r>
              <a:rPr lang="zh-CN" altLang="en-US" sz="4000" b="1" dirty="0"/>
              <a:t>、数据查询</a:t>
            </a:r>
            <a:endParaRPr lang="zh-CN" altLang="en-US" sz="4000" b="1" dirty="0"/>
          </a:p>
        </p:txBody>
      </p:sp>
      <p:sp>
        <p:nvSpPr>
          <p:cNvPr id="19458" name="Rectangle 3"/>
          <p:cNvSpPr>
            <a:spLocks noGrp="1"/>
          </p:cNvSpPr>
          <p:nvPr>
            <p:ph idx="1"/>
          </p:nvPr>
        </p:nvSpPr>
        <p:spPr>
          <a:xfrm>
            <a:off x="107950" y="1828800"/>
            <a:ext cx="8856663" cy="41148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30000"/>
              </a:lnSpc>
              <a:buNone/>
            </a:pPr>
            <a:r>
              <a:rPr lang="en-US" altLang="zh-CN" sz="2400" b="1" dirty="0">
                <a:solidFill>
                  <a:srgbClr val="FF0000"/>
                </a:solidFill>
              </a:rPr>
              <a:t> SELECT </a:t>
            </a:r>
            <a:r>
              <a:rPr lang="en-US" altLang="zh-CN" sz="2400" b="1" dirty="0"/>
              <a:t>[ALL|DISTINCT</a:t>
            </a:r>
            <a:r>
              <a:rPr lang="en-US" altLang="zh-CN" sz="2200" b="1" dirty="0"/>
              <a:t>]  &lt;</a:t>
            </a:r>
            <a:r>
              <a:rPr lang="zh-CN" altLang="en-US" sz="2200" b="1" dirty="0"/>
              <a:t>目标列表达式</a:t>
            </a:r>
            <a:r>
              <a:rPr lang="en-US" altLang="zh-CN" sz="2200" b="1" dirty="0"/>
              <a:t>&gt; [ </a:t>
            </a:r>
            <a:r>
              <a:rPr lang="zh-CN" altLang="en-US" sz="2200" b="1" dirty="0"/>
              <a:t>，</a:t>
            </a:r>
            <a:r>
              <a:rPr lang="en-US" altLang="zh-CN" sz="2200" b="1" dirty="0"/>
              <a:t>&lt;</a:t>
            </a:r>
            <a:r>
              <a:rPr lang="zh-CN" altLang="en-US" sz="2200" b="1" dirty="0"/>
              <a:t>目标列表达式</a:t>
            </a:r>
            <a:r>
              <a:rPr lang="en-US" altLang="zh-CN" sz="2200" b="1" dirty="0"/>
              <a:t>&gt; …</a:t>
            </a:r>
            <a:endParaRPr lang="en-US" altLang="zh-CN" sz="2200" b="1" dirty="0"/>
          </a:p>
          <a:p>
            <a:pPr eaLnBrk="1" hangingPunct="1">
              <a:lnSpc>
                <a:spcPct val="130000"/>
              </a:lnSpc>
              <a:buNone/>
            </a:pPr>
            <a:r>
              <a:rPr lang="en-US" altLang="zh-CN" sz="2400" b="1" dirty="0">
                <a:solidFill>
                  <a:srgbClr val="FF0000"/>
                </a:solidFill>
              </a:rPr>
              <a:t> FROM</a:t>
            </a:r>
            <a:r>
              <a:rPr lang="en-US" altLang="zh-CN" sz="2000" b="1" dirty="0"/>
              <a:t>&lt;</a:t>
            </a:r>
            <a:r>
              <a:rPr lang="zh-CN" altLang="en-US" sz="2000" b="1" dirty="0"/>
              <a:t>表名或视图名</a:t>
            </a:r>
            <a:r>
              <a:rPr lang="en-US" altLang="zh-CN" sz="2000" b="1" dirty="0"/>
              <a:t>&gt; [ ,&lt;</a:t>
            </a:r>
            <a:r>
              <a:rPr lang="zh-CN" altLang="en-US" sz="2000" b="1" dirty="0"/>
              <a:t>表名或视图名</a:t>
            </a:r>
            <a:r>
              <a:rPr lang="en-US" altLang="zh-CN" sz="2000" b="1" dirty="0"/>
              <a:t>&gt;…]|(&lt;SELECT</a:t>
            </a:r>
            <a:r>
              <a:rPr lang="zh-CN" altLang="en-US" sz="2000" b="1" dirty="0"/>
              <a:t>语句</a:t>
            </a:r>
            <a:r>
              <a:rPr lang="en-US" altLang="zh-CN" sz="2000" b="1" dirty="0"/>
              <a:t>&gt;[AS]&lt;</a:t>
            </a:r>
            <a:r>
              <a:rPr lang="zh-CN" altLang="en-US" sz="2000" b="1" dirty="0"/>
              <a:t>别名</a:t>
            </a:r>
            <a:r>
              <a:rPr lang="en-US" altLang="zh-CN" sz="2000" b="1" dirty="0"/>
              <a:t>&gt;)</a:t>
            </a:r>
            <a:endParaRPr lang="en-US" altLang="zh-CN" sz="2000" b="1" dirty="0"/>
          </a:p>
          <a:p>
            <a:pPr eaLnBrk="1" hangingPunct="1">
              <a:lnSpc>
                <a:spcPct val="130000"/>
              </a:lnSpc>
              <a:buNone/>
            </a:pPr>
            <a:r>
              <a:rPr lang="en-US" altLang="zh-CN" sz="2400" b="1" dirty="0"/>
              <a:t> [</a:t>
            </a:r>
            <a:r>
              <a:rPr lang="en-US" altLang="zh-CN" sz="2400" b="1" dirty="0">
                <a:solidFill>
                  <a:srgbClr val="FF0000"/>
                </a:solidFill>
              </a:rPr>
              <a:t>WHERE</a:t>
            </a:r>
            <a:r>
              <a:rPr lang="en-US" altLang="zh-CN" sz="2400" b="1" dirty="0"/>
              <a:t> &lt;</a:t>
            </a:r>
            <a:r>
              <a:rPr lang="zh-CN" altLang="en-US" sz="2400" b="1" dirty="0"/>
              <a:t>条件表达式</a:t>
            </a:r>
            <a:r>
              <a:rPr lang="en-US" altLang="zh-CN" sz="2400" b="1" dirty="0"/>
              <a:t>&gt;]</a:t>
            </a:r>
            <a:endParaRPr lang="en-US" altLang="zh-CN" sz="2400" b="1" dirty="0"/>
          </a:p>
          <a:p>
            <a:pPr eaLnBrk="1" hangingPunct="1">
              <a:lnSpc>
                <a:spcPct val="130000"/>
              </a:lnSpc>
              <a:buNone/>
            </a:pPr>
            <a:r>
              <a:rPr lang="en-US" altLang="zh-CN" sz="2400" b="1" dirty="0"/>
              <a:t> [</a:t>
            </a:r>
            <a:r>
              <a:rPr lang="en-US" altLang="zh-CN" sz="2400" b="1" dirty="0">
                <a:solidFill>
                  <a:srgbClr val="FF0000"/>
                </a:solidFill>
              </a:rPr>
              <a:t>GROUP BY </a:t>
            </a:r>
            <a:r>
              <a:rPr lang="en-US" altLang="zh-CN" sz="2400" b="1" dirty="0"/>
              <a:t>&lt;</a:t>
            </a:r>
            <a:r>
              <a:rPr lang="zh-CN" altLang="en-US" sz="2400" b="1" dirty="0"/>
              <a:t>列名</a:t>
            </a:r>
            <a:r>
              <a:rPr lang="en-US" altLang="zh-CN" sz="2400" b="1" dirty="0"/>
              <a:t>1&gt;   [</a:t>
            </a:r>
            <a:r>
              <a:rPr lang="en-US" altLang="zh-CN" sz="2400" b="1" dirty="0">
                <a:solidFill>
                  <a:srgbClr val="FF0000"/>
                </a:solidFill>
              </a:rPr>
              <a:t>HAVING</a:t>
            </a:r>
            <a:r>
              <a:rPr lang="en-US" altLang="zh-CN" sz="2400" b="1" dirty="0">
                <a:solidFill>
                  <a:srgbClr val="FF3399"/>
                </a:solidFill>
              </a:rPr>
              <a:t>    </a:t>
            </a:r>
            <a:r>
              <a:rPr lang="en-US" altLang="zh-CN" sz="2400" b="1" dirty="0"/>
              <a:t> &lt;</a:t>
            </a:r>
            <a:r>
              <a:rPr lang="zh-CN" altLang="en-US" sz="2400" b="1" dirty="0"/>
              <a:t>条件表达式</a:t>
            </a:r>
            <a:r>
              <a:rPr lang="en-US" altLang="zh-CN" sz="2400" b="1" dirty="0"/>
              <a:t>&gt;]]</a:t>
            </a:r>
            <a:endParaRPr lang="en-US" altLang="zh-CN" sz="2400" b="1" dirty="0"/>
          </a:p>
          <a:p>
            <a:pPr eaLnBrk="1" hangingPunct="1">
              <a:lnSpc>
                <a:spcPct val="130000"/>
              </a:lnSpc>
              <a:buNone/>
            </a:pPr>
            <a:r>
              <a:rPr lang="en-US" altLang="zh-CN" sz="2400" b="1" dirty="0"/>
              <a:t> [</a:t>
            </a:r>
            <a:r>
              <a:rPr lang="en-US" altLang="zh-CN" sz="2400" b="1" dirty="0">
                <a:solidFill>
                  <a:srgbClr val="FF0000"/>
                </a:solidFill>
              </a:rPr>
              <a:t>ORDER BY </a:t>
            </a:r>
            <a:r>
              <a:rPr lang="en-US" altLang="zh-CN" sz="2400" b="1" dirty="0"/>
              <a:t>&lt;</a:t>
            </a:r>
            <a:r>
              <a:rPr lang="zh-CN" altLang="en-US" sz="2400" b="1" dirty="0"/>
              <a:t>列名</a:t>
            </a:r>
            <a:r>
              <a:rPr lang="en-US" altLang="zh-CN" sz="2400" b="1" dirty="0"/>
              <a:t>2&gt; [ASC|DESC]</a:t>
            </a:r>
            <a:r>
              <a:rPr lang="en-US" altLang="zh-CN" sz="2000" b="1" dirty="0"/>
              <a:t> </a:t>
            </a:r>
            <a:endParaRPr lang="en-US" altLang="zh-CN" sz="2000" b="1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1" name="Rectangle 2"/>
          <p:cNvSpPr>
            <a:spLocks noGrp="1"/>
          </p:cNvSpPr>
          <p:nvPr>
            <p:ph type="title"/>
          </p:nvPr>
        </p:nvSpPr>
        <p:spPr>
          <a:xfrm>
            <a:off x="1042988" y="476250"/>
            <a:ext cx="2601912" cy="739775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3200" b="1" dirty="0"/>
              <a:t>聚集函数</a:t>
            </a:r>
            <a:r>
              <a:rPr lang="zh-CN" altLang="en-US" sz="4000" b="1" dirty="0"/>
              <a:t> </a:t>
            </a:r>
            <a:endParaRPr lang="zh-CN" altLang="en-US" sz="4000" b="1" dirty="0"/>
          </a:p>
        </p:txBody>
      </p:sp>
      <p:sp>
        <p:nvSpPr>
          <p:cNvPr id="20482" name="Rectangle 3"/>
          <p:cNvSpPr>
            <a:spLocks noGrp="1"/>
          </p:cNvSpPr>
          <p:nvPr>
            <p:ph idx="1"/>
          </p:nvPr>
        </p:nvSpPr>
        <p:spPr>
          <a:xfrm>
            <a:off x="539750" y="1557338"/>
            <a:ext cx="8229600" cy="489585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buFont typeface="Wingdings" panose="05000000000000000000" pitchFamily="2" charset="2"/>
              <a:buChar char="p"/>
            </a:pPr>
            <a:r>
              <a:rPr lang="zh-CN" altLang="en-US" sz="2400" b="1" dirty="0"/>
              <a:t>   计数（统计个数）</a:t>
            </a:r>
            <a:endParaRPr lang="zh-CN" altLang="en-US" sz="2400" b="1" dirty="0"/>
          </a:p>
          <a:p>
            <a:pPr lvl="2" algn="just" eaLnBrk="1" hangingPunct="1">
              <a:lnSpc>
                <a:spcPct val="110000"/>
              </a:lnSpc>
              <a:buNone/>
            </a:pPr>
            <a:r>
              <a:rPr lang="en-US" altLang="zh-CN" b="1" dirty="0"/>
              <a:t>COUNT</a:t>
            </a:r>
            <a:r>
              <a:rPr lang="zh-CN" altLang="en-US" b="1" dirty="0"/>
              <a:t>（</a:t>
            </a:r>
            <a:r>
              <a:rPr lang="en-US" altLang="zh-CN" b="1" dirty="0"/>
              <a:t>[DISTINCT|</a:t>
            </a:r>
            <a:r>
              <a:rPr lang="en-US" altLang="zh-CN" b="1" u="sng" dirty="0"/>
              <a:t>ALL</a:t>
            </a:r>
            <a:r>
              <a:rPr lang="en-US" altLang="zh-CN" b="1" dirty="0"/>
              <a:t>] *</a:t>
            </a:r>
            <a:r>
              <a:rPr lang="zh-CN" altLang="en-US" b="1" dirty="0"/>
              <a:t>）</a:t>
            </a:r>
            <a:endParaRPr lang="zh-CN" altLang="en-US" b="1" dirty="0"/>
          </a:p>
          <a:p>
            <a:pPr lvl="2" algn="just" eaLnBrk="1" hangingPunct="1">
              <a:lnSpc>
                <a:spcPct val="110000"/>
              </a:lnSpc>
              <a:buNone/>
            </a:pPr>
            <a:r>
              <a:rPr lang="en-US" altLang="zh-CN" b="1" dirty="0"/>
              <a:t>COUNT</a:t>
            </a:r>
            <a:r>
              <a:rPr lang="zh-CN" altLang="en-US" b="1" dirty="0"/>
              <a:t>（</a:t>
            </a:r>
            <a:r>
              <a:rPr lang="en-US" altLang="zh-CN" b="1" dirty="0"/>
              <a:t>[DISTINCT|</a:t>
            </a:r>
            <a:r>
              <a:rPr lang="en-US" altLang="zh-CN" b="1" u="sng" dirty="0"/>
              <a:t>ALL</a:t>
            </a:r>
            <a:r>
              <a:rPr lang="en-US" altLang="zh-CN" b="1" dirty="0"/>
              <a:t>] &lt;</a:t>
            </a:r>
            <a:r>
              <a:rPr lang="zh-CN" altLang="en-US" b="1" dirty="0"/>
              <a:t>列名</a:t>
            </a:r>
            <a:r>
              <a:rPr lang="en-US" altLang="zh-CN" b="1" dirty="0"/>
              <a:t>&gt;</a:t>
            </a:r>
            <a:r>
              <a:rPr lang="zh-CN" altLang="en-US" b="1" dirty="0"/>
              <a:t>）</a:t>
            </a:r>
            <a:endParaRPr lang="zh-CN" altLang="en-US" b="1" dirty="0"/>
          </a:p>
          <a:p>
            <a:pPr lvl="1" algn="just" eaLnBrk="1" hangingPunct="1">
              <a:lnSpc>
                <a:spcPct val="110000"/>
              </a:lnSpc>
            </a:pPr>
            <a:r>
              <a:rPr lang="zh-CN" altLang="en-US" sz="2400" b="1" dirty="0"/>
              <a:t>计算总和</a:t>
            </a:r>
            <a:endParaRPr lang="zh-CN" altLang="en-US" sz="2400" b="1" dirty="0"/>
          </a:p>
          <a:p>
            <a:pPr lvl="2" algn="just" eaLnBrk="1" hangingPunct="1">
              <a:lnSpc>
                <a:spcPct val="110000"/>
              </a:lnSpc>
              <a:buNone/>
            </a:pPr>
            <a:r>
              <a:rPr lang="en-US" altLang="zh-CN" b="1" dirty="0"/>
              <a:t>SUM</a:t>
            </a:r>
            <a:r>
              <a:rPr lang="zh-CN" altLang="en-US" b="1" dirty="0"/>
              <a:t>（</a:t>
            </a:r>
            <a:r>
              <a:rPr lang="en-US" altLang="zh-CN" b="1" dirty="0"/>
              <a:t>[DISTINCT|</a:t>
            </a:r>
            <a:r>
              <a:rPr lang="en-US" altLang="zh-CN" b="1" u="sng" dirty="0"/>
              <a:t>ALL</a:t>
            </a:r>
            <a:r>
              <a:rPr lang="en-US" altLang="zh-CN" b="1" dirty="0"/>
              <a:t>] &lt;</a:t>
            </a:r>
            <a:r>
              <a:rPr lang="zh-CN" altLang="en-US" b="1" dirty="0"/>
              <a:t>列名</a:t>
            </a:r>
            <a:r>
              <a:rPr lang="en-US" altLang="zh-CN" b="1" dirty="0"/>
              <a:t>&gt;</a:t>
            </a:r>
            <a:r>
              <a:rPr lang="zh-CN" altLang="en-US" b="1" dirty="0"/>
              <a:t>）	</a:t>
            </a:r>
            <a:endParaRPr lang="zh-CN" altLang="en-US" b="1" dirty="0"/>
          </a:p>
          <a:p>
            <a:pPr lvl="1" algn="just" eaLnBrk="1" hangingPunct="1">
              <a:lnSpc>
                <a:spcPct val="110000"/>
              </a:lnSpc>
            </a:pPr>
            <a:r>
              <a:rPr lang="zh-CN" altLang="en-US" sz="2400" b="1" dirty="0"/>
              <a:t> 计算平均值</a:t>
            </a:r>
            <a:endParaRPr lang="zh-CN" altLang="en-US" sz="2400" b="1" dirty="0"/>
          </a:p>
          <a:p>
            <a:pPr lvl="2" algn="just" eaLnBrk="1" hangingPunct="1">
              <a:lnSpc>
                <a:spcPct val="110000"/>
              </a:lnSpc>
              <a:buNone/>
            </a:pPr>
            <a:r>
              <a:rPr lang="en-US" altLang="zh-CN" b="1" dirty="0"/>
              <a:t>AVG</a:t>
            </a:r>
            <a:r>
              <a:rPr lang="zh-CN" altLang="en-US" b="1" dirty="0"/>
              <a:t>（</a:t>
            </a:r>
            <a:r>
              <a:rPr lang="en-US" altLang="zh-CN" b="1" dirty="0"/>
              <a:t>[DISTINCT|</a:t>
            </a:r>
            <a:r>
              <a:rPr lang="en-US" altLang="zh-CN" b="1" u="sng" dirty="0"/>
              <a:t>ALL</a:t>
            </a:r>
            <a:r>
              <a:rPr lang="en-US" altLang="zh-CN" b="1" dirty="0"/>
              <a:t>] &lt;</a:t>
            </a:r>
            <a:r>
              <a:rPr lang="zh-CN" altLang="en-US" b="1" dirty="0"/>
              <a:t>列名</a:t>
            </a:r>
            <a:r>
              <a:rPr lang="en-US" altLang="zh-CN" b="1" dirty="0"/>
              <a:t>&gt;</a:t>
            </a:r>
            <a:r>
              <a:rPr lang="zh-CN" altLang="en-US" b="1" dirty="0"/>
              <a:t>）</a:t>
            </a:r>
            <a:endParaRPr lang="zh-CN" altLang="en-US" b="1" dirty="0"/>
          </a:p>
          <a:p>
            <a:pPr lvl="1" algn="just" eaLnBrk="1" hangingPunct="1">
              <a:lnSpc>
                <a:spcPct val="110000"/>
              </a:lnSpc>
            </a:pPr>
            <a:r>
              <a:rPr lang="zh-CN" altLang="en-US" sz="2400" b="1" dirty="0"/>
              <a:t>最大最小值</a:t>
            </a:r>
            <a:endParaRPr lang="zh-CN" altLang="en-US" sz="2400" b="1" dirty="0"/>
          </a:p>
          <a:p>
            <a:pPr lvl="1" algn="just" eaLnBrk="1" hangingPunct="1">
              <a:lnSpc>
                <a:spcPct val="110000"/>
              </a:lnSpc>
              <a:buNone/>
            </a:pPr>
            <a:r>
              <a:rPr lang="zh-CN" altLang="en-US" sz="2400" b="1" dirty="0"/>
              <a:t> 	 </a:t>
            </a:r>
            <a:r>
              <a:rPr lang="en-US" altLang="zh-CN" sz="2400" b="1" dirty="0"/>
              <a:t>MAX</a:t>
            </a:r>
            <a:r>
              <a:rPr lang="zh-CN" altLang="en-US" sz="2400" b="1" dirty="0"/>
              <a:t>（</a:t>
            </a:r>
            <a:r>
              <a:rPr lang="en-US" altLang="zh-CN" sz="2400" b="1" dirty="0"/>
              <a:t>[DISTINCT|</a:t>
            </a:r>
            <a:r>
              <a:rPr lang="en-US" altLang="zh-CN" sz="2400" b="1" u="sng" dirty="0"/>
              <a:t>ALL</a:t>
            </a:r>
            <a:r>
              <a:rPr lang="en-US" altLang="zh-CN" sz="2400" b="1" dirty="0"/>
              <a:t>] &lt;</a:t>
            </a:r>
            <a:r>
              <a:rPr lang="zh-CN" altLang="en-US" sz="2400" b="1" dirty="0"/>
              <a:t>列名</a:t>
            </a:r>
            <a:r>
              <a:rPr lang="en-US" altLang="zh-CN" sz="2400" b="1" dirty="0"/>
              <a:t>&gt;</a:t>
            </a:r>
            <a:r>
              <a:rPr lang="zh-CN" altLang="en-US" sz="2400" b="1" dirty="0"/>
              <a:t>）</a:t>
            </a:r>
            <a:endParaRPr lang="zh-CN" altLang="en-US" sz="2400" b="1" dirty="0"/>
          </a:p>
          <a:p>
            <a:pPr lvl="1" algn="just" eaLnBrk="1" hangingPunct="1">
              <a:lnSpc>
                <a:spcPct val="110000"/>
              </a:lnSpc>
              <a:buNone/>
            </a:pPr>
            <a:r>
              <a:rPr lang="zh-CN" altLang="en-US" sz="2400" b="1" dirty="0"/>
              <a:t>	 </a:t>
            </a:r>
            <a:r>
              <a:rPr lang="en-US" altLang="zh-CN" sz="2400" b="1" dirty="0"/>
              <a:t>MIN</a:t>
            </a:r>
            <a:r>
              <a:rPr lang="zh-CN" altLang="en-US" sz="2400" b="1" dirty="0"/>
              <a:t>（</a:t>
            </a:r>
            <a:r>
              <a:rPr lang="en-US" altLang="zh-CN" sz="2400" b="1" dirty="0"/>
              <a:t>[DISTINCT|</a:t>
            </a:r>
            <a:r>
              <a:rPr lang="en-US" altLang="zh-CN" sz="2400" b="1" u="sng" dirty="0"/>
              <a:t>ALL</a:t>
            </a:r>
            <a:r>
              <a:rPr lang="en-US" altLang="zh-CN" sz="2400" b="1" dirty="0"/>
              <a:t>] &lt;</a:t>
            </a:r>
            <a:r>
              <a:rPr lang="zh-CN" altLang="en-US" sz="2400" b="1" dirty="0"/>
              <a:t>列名</a:t>
            </a:r>
            <a:r>
              <a:rPr lang="en-US" altLang="zh-CN" sz="2400" b="1" dirty="0"/>
              <a:t>&gt;</a:t>
            </a:r>
            <a:r>
              <a:rPr lang="zh-CN" altLang="en-US" sz="2400" b="1" dirty="0"/>
              <a:t>）</a:t>
            </a:r>
            <a:endParaRPr lang="zh-CN" altLang="en-US" sz="2400" b="1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29" name="Rectangle 2"/>
          <p:cNvSpPr>
            <a:spLocks noGrp="1"/>
          </p:cNvSpPr>
          <p:nvPr>
            <p:ph type="title"/>
          </p:nvPr>
        </p:nvSpPr>
        <p:spPr>
          <a:xfrm>
            <a:off x="900113" y="1196975"/>
            <a:ext cx="4186237" cy="811213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3600" b="1" dirty="0"/>
              <a:t>复合条件连接</a:t>
            </a:r>
            <a:endParaRPr lang="zh-CN" altLang="en-US" sz="3600" b="1" dirty="0"/>
          </a:p>
        </p:txBody>
      </p:sp>
      <p:sp>
        <p:nvSpPr>
          <p:cNvPr id="22530" name="Rectangle 3"/>
          <p:cNvSpPr>
            <a:spLocks noGrp="1"/>
          </p:cNvSpPr>
          <p:nvPr>
            <p:ph idx="1"/>
          </p:nvPr>
        </p:nvSpPr>
        <p:spPr>
          <a:xfrm>
            <a:off x="762000" y="1905000"/>
            <a:ext cx="8153400" cy="3395663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30000"/>
              </a:lnSpc>
              <a:buNone/>
            </a:pPr>
            <a:endParaRPr lang="zh-CN" altLang="en-US" sz="2300" b="1" dirty="0"/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300" b="1" dirty="0"/>
              <a:t>[</a:t>
            </a:r>
            <a:r>
              <a:rPr lang="zh-CN" altLang="en-US" sz="2300" b="1" dirty="0"/>
              <a:t>例</a:t>
            </a:r>
            <a:r>
              <a:rPr lang="en-US" altLang="zh-CN" sz="2300" b="1" dirty="0"/>
              <a:t>]</a:t>
            </a:r>
            <a:r>
              <a:rPr lang="zh-CN" altLang="en-US" sz="2300" b="1" dirty="0"/>
              <a:t>查询选修</a:t>
            </a:r>
            <a:r>
              <a:rPr lang="en-US" altLang="zh-CN" sz="2300" b="1" dirty="0"/>
              <a:t>2</a:t>
            </a:r>
            <a:r>
              <a:rPr lang="zh-CN" altLang="en-US" sz="2300" b="1" dirty="0"/>
              <a:t>号课程学生学号和姓名		</a:t>
            </a:r>
            <a:endParaRPr lang="zh-CN" altLang="en-US" sz="2300" b="1" dirty="0"/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sz="2300" b="1" dirty="0"/>
              <a:t>		</a:t>
            </a:r>
            <a:r>
              <a:rPr lang="en-US" altLang="zh-CN" sz="2300" b="1" dirty="0"/>
              <a:t>SELECT Student.Sno, Sname</a:t>
            </a:r>
            <a:endParaRPr lang="en-US" altLang="zh-CN" sz="2300" b="1" dirty="0"/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300" b="1" dirty="0"/>
              <a:t>		FROM    Student, SC</a:t>
            </a:r>
            <a:endParaRPr lang="en-US" altLang="zh-CN" sz="2300" b="1" dirty="0"/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300" b="1" dirty="0"/>
              <a:t>		WHERE Student.Sno = SC.Sno AND   </a:t>
            </a:r>
            <a:endParaRPr lang="en-US" altLang="zh-CN" sz="2300" b="1" dirty="0"/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300" b="1" dirty="0"/>
              <a:t>                                            /* </a:t>
            </a:r>
            <a:r>
              <a:rPr lang="zh-CN" altLang="en-US" sz="2300" b="1" dirty="0">
                <a:solidFill>
                  <a:srgbClr val="FF0000"/>
                </a:solidFill>
              </a:rPr>
              <a:t>连接谓词不要丢</a:t>
            </a:r>
            <a:r>
              <a:rPr lang="zh-CN" altLang="en-US" sz="2300" b="1" dirty="0"/>
              <a:t>*</a:t>
            </a:r>
            <a:r>
              <a:rPr lang="en-US" altLang="zh-CN" sz="2300" b="1" dirty="0"/>
              <a:t>/</a:t>
            </a:r>
            <a:endParaRPr lang="en-US" altLang="zh-CN" sz="2300" b="1" dirty="0"/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300" b="1" dirty="0"/>
              <a:t>                         SC.Cno= </a:t>
            </a:r>
            <a:r>
              <a:rPr lang="en-US" altLang="zh-CN" sz="2300" b="1" dirty="0">
                <a:latin typeface="Courier New" panose="02070309020205020404" pitchFamily="49" charset="0"/>
              </a:rPr>
              <a:t>‘</a:t>
            </a:r>
            <a:r>
              <a:rPr lang="en-US" altLang="zh-CN" sz="2300" b="1" dirty="0"/>
              <a:t>2</a:t>
            </a:r>
            <a:r>
              <a:rPr lang="zh-CN" altLang="en-US" sz="2300" b="1" dirty="0"/>
              <a:t>；       </a:t>
            </a:r>
            <a:endParaRPr lang="zh-CN" altLang="en-US" sz="2300" b="1" dirty="0"/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sz="2300" b="1" dirty="0"/>
              <a:t>					</a:t>
            </a:r>
            <a:r>
              <a:rPr lang="en-US" altLang="zh-CN" sz="2300" b="1" dirty="0"/>
              <a:t>/* </a:t>
            </a:r>
            <a:r>
              <a:rPr lang="zh-CN" altLang="en-US" sz="2300" b="1" dirty="0"/>
              <a:t>其他限定条件 *</a:t>
            </a:r>
            <a:r>
              <a:rPr lang="en-US" altLang="zh-CN" sz="2300" b="1" dirty="0"/>
              <a:t>/</a:t>
            </a:r>
            <a:endParaRPr lang="en-US" altLang="zh-CN" sz="2300" b="1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7" name="Rectangle 2"/>
          <p:cNvSpPr>
            <a:spLocks noGrp="1"/>
          </p:cNvSpPr>
          <p:nvPr>
            <p:ph type="title"/>
          </p:nvPr>
        </p:nvSpPr>
        <p:spPr>
          <a:xfrm>
            <a:off x="1116013" y="476250"/>
            <a:ext cx="4906962" cy="811213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3600" b="1" dirty="0"/>
              <a:t>插入元组</a:t>
            </a:r>
            <a:endParaRPr lang="zh-CN" altLang="en-US" sz="3600" b="1" dirty="0"/>
          </a:p>
        </p:txBody>
      </p:sp>
      <p:sp>
        <p:nvSpPr>
          <p:cNvPr id="24578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marL="609600" indent="-609600" eaLnBrk="1" hangingPunct="1">
              <a:lnSpc>
                <a:spcPct val="130000"/>
              </a:lnSpc>
            </a:pPr>
            <a:r>
              <a:rPr lang="zh-CN" altLang="en-US" b="1" dirty="0"/>
              <a:t>语句格式</a:t>
            </a:r>
            <a:endParaRPr lang="zh-CN" altLang="en-US" b="1" dirty="0"/>
          </a:p>
          <a:p>
            <a:pPr marL="609600" indent="-609600" eaLnBrk="1" hangingPunct="1">
              <a:lnSpc>
                <a:spcPct val="130000"/>
              </a:lnSpc>
              <a:buNone/>
            </a:pPr>
            <a:r>
              <a:rPr lang="zh-CN" altLang="en-US" sz="2800" b="1" dirty="0"/>
              <a:t>	</a:t>
            </a:r>
            <a:r>
              <a:rPr lang="en-US" altLang="zh-CN" sz="2800" b="1" dirty="0">
                <a:solidFill>
                  <a:srgbClr val="FF0000"/>
                </a:solidFill>
              </a:rPr>
              <a:t>INSERT</a:t>
            </a:r>
            <a:endParaRPr lang="en-US" altLang="zh-CN" sz="2800" b="1" dirty="0">
              <a:solidFill>
                <a:srgbClr val="FF0000"/>
              </a:solidFill>
            </a:endParaRPr>
          </a:p>
          <a:p>
            <a:pPr marL="609600" indent="-609600" eaLnBrk="1" hangingPunct="1">
              <a:lnSpc>
                <a:spcPct val="130000"/>
              </a:lnSpc>
              <a:buNone/>
            </a:pPr>
            <a:r>
              <a:rPr lang="en-US" altLang="zh-CN" sz="2800" b="1" dirty="0">
                <a:solidFill>
                  <a:srgbClr val="FF0000"/>
                </a:solidFill>
              </a:rPr>
              <a:t>	INTO &lt;</a:t>
            </a:r>
            <a:r>
              <a:rPr lang="zh-CN" altLang="en-US" sz="2800" b="1" dirty="0"/>
              <a:t>表名</a:t>
            </a:r>
            <a:r>
              <a:rPr lang="en-US" altLang="zh-CN" sz="2800" b="1" dirty="0"/>
              <a:t>&gt; [(&lt;</a:t>
            </a:r>
            <a:r>
              <a:rPr lang="zh-CN" altLang="en-US" sz="2800" b="1" dirty="0"/>
              <a:t>属性列</a:t>
            </a:r>
            <a:r>
              <a:rPr lang="en-US" altLang="zh-CN" sz="2800" b="1" dirty="0"/>
              <a:t>1&gt;[</a:t>
            </a:r>
            <a:r>
              <a:rPr lang="zh-CN" altLang="en-US" sz="2800" b="1" dirty="0"/>
              <a:t>，</a:t>
            </a:r>
            <a:r>
              <a:rPr lang="en-US" altLang="zh-CN" sz="2800" b="1" dirty="0"/>
              <a:t>&lt;</a:t>
            </a:r>
            <a:r>
              <a:rPr lang="zh-CN" altLang="en-US" sz="2800" b="1" dirty="0"/>
              <a:t>属性列</a:t>
            </a:r>
            <a:r>
              <a:rPr lang="en-US" altLang="zh-CN" sz="2800" b="1" dirty="0"/>
              <a:t>2 &gt;…)]</a:t>
            </a:r>
            <a:endParaRPr lang="en-US" altLang="zh-CN" sz="2800" b="1" dirty="0"/>
          </a:p>
          <a:p>
            <a:pPr marL="609600" indent="-609600" eaLnBrk="1" hangingPunct="1">
              <a:lnSpc>
                <a:spcPct val="130000"/>
              </a:lnSpc>
              <a:buNone/>
            </a:pPr>
            <a:r>
              <a:rPr lang="en-US" altLang="zh-CN" sz="2800" b="1" dirty="0"/>
              <a:t>	</a:t>
            </a:r>
            <a:r>
              <a:rPr lang="en-US" altLang="zh-CN" sz="2800" b="1" dirty="0">
                <a:solidFill>
                  <a:srgbClr val="FF0000"/>
                </a:solidFill>
              </a:rPr>
              <a:t>VALUES</a:t>
            </a:r>
            <a:r>
              <a:rPr lang="en-US" altLang="zh-CN" sz="2800" b="1" dirty="0"/>
              <a:t> (&lt;</a:t>
            </a:r>
            <a:r>
              <a:rPr lang="zh-CN" altLang="en-US" sz="2800" b="1" dirty="0"/>
              <a:t>常量</a:t>
            </a:r>
            <a:r>
              <a:rPr lang="en-US" altLang="zh-CN" sz="2800" b="1" dirty="0"/>
              <a:t>1&gt; [</a:t>
            </a:r>
            <a:r>
              <a:rPr lang="zh-CN" altLang="en-US" sz="2800" b="1" dirty="0"/>
              <a:t>，</a:t>
            </a:r>
            <a:r>
              <a:rPr lang="en-US" altLang="zh-CN" sz="2800" b="1" dirty="0"/>
              <a:t>&lt;</a:t>
            </a:r>
            <a:r>
              <a:rPr lang="zh-CN" altLang="en-US" sz="2800" b="1" dirty="0"/>
              <a:t>常量</a:t>
            </a:r>
            <a:r>
              <a:rPr lang="en-US" altLang="zh-CN" sz="2800" b="1" dirty="0"/>
              <a:t>2&gt;]    …           )</a:t>
            </a:r>
            <a:endParaRPr lang="en-US" altLang="zh-CN" b="1" dirty="0"/>
          </a:p>
          <a:p>
            <a:pPr marL="990600" lvl="1" indent="-533400" eaLnBrk="1" hangingPunct="1">
              <a:buNone/>
            </a:pPr>
            <a:endParaRPr lang="en-US" altLang="zh-CN" b="1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5" name="Rectangle 2"/>
          <p:cNvSpPr>
            <a:spLocks noGrp="1"/>
          </p:cNvSpPr>
          <p:nvPr>
            <p:ph type="title"/>
          </p:nvPr>
        </p:nvSpPr>
        <p:spPr>
          <a:xfrm>
            <a:off x="1042988" y="476250"/>
            <a:ext cx="5832475" cy="865188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3600" b="1" dirty="0"/>
              <a:t>修改数据</a:t>
            </a:r>
            <a:endParaRPr lang="zh-CN" altLang="en-US" sz="3600" b="1" dirty="0"/>
          </a:p>
        </p:txBody>
      </p:sp>
      <p:sp>
        <p:nvSpPr>
          <p:cNvPr id="26626" name="Rectangle 3"/>
          <p:cNvSpPr>
            <a:spLocks noGrp="1"/>
          </p:cNvSpPr>
          <p:nvPr>
            <p:ph idx="1"/>
          </p:nvPr>
        </p:nvSpPr>
        <p:spPr>
          <a:xfrm>
            <a:off x="468313" y="1916113"/>
            <a:ext cx="8280400" cy="41148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</a:pPr>
            <a:r>
              <a:rPr lang="zh-CN" altLang="en-US" sz="2800" b="1" dirty="0"/>
              <a:t>语句格式</a:t>
            </a:r>
            <a:endParaRPr lang="zh-CN" altLang="en-US" sz="2800" b="1" dirty="0"/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800" b="1" dirty="0"/>
              <a:t>   </a:t>
            </a:r>
            <a:r>
              <a:rPr lang="en-US" altLang="zh-CN" sz="2800" b="1" dirty="0">
                <a:solidFill>
                  <a:srgbClr val="FF0000"/>
                </a:solidFill>
              </a:rPr>
              <a:t>UPDATE  &lt;</a:t>
            </a:r>
            <a:r>
              <a:rPr lang="zh-CN" altLang="en-US" sz="2800" b="1" dirty="0">
                <a:solidFill>
                  <a:srgbClr val="FF0000"/>
                </a:solidFill>
              </a:rPr>
              <a:t>表名</a:t>
            </a:r>
            <a:r>
              <a:rPr lang="en-US" altLang="zh-CN" sz="2800" b="1" dirty="0">
                <a:solidFill>
                  <a:srgbClr val="FF0000"/>
                </a:solidFill>
              </a:rPr>
              <a:t>&gt;</a:t>
            </a:r>
            <a:endParaRPr lang="en-US" altLang="zh-CN" sz="2800" b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800" b="1" dirty="0">
                <a:solidFill>
                  <a:srgbClr val="FF0000"/>
                </a:solidFill>
              </a:rPr>
              <a:t>    SET</a:t>
            </a:r>
            <a:r>
              <a:rPr lang="en-US" altLang="zh-CN" sz="2800" b="1" dirty="0"/>
              <a:t>  &lt;</a:t>
            </a:r>
            <a:r>
              <a:rPr lang="zh-CN" altLang="en-US" sz="2800" b="1" dirty="0"/>
              <a:t>列名</a:t>
            </a:r>
            <a:r>
              <a:rPr lang="en-US" altLang="zh-CN" sz="2800" b="1" dirty="0"/>
              <a:t>&gt;=&lt;</a:t>
            </a:r>
            <a:r>
              <a:rPr lang="zh-CN" altLang="en-US" sz="2800" b="1" dirty="0"/>
              <a:t>表达式</a:t>
            </a:r>
            <a:r>
              <a:rPr lang="en-US" altLang="zh-CN" sz="2800" b="1" dirty="0"/>
              <a:t>&gt;[</a:t>
            </a:r>
            <a:r>
              <a:rPr lang="zh-CN" altLang="en-US" sz="2800" b="1" dirty="0"/>
              <a:t>，</a:t>
            </a:r>
            <a:r>
              <a:rPr lang="en-US" altLang="zh-CN" sz="2800" b="1" dirty="0"/>
              <a:t>&lt;</a:t>
            </a:r>
            <a:r>
              <a:rPr lang="zh-CN" altLang="en-US" sz="2800" b="1" dirty="0"/>
              <a:t>列名</a:t>
            </a:r>
            <a:r>
              <a:rPr lang="en-US" altLang="zh-CN" sz="2800" b="1" dirty="0"/>
              <a:t>&gt;=&lt;</a:t>
            </a:r>
            <a:r>
              <a:rPr lang="zh-CN" altLang="en-US" sz="2800" b="1" dirty="0"/>
              <a:t>表达式</a:t>
            </a:r>
            <a:r>
              <a:rPr lang="en-US" altLang="zh-CN" sz="2800" b="1" dirty="0"/>
              <a:t>&gt;]…</a:t>
            </a:r>
            <a:endParaRPr lang="en-US" altLang="zh-CN" sz="2800" b="1" dirty="0"/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800" b="1" dirty="0"/>
              <a:t>    [</a:t>
            </a:r>
            <a:r>
              <a:rPr lang="en-US" altLang="zh-CN" sz="2800" b="1" dirty="0">
                <a:solidFill>
                  <a:srgbClr val="FF0000"/>
                </a:solidFill>
              </a:rPr>
              <a:t>WHERE</a:t>
            </a:r>
            <a:r>
              <a:rPr lang="en-US" altLang="zh-CN" sz="2800" b="1" dirty="0"/>
              <a:t> &lt;</a:t>
            </a:r>
            <a:r>
              <a:rPr lang="zh-CN" altLang="en-US" sz="2800" b="1" dirty="0"/>
              <a:t>条件</a:t>
            </a:r>
            <a:r>
              <a:rPr lang="en-US" altLang="zh-CN" sz="2800" b="1" dirty="0"/>
              <a:t>&gt;]</a:t>
            </a:r>
            <a:r>
              <a:rPr lang="zh-CN" altLang="en-US" sz="2800" b="1" dirty="0"/>
              <a:t>；</a:t>
            </a:r>
            <a:endParaRPr lang="zh-CN" altLang="en-US" sz="2800" b="1" dirty="0"/>
          </a:p>
          <a:p>
            <a:pPr eaLnBrk="1" hangingPunct="1">
              <a:lnSpc>
                <a:spcPct val="80000"/>
              </a:lnSpc>
              <a:buNone/>
            </a:pPr>
            <a:endParaRPr lang="en-US" altLang="zh-CN" sz="2800" b="1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3" name="Rectangle 2"/>
          <p:cNvSpPr>
            <a:spLocks noGrp="1"/>
          </p:cNvSpPr>
          <p:nvPr>
            <p:ph type="title"/>
          </p:nvPr>
        </p:nvSpPr>
        <p:spPr>
          <a:xfrm>
            <a:off x="1042988" y="620713"/>
            <a:ext cx="4619625" cy="739775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3600" b="1" dirty="0"/>
              <a:t>删除数据</a:t>
            </a:r>
            <a:endParaRPr lang="zh-CN" altLang="en-US" sz="3600" b="1" dirty="0"/>
          </a:p>
        </p:txBody>
      </p:sp>
      <p:sp>
        <p:nvSpPr>
          <p:cNvPr id="28674" name="Rectangle 3"/>
          <p:cNvSpPr>
            <a:spLocks noGrp="1"/>
          </p:cNvSpPr>
          <p:nvPr>
            <p:ph idx="1"/>
          </p:nvPr>
        </p:nvSpPr>
        <p:spPr>
          <a:xfrm>
            <a:off x="838200" y="1981200"/>
            <a:ext cx="7772400" cy="35560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30000"/>
              </a:lnSpc>
            </a:pPr>
            <a:r>
              <a:rPr lang="zh-CN" altLang="en-US" sz="2800" b="1" dirty="0"/>
              <a:t>语句格式</a:t>
            </a:r>
            <a:endParaRPr lang="zh-CN" altLang="en-US" sz="2800" b="1" dirty="0"/>
          </a:p>
          <a:p>
            <a:pPr algn="just" eaLnBrk="1" hangingPunct="1">
              <a:lnSpc>
                <a:spcPct val="130000"/>
              </a:lnSpc>
              <a:buNone/>
            </a:pPr>
            <a:r>
              <a:rPr lang="zh-CN" altLang="en-US" sz="2600" b="1" dirty="0">
                <a:solidFill>
                  <a:srgbClr val="FF0000"/>
                </a:solidFill>
              </a:rPr>
              <a:t>       </a:t>
            </a:r>
            <a:r>
              <a:rPr lang="en-US" altLang="zh-CN" sz="2600" b="1" dirty="0">
                <a:solidFill>
                  <a:srgbClr val="FF0000"/>
                </a:solidFill>
              </a:rPr>
              <a:t>DELETE</a:t>
            </a:r>
            <a:endParaRPr lang="en-US" altLang="zh-CN" sz="2600" b="1" dirty="0">
              <a:solidFill>
                <a:srgbClr val="FF0000"/>
              </a:solidFill>
            </a:endParaRPr>
          </a:p>
          <a:p>
            <a:pPr algn="just" eaLnBrk="1" hangingPunct="1">
              <a:lnSpc>
                <a:spcPct val="130000"/>
              </a:lnSpc>
              <a:buNone/>
            </a:pPr>
            <a:r>
              <a:rPr lang="en-US" altLang="zh-CN" sz="2600" b="1" dirty="0">
                <a:solidFill>
                  <a:srgbClr val="FF0000"/>
                </a:solidFill>
              </a:rPr>
              <a:t>       FROM     &lt;</a:t>
            </a:r>
            <a:r>
              <a:rPr lang="zh-CN" altLang="en-US" sz="2600" b="1" dirty="0">
                <a:solidFill>
                  <a:srgbClr val="FF0000"/>
                </a:solidFill>
              </a:rPr>
              <a:t>表名</a:t>
            </a:r>
            <a:r>
              <a:rPr lang="en-US" altLang="zh-CN" sz="2600" b="1" dirty="0">
                <a:solidFill>
                  <a:srgbClr val="FF0000"/>
                </a:solidFill>
              </a:rPr>
              <a:t>&gt;</a:t>
            </a:r>
            <a:endParaRPr lang="en-US" altLang="zh-CN" sz="2600" b="1" dirty="0">
              <a:solidFill>
                <a:srgbClr val="FF0000"/>
              </a:solidFill>
            </a:endParaRPr>
          </a:p>
          <a:p>
            <a:pPr algn="just" eaLnBrk="1" hangingPunct="1">
              <a:lnSpc>
                <a:spcPct val="130000"/>
              </a:lnSpc>
              <a:buNone/>
            </a:pPr>
            <a:r>
              <a:rPr lang="en-US" altLang="zh-CN" sz="2600" b="1" dirty="0">
                <a:solidFill>
                  <a:srgbClr val="FF0000"/>
                </a:solidFill>
              </a:rPr>
              <a:t>       [WHERE </a:t>
            </a:r>
            <a:r>
              <a:rPr lang="en-US" altLang="zh-CN" sz="2600" b="1" dirty="0"/>
              <a:t>&lt;</a:t>
            </a:r>
            <a:r>
              <a:rPr lang="zh-CN" altLang="en-US" sz="2600" b="1" dirty="0"/>
              <a:t>条件</a:t>
            </a:r>
            <a:r>
              <a:rPr lang="en-US" altLang="zh-CN" sz="2600" b="1" dirty="0"/>
              <a:t>&gt;]</a:t>
            </a:r>
            <a:r>
              <a:rPr lang="zh-CN" altLang="en-US" sz="2600" b="1" dirty="0"/>
              <a:t>；</a:t>
            </a:r>
            <a:endParaRPr lang="zh-CN" altLang="en-US" sz="2600" b="1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1" name="Rectangle 2"/>
          <p:cNvSpPr>
            <a:spLocks noGrp="1"/>
          </p:cNvSpPr>
          <p:nvPr>
            <p:ph type="title"/>
          </p:nvPr>
        </p:nvSpPr>
        <p:spPr>
          <a:xfrm>
            <a:off x="1116013" y="476250"/>
            <a:ext cx="4043362" cy="884238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3600" b="1" dirty="0"/>
              <a:t>建立视图</a:t>
            </a:r>
            <a:endParaRPr lang="zh-CN" altLang="en-US" sz="3600" b="1" dirty="0"/>
          </a:p>
        </p:txBody>
      </p:sp>
      <p:sp>
        <p:nvSpPr>
          <p:cNvPr id="30722" name="Rectangle 3"/>
          <p:cNvSpPr>
            <a:spLocks noGrp="1"/>
          </p:cNvSpPr>
          <p:nvPr>
            <p:ph idx="1"/>
          </p:nvPr>
        </p:nvSpPr>
        <p:spPr>
          <a:xfrm>
            <a:off x="611188" y="1628775"/>
            <a:ext cx="7924800" cy="4495800"/>
          </a:xfrm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b="1" dirty="0"/>
              <a:t>语句格式</a:t>
            </a:r>
            <a:endParaRPr lang="zh-CN" altLang="en-US" b="1" dirty="0"/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800" b="1" dirty="0"/>
              <a:t>       </a:t>
            </a:r>
            <a:r>
              <a:rPr lang="en-US" altLang="zh-CN" sz="2800" b="1" dirty="0">
                <a:solidFill>
                  <a:srgbClr val="FF0000"/>
                </a:solidFill>
              </a:rPr>
              <a:t>CREATE  VIEW </a:t>
            </a:r>
            <a:endParaRPr lang="en-US" altLang="zh-CN" sz="2800" b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800" b="1" dirty="0"/>
              <a:t>             &lt;</a:t>
            </a:r>
            <a:r>
              <a:rPr lang="zh-CN" altLang="en-US" sz="2800" b="1" dirty="0"/>
              <a:t>视图名</a:t>
            </a:r>
            <a:r>
              <a:rPr lang="en-US" altLang="zh-CN" sz="2800" b="1" dirty="0"/>
              <a:t>&gt;  [(&lt;</a:t>
            </a:r>
            <a:r>
              <a:rPr lang="zh-CN" altLang="en-US" sz="2800" b="1" dirty="0"/>
              <a:t>列名</a:t>
            </a:r>
            <a:r>
              <a:rPr lang="en-US" altLang="zh-CN" sz="2800" b="1" dirty="0"/>
              <a:t>&gt;  [</a:t>
            </a:r>
            <a:r>
              <a:rPr lang="zh-CN" altLang="en-US" sz="2800" b="1" dirty="0"/>
              <a:t>，</a:t>
            </a:r>
            <a:r>
              <a:rPr lang="en-US" altLang="zh-CN" sz="2800" b="1" dirty="0"/>
              <a:t>&lt;</a:t>
            </a:r>
            <a:r>
              <a:rPr lang="zh-CN" altLang="en-US" sz="2800" b="1" dirty="0"/>
              <a:t>列名</a:t>
            </a:r>
            <a:r>
              <a:rPr lang="en-US" altLang="zh-CN" sz="2800" b="1" dirty="0"/>
              <a:t>&gt;]…)]</a:t>
            </a:r>
            <a:endParaRPr lang="en-US" altLang="zh-CN" sz="2800" b="1" dirty="0"/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800" b="1" dirty="0">
                <a:solidFill>
                  <a:srgbClr val="FF3399"/>
                </a:solidFill>
              </a:rPr>
              <a:t>       </a:t>
            </a:r>
            <a:r>
              <a:rPr lang="en-US" altLang="zh-CN" sz="2800" b="1" dirty="0">
                <a:solidFill>
                  <a:srgbClr val="FF0000"/>
                </a:solidFill>
              </a:rPr>
              <a:t>AS</a:t>
            </a:r>
            <a:r>
              <a:rPr lang="en-US" altLang="zh-CN" sz="2800" b="1" dirty="0">
                <a:solidFill>
                  <a:schemeClr val="tx2"/>
                </a:solidFill>
              </a:rPr>
              <a:t> </a:t>
            </a:r>
            <a:r>
              <a:rPr lang="en-US" altLang="zh-CN" sz="2800" b="1" dirty="0">
                <a:solidFill>
                  <a:srgbClr val="0033CC"/>
                </a:solidFill>
              </a:rPr>
              <a:t> </a:t>
            </a:r>
            <a:r>
              <a:rPr lang="en-US" altLang="zh-CN" sz="2800" b="1" dirty="0"/>
              <a:t>&lt;</a:t>
            </a:r>
            <a:r>
              <a:rPr lang="zh-CN" altLang="en-US" sz="2800" b="1" dirty="0"/>
              <a:t>子查询</a:t>
            </a:r>
            <a:r>
              <a:rPr lang="en-US" altLang="zh-CN" sz="2800" b="1" dirty="0"/>
              <a:t>&gt;</a:t>
            </a:r>
            <a:endParaRPr lang="en-US" altLang="zh-CN" sz="2800" b="1" dirty="0"/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800" b="1" dirty="0"/>
              <a:t>       [</a:t>
            </a:r>
            <a:r>
              <a:rPr lang="en-US" altLang="zh-CN" sz="2800" b="1" dirty="0">
                <a:solidFill>
                  <a:schemeClr val="tx2"/>
                </a:solidFill>
              </a:rPr>
              <a:t>WITH  CHECK  OPTION</a:t>
            </a:r>
            <a:r>
              <a:rPr lang="en-US" altLang="zh-CN" sz="2800" b="1" dirty="0"/>
              <a:t>]</a:t>
            </a:r>
            <a:r>
              <a:rPr lang="zh-CN" altLang="en-US" sz="2800" b="1" dirty="0"/>
              <a:t>；</a:t>
            </a:r>
            <a:endParaRPr lang="zh-CN" altLang="en-US" b="1" dirty="0"/>
          </a:p>
          <a:p>
            <a:pPr eaLnBrk="1" hangingPunct="1">
              <a:lnSpc>
                <a:spcPct val="120000"/>
              </a:lnSpc>
            </a:pPr>
            <a:endParaRPr lang="zh-CN" altLang="en-US" b="1" dirty="0"/>
          </a:p>
          <a:p>
            <a:pPr eaLnBrk="1" hangingPunct="1"/>
            <a:endParaRPr lang="en-US" altLang="zh-CN" b="1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69" name="Rectangle 2"/>
          <p:cNvSpPr>
            <a:spLocks noGrp="1"/>
          </p:cNvSpPr>
          <p:nvPr>
            <p:ph type="title"/>
          </p:nvPr>
        </p:nvSpPr>
        <p:spPr>
          <a:xfrm>
            <a:off x="971550" y="404813"/>
            <a:ext cx="6480175" cy="884237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3600" b="1" dirty="0">
                <a:latin typeface="宋体" panose="02010600030101010101" pitchFamily="2" charset="-122"/>
              </a:rPr>
              <a:t>第</a:t>
            </a:r>
            <a:r>
              <a:rPr lang="en-US" altLang="zh-CN" sz="3600" b="1" dirty="0">
                <a:latin typeface="宋体" panose="02010600030101010101" pitchFamily="2" charset="-122"/>
              </a:rPr>
              <a:t>4</a:t>
            </a:r>
            <a:r>
              <a:rPr lang="zh-CN" altLang="en-US" sz="3600" b="1" dirty="0">
                <a:latin typeface="宋体" panose="02010600030101010101" pitchFamily="2" charset="-122"/>
              </a:rPr>
              <a:t>章  数据库保护</a:t>
            </a:r>
            <a:r>
              <a:rPr lang="en-US" altLang="zh-CN" sz="3600" b="1" dirty="0">
                <a:latin typeface="宋体" panose="02010600030101010101" pitchFamily="2" charset="-122"/>
              </a:rPr>
              <a:t>—</a:t>
            </a:r>
            <a:r>
              <a:rPr lang="zh-CN" altLang="en-US" sz="3600" b="1" dirty="0">
                <a:latin typeface="宋体" panose="02010600030101010101" pitchFamily="2" charset="-122"/>
              </a:rPr>
              <a:t>安全性</a:t>
            </a:r>
            <a:endParaRPr lang="zh-CN" altLang="en-US" sz="3600" b="1" dirty="0">
              <a:latin typeface="宋体" panose="02010600030101010101" pitchFamily="2" charset="-122"/>
            </a:endParaRP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1484313"/>
            <a:ext cx="8101013" cy="43211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1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、概念：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数据库安全性指保护数据库以防止不合法使用所造成的数据泄露、更改或破坏。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  <a:p>
            <a:pPr marL="514350" marR="0" lvl="0" indent="-514350" algn="l" defTabSz="914400" rtl="0" eaLnBrk="1" fontAlgn="base" latinLnBrk="0" hangingPunct="1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AutoNum type="arabicPlain" startAt="2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授权与回收：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 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GRANT   REVOKE 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  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 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3" name="Rectangle 3"/>
          <p:cNvSpPr>
            <a:spLocks noGrp="1"/>
          </p:cNvSpPr>
          <p:nvPr>
            <p:ph idx="1"/>
          </p:nvPr>
        </p:nvSpPr>
        <p:spPr>
          <a:xfrm>
            <a:off x="468313" y="1700213"/>
            <a:ext cx="8280400" cy="44958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en-US" altLang="zh-CN" sz="2800" b="1" dirty="0">
                <a:latin typeface="宋体" panose="02010600030101010101" pitchFamily="2" charset="-122"/>
              </a:rPr>
              <a:t>1</a:t>
            </a:r>
            <a:r>
              <a:rPr lang="zh-CN" altLang="en-US" sz="2800" b="1" dirty="0">
                <a:latin typeface="宋体" panose="02010600030101010101" pitchFamily="2" charset="-122"/>
              </a:rPr>
              <a:t>、概念：防止数据库中存在不符合语义的数据，也就是防止数据库中存在不正确的数据</a:t>
            </a:r>
            <a:endParaRPr lang="zh-CN" altLang="en-US" sz="2800" b="1" dirty="0">
              <a:latin typeface="宋体" panose="02010600030101010101" pitchFamily="2" charset="-122"/>
            </a:endParaRPr>
          </a:p>
          <a:p>
            <a:pPr eaLnBrk="1" hangingPunct="1">
              <a:buNone/>
            </a:pPr>
            <a:endParaRPr lang="en-US" altLang="zh-CN" sz="2800" b="1" dirty="0">
              <a:latin typeface="宋体" panose="02010600030101010101" pitchFamily="2" charset="-122"/>
            </a:endParaRPr>
          </a:p>
          <a:p>
            <a:pPr eaLnBrk="1" hangingPunct="1">
              <a:buNone/>
            </a:pPr>
            <a:r>
              <a:rPr lang="en-US" altLang="zh-CN" sz="2800" b="1" dirty="0">
                <a:latin typeface="宋体" panose="02010600030101010101" pitchFamily="2" charset="-122"/>
              </a:rPr>
              <a:t>2</a:t>
            </a:r>
            <a:r>
              <a:rPr lang="zh-CN" altLang="en-US" sz="2800" b="1" dirty="0">
                <a:latin typeface="宋体" panose="02010600030101010101" pitchFamily="2" charset="-122"/>
              </a:rPr>
              <a:t>、</a:t>
            </a:r>
            <a:r>
              <a:rPr lang="en-US" altLang="zh-CN" sz="2800" b="1" dirty="0">
                <a:latin typeface="宋体" panose="02010600030101010101" pitchFamily="2" charset="-122"/>
              </a:rPr>
              <a:t>SQL</a:t>
            </a:r>
            <a:r>
              <a:rPr lang="zh-CN" altLang="en-US" sz="2800" b="1" dirty="0">
                <a:latin typeface="宋体" panose="02010600030101010101" pitchFamily="2" charset="-122"/>
              </a:rPr>
              <a:t>的完整性控制  主码 外码 不为空等等</a:t>
            </a:r>
            <a:endParaRPr lang="zh-CN" altLang="en-US" sz="2800" b="1" dirty="0">
              <a:latin typeface="宋体" panose="02010600030101010101" pitchFamily="2" charset="-122"/>
            </a:endParaRPr>
          </a:p>
        </p:txBody>
      </p:sp>
      <p:sp>
        <p:nvSpPr>
          <p:cNvPr id="33794" name="Rectangle 6"/>
          <p:cNvSpPr/>
          <p:nvPr/>
        </p:nvSpPr>
        <p:spPr>
          <a:xfrm>
            <a:off x="971550" y="549275"/>
            <a:ext cx="6480175" cy="88423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>
              <a:buClrTx/>
              <a:buFontTx/>
            </a:pPr>
            <a:r>
              <a:rPr lang="zh-CN" altLang="en-US" sz="3600" b="1" dirty="0">
                <a:latin typeface="宋体" panose="0201060003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3600" b="1" dirty="0">
                <a:latin typeface="宋体" panose="02010600030101010101" pitchFamily="2" charset="-122"/>
                <a:ea typeface="宋体" panose="02010600030101010101" pitchFamily="2" charset="-122"/>
              </a:rPr>
              <a:t>5</a:t>
            </a:r>
            <a:r>
              <a:rPr lang="zh-CN" altLang="en-US" sz="3600" b="1" dirty="0">
                <a:latin typeface="宋体" panose="02010600030101010101" pitchFamily="2" charset="-122"/>
                <a:ea typeface="宋体" panose="02010600030101010101" pitchFamily="2" charset="-122"/>
              </a:rPr>
              <a:t>章  数据库完整性</a:t>
            </a:r>
            <a:endParaRPr lang="zh-CN" altLang="en-US" sz="3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7" name="Rectangle 2"/>
          <p:cNvSpPr>
            <a:spLocks noGrp="1"/>
          </p:cNvSpPr>
          <p:nvPr>
            <p:ph idx="1"/>
          </p:nvPr>
        </p:nvSpPr>
        <p:spPr>
          <a:xfrm>
            <a:off x="395288" y="1844675"/>
            <a:ext cx="7772400" cy="4214813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1</a:t>
            </a:r>
            <a:r>
              <a:rPr lang="zh-CN" altLang="en-US" sz="2400" b="1" dirty="0">
                <a:latin typeface="宋体" panose="02010600030101010101" pitchFamily="2" charset="-122"/>
              </a:rPr>
              <a:t>、函数依赖：包括：函数依赖、平凡函数依赖与非平凡函数依赖、完全函数依赖、部分函数依赖、传递函数依赖的定义理解和应用（即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能区分不同的函数依赖</a:t>
            </a:r>
            <a:r>
              <a:rPr lang="zh-CN" altLang="en-US" sz="2400" b="1" dirty="0">
                <a:latin typeface="宋体" panose="02010600030101010101" pitchFamily="2" charset="-122"/>
              </a:rPr>
              <a:t>）</a:t>
            </a:r>
            <a:endParaRPr lang="en-US" altLang="zh-CN" sz="2400" b="1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140000"/>
              </a:lnSpc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2</a:t>
            </a:r>
            <a:r>
              <a:rPr lang="zh-CN" altLang="en-US" sz="2400" b="1" dirty="0">
                <a:latin typeface="宋体" panose="02010600030101010101" pitchFamily="2" charset="-122"/>
              </a:rPr>
              <a:t>、</a:t>
            </a:r>
            <a:r>
              <a:rPr lang="en-US" altLang="zh-CN" sz="2400" b="1" dirty="0">
                <a:latin typeface="宋体" panose="02010600030101010101" pitchFamily="2" charset="-122"/>
              </a:rPr>
              <a:t>1NF</a:t>
            </a:r>
            <a:r>
              <a:rPr lang="zh-CN" altLang="en-US" sz="2400" b="1" dirty="0">
                <a:latin typeface="宋体" panose="02010600030101010101" pitchFamily="2" charset="-122"/>
              </a:rPr>
              <a:t>、</a:t>
            </a:r>
            <a:r>
              <a:rPr lang="en-US" altLang="zh-CN" sz="2400" b="1" dirty="0">
                <a:latin typeface="宋体" panose="02010600030101010101" pitchFamily="2" charset="-122"/>
              </a:rPr>
              <a:t>2NF</a:t>
            </a:r>
            <a:r>
              <a:rPr lang="zh-CN" altLang="en-US" sz="2400" b="1" dirty="0">
                <a:latin typeface="宋体" panose="02010600030101010101" pitchFamily="2" charset="-122"/>
              </a:rPr>
              <a:t>、</a:t>
            </a:r>
            <a:r>
              <a:rPr lang="en-US" altLang="zh-CN" sz="2400" b="1" dirty="0">
                <a:latin typeface="宋体" panose="02010600030101010101" pitchFamily="2" charset="-122"/>
              </a:rPr>
              <a:t>3NF</a:t>
            </a:r>
            <a:r>
              <a:rPr lang="zh-CN" altLang="en-US" sz="2400" b="1" dirty="0">
                <a:latin typeface="宋体" panose="02010600030101010101" pitchFamily="2" charset="-122"/>
              </a:rPr>
              <a:t>、</a:t>
            </a:r>
            <a:r>
              <a:rPr lang="en-US" altLang="zh-CN" sz="2400" b="1" dirty="0">
                <a:latin typeface="宋体" panose="02010600030101010101" pitchFamily="2" charset="-122"/>
              </a:rPr>
              <a:t>BCNF</a:t>
            </a:r>
            <a:r>
              <a:rPr lang="zh-CN" altLang="en-US" sz="2400" b="1" dirty="0">
                <a:latin typeface="宋体" panose="02010600030101010101" pitchFamily="2" charset="-122"/>
              </a:rPr>
              <a:t>的定义和判别；</a:t>
            </a:r>
            <a:endParaRPr lang="en-US" altLang="zh-CN" sz="2400" b="1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140000"/>
              </a:lnSpc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3</a:t>
            </a:r>
            <a:r>
              <a:rPr lang="zh-CN" altLang="en-US" sz="2400" b="1" dirty="0">
                <a:latin typeface="宋体" panose="02010600030101010101" pitchFamily="2" charset="-122"/>
              </a:rPr>
              <a:t>、关系模式候选码的求解；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140000"/>
              </a:lnSpc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4</a:t>
            </a:r>
            <a:r>
              <a:rPr lang="zh-CN" altLang="en-US" sz="2400" b="1" dirty="0">
                <a:latin typeface="宋体" panose="02010600030101010101" pitchFamily="2" charset="-122"/>
              </a:rPr>
              <a:t>、根据文字描述，判断关系的函数依赖，由函数依赖再来判断是否存在部分，传递依赖。</a:t>
            </a:r>
            <a:endParaRPr lang="en-US" altLang="zh-CN" sz="2400" b="1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  <a:buNone/>
            </a:pPr>
            <a:endParaRPr lang="zh-CN" altLang="en-US" sz="2400" b="1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Ø"/>
            </a:pPr>
            <a:endParaRPr lang="en-US" altLang="zh-CN" sz="2000" b="1" dirty="0">
              <a:latin typeface="宋体" panose="02010600030101010101" pitchFamily="2" charset="-122"/>
            </a:endParaRPr>
          </a:p>
        </p:txBody>
      </p:sp>
      <p:sp>
        <p:nvSpPr>
          <p:cNvPr id="34818" name="Rectangle 4"/>
          <p:cNvSpPr>
            <a:spLocks noGrp="1"/>
          </p:cNvSpPr>
          <p:nvPr>
            <p:ph type="title"/>
          </p:nvPr>
        </p:nvSpPr>
        <p:spPr>
          <a:xfrm>
            <a:off x="1042988" y="549275"/>
            <a:ext cx="5184775" cy="649288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3600" b="1" dirty="0"/>
              <a:t>第</a:t>
            </a:r>
            <a:r>
              <a:rPr lang="en-US" altLang="zh-CN" sz="3600" b="1" dirty="0"/>
              <a:t>6</a:t>
            </a:r>
            <a:r>
              <a:rPr lang="zh-CN" altLang="en-US" sz="3600" b="1" dirty="0"/>
              <a:t>章 关系数据理论</a:t>
            </a:r>
            <a:endParaRPr lang="zh-CN" altLang="en-US" sz="3600" b="1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1" name="Rectangle 2"/>
          <p:cNvSpPr>
            <a:spLocks noGrp="1"/>
          </p:cNvSpPr>
          <p:nvPr>
            <p:ph type="title"/>
          </p:nvPr>
        </p:nvSpPr>
        <p:spPr>
          <a:xfrm>
            <a:off x="755650" y="476250"/>
            <a:ext cx="8229600" cy="884238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3600" b="1" dirty="0">
                <a:latin typeface="宋体" panose="02010600030101010101" pitchFamily="2" charset="-122"/>
              </a:rPr>
              <a:t>第</a:t>
            </a:r>
            <a:r>
              <a:rPr lang="en-US" altLang="zh-CN" sz="3600" b="1" dirty="0">
                <a:latin typeface="宋体" panose="02010600030101010101" pitchFamily="2" charset="-122"/>
              </a:rPr>
              <a:t>6</a:t>
            </a:r>
            <a:r>
              <a:rPr lang="zh-CN" altLang="en-US" sz="3600" b="1" dirty="0">
                <a:latin typeface="宋体" panose="02010600030101010101" pitchFamily="2" charset="-122"/>
              </a:rPr>
              <a:t>章 关系数据理论</a:t>
            </a:r>
            <a:endParaRPr lang="zh-CN" altLang="en-US" sz="3600" b="1" dirty="0">
              <a:latin typeface="宋体" panose="02010600030101010101" pitchFamily="2" charset="-122"/>
            </a:endParaRP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>
          <a:xfrm>
            <a:off x="539750" y="1773238"/>
            <a:ext cx="8077200" cy="3455988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1" indent="-342900" algn="l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ea"/>
              </a:rPr>
              <a:t>4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ea"/>
              </a:rPr>
              <a:t>、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（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X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）</a:t>
            </a:r>
            <a:r>
              <a:rPr kumimoji="0" lang="en-US" altLang="zh-CN" sz="2800" b="1" i="1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F</a:t>
            </a:r>
            <a:r>
              <a:rPr kumimoji="0" lang="en-US" altLang="zh-CN" sz="2800" b="1" i="1" u="none" strike="noStrike" kern="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+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的求解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  <a:p>
            <a:pPr marL="533400" marR="0" lvl="0" indent="-5334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例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1] 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已知关系模式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&lt;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&gt;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，其中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1" indent="-4572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U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={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A</a:t>
            </a:r>
            <a:r>
              <a:rPr kumimoji="0" lang="zh-CN" altLang="en-US" sz="28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，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B</a:t>
            </a:r>
            <a:r>
              <a:rPr kumimoji="0" lang="zh-CN" altLang="en-US" sz="28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，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C</a:t>
            </a:r>
            <a:r>
              <a:rPr kumimoji="0" lang="zh-CN" altLang="en-US" sz="28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，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D</a:t>
            </a:r>
            <a:r>
              <a:rPr kumimoji="0" lang="zh-CN" altLang="en-US" sz="28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，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E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}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；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</a:endParaRPr>
          </a:p>
          <a:p>
            <a:pPr marL="914400" marR="0" lvl="1" indent="-4572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F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={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AB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→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C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，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B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→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D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，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C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→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E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，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EC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→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B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，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AC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→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B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}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。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</a:endParaRPr>
          </a:p>
          <a:p>
            <a:pPr marL="914400" marR="0" lvl="1" indent="-4572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求（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AB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）</a:t>
            </a:r>
            <a:r>
              <a:rPr kumimoji="0" lang="en-US" altLang="zh-CN" sz="2800" b="1" i="1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F</a:t>
            </a:r>
            <a:r>
              <a:rPr kumimoji="0" lang="en-US" altLang="zh-CN" sz="2800" b="1" i="1" u="none" strike="noStrike" kern="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+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。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Ø"/>
              <a:defRPr/>
            </a:pP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215900" y="1196975"/>
            <a:ext cx="8712200" cy="57705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indent="266700" algn="just" defTabSz="914400" eaLnBrk="0" hangingPunct="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zh-CN" altLang="zh-CN" kern="1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某高校运动会管理系统数据库包含以下对象：运动员、所在系、比赛项目、成绩、比赛主管，运动员用</a:t>
            </a:r>
            <a:r>
              <a:rPr kumimoji="0" lang="en-US" altLang="zh-CN" kern="1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Sno</a:t>
            </a:r>
            <a:r>
              <a:rPr kumimoji="0" lang="zh-CN" altLang="zh-CN" kern="1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描述，所在系用</a:t>
            </a:r>
            <a:r>
              <a:rPr kumimoji="0" lang="en-US" altLang="zh-CN" kern="100" cap="none" spc="0" normalizeH="0" baseline="0" noProof="0" dirty="0" err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Sdept</a:t>
            </a:r>
            <a:r>
              <a:rPr kumimoji="0" lang="zh-CN" altLang="zh-CN" kern="1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来描述，比赛项目用</a:t>
            </a:r>
            <a:r>
              <a:rPr kumimoji="0" lang="en-US" altLang="zh-CN" kern="1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Event</a:t>
            </a:r>
            <a:r>
              <a:rPr kumimoji="0" lang="zh-CN" altLang="zh-CN" kern="1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描述，成绩用</a:t>
            </a:r>
            <a:r>
              <a:rPr kumimoji="0" lang="en-US" altLang="zh-CN" kern="1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Grade</a:t>
            </a:r>
            <a:r>
              <a:rPr kumimoji="0" lang="zh-CN" altLang="zh-CN" kern="1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描述，比赛主管用</a:t>
            </a:r>
            <a:r>
              <a:rPr kumimoji="0" lang="en-US" altLang="zh-CN" kern="100" cap="none" spc="0" normalizeH="0" baseline="0" noProof="0" dirty="0" err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Tname</a:t>
            </a:r>
            <a:r>
              <a:rPr kumimoji="0" lang="zh-CN" altLang="zh-CN" kern="1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描述。现用一个单一的关系模式</a:t>
            </a:r>
            <a:r>
              <a:rPr kumimoji="0" lang="en-US" altLang="zh-CN" kern="1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Sports( Sno</a:t>
            </a:r>
            <a:r>
              <a:rPr kumimoji="0" lang="zh-CN" altLang="zh-CN" kern="1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</a:t>
            </a:r>
            <a:r>
              <a:rPr kumimoji="0" lang="en-US" altLang="zh-CN" kern="100" cap="none" spc="0" normalizeH="0" baseline="0" noProof="0" dirty="0" err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Sdept</a:t>
            </a:r>
            <a:r>
              <a:rPr kumimoji="0" lang="zh-CN" altLang="zh-CN" kern="1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</a:t>
            </a:r>
            <a:r>
              <a:rPr kumimoji="0" lang="en-US" altLang="zh-CN" kern="1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Event</a:t>
            </a:r>
            <a:r>
              <a:rPr kumimoji="0" lang="zh-CN" altLang="zh-CN" kern="1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</a:t>
            </a:r>
            <a:r>
              <a:rPr kumimoji="0" lang="en-US" altLang="zh-CN" kern="1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Grade</a:t>
            </a:r>
            <a:r>
              <a:rPr kumimoji="0" lang="zh-CN" altLang="zh-CN" kern="1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</a:t>
            </a:r>
            <a:r>
              <a:rPr kumimoji="0" lang="en-US" altLang="zh-CN" kern="1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kern="100" cap="none" spc="0" normalizeH="0" baseline="0" noProof="0" dirty="0" err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Tname</a:t>
            </a:r>
            <a:r>
              <a:rPr kumimoji="0" lang="en-US" altLang="zh-CN" kern="1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  <a:r>
              <a:rPr kumimoji="0" lang="zh-CN" altLang="zh-CN" kern="1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来表示。</a:t>
            </a:r>
            <a:endParaRPr kumimoji="0" lang="zh-CN" altLang="zh-CN" kern="100" cap="none" spc="0" normalizeH="0" baseline="0" noProof="0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R="0" indent="266700" algn="just" defTabSz="914400" eaLnBrk="0" hangingPunct="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zh-CN" altLang="zh-CN" kern="1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其语义为：</a:t>
            </a:r>
            <a:endParaRPr kumimoji="0" lang="zh-CN" altLang="zh-CN" kern="100" cap="none" spc="0" normalizeH="0" baseline="0" noProof="0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R="0" indent="266700" algn="just" defTabSz="914400" eaLnBrk="0" hangingPunct="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zh-CN" altLang="zh-CN" kern="1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每名运动员只属于一个系，每个系有多名运动员；</a:t>
            </a:r>
            <a:endParaRPr kumimoji="0" lang="zh-CN" altLang="zh-CN" kern="100" cap="none" spc="0" normalizeH="0" baseline="0" noProof="0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R="0" indent="266700" algn="just" defTabSz="914400" eaLnBrk="0" hangingPunct="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zh-CN" altLang="zh-CN" kern="1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每个运动员可以参加多个比赛项目，每个比赛项目也可有多名运动员参加；</a:t>
            </a:r>
            <a:endParaRPr kumimoji="0" lang="zh-CN" altLang="zh-CN" kern="100" cap="none" spc="0" normalizeH="0" baseline="0" noProof="0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R="0" indent="266700" algn="just" defTabSz="914400" eaLnBrk="0" hangingPunct="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zh-CN" altLang="zh-CN" kern="1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每个运动员参加某一个比赛项目，有唯一的成绩；</a:t>
            </a:r>
            <a:endParaRPr kumimoji="0" lang="zh-CN" altLang="zh-CN" kern="100" cap="none" spc="0" normalizeH="0" baseline="0" noProof="0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R="0" indent="266700" algn="just" defTabSz="914400" eaLnBrk="0" hangingPunct="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zh-CN" altLang="zh-CN" kern="1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每个比赛项目只有一名比赛主管，一名比赛主管可以负责多个比赛项目。</a:t>
            </a:r>
            <a:endParaRPr kumimoji="0" lang="zh-CN" altLang="zh-CN" kern="100" cap="none" spc="0" normalizeH="0" baseline="0" noProof="0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R="0" indent="266700" algn="just" defTabSz="914400" eaLnBrk="0" hangingPunct="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zh-CN" altLang="zh-CN" kern="1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回答以下问题：</a:t>
            </a:r>
            <a:endParaRPr kumimoji="0" lang="zh-CN" altLang="zh-CN" kern="100" cap="none" spc="0" normalizeH="0" baseline="0" noProof="0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R="0" indent="266700" algn="just" defTabSz="914400" eaLnBrk="0" hangingPunct="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zh-CN" altLang="zh-CN" kern="1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kern="1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zh-CN" altLang="zh-CN" kern="1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）根据上述语义写出关系模式</a:t>
            </a:r>
            <a:r>
              <a:rPr kumimoji="0" lang="en-US" altLang="zh-CN" kern="1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Sports</a:t>
            </a:r>
            <a:r>
              <a:rPr kumimoji="0" lang="zh-CN" altLang="zh-CN" kern="1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的基本函数依赖；</a:t>
            </a:r>
            <a:endParaRPr kumimoji="0" lang="en-US" altLang="zh-CN" kern="100" cap="none" spc="0" normalizeH="0" baseline="0" noProof="0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R="0" indent="266700" algn="just" defTabSz="914400" eaLnBrk="0" hangingPunct="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zh-CN" altLang="zh-CN" kern="1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kern="1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zh-CN" altLang="zh-CN" kern="1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）找出关系模式</a:t>
            </a:r>
            <a:r>
              <a:rPr kumimoji="0" lang="en-US" altLang="zh-CN" kern="1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Sports</a:t>
            </a:r>
            <a:r>
              <a:rPr kumimoji="0" lang="zh-CN" altLang="zh-CN" kern="1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的候选码；</a:t>
            </a:r>
            <a:endParaRPr kumimoji="0" lang="zh-CN" altLang="zh-CN" kern="100" cap="none" spc="0" normalizeH="0" baseline="0" noProof="0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R="0" indent="266700" algn="just" defTabSz="914400" eaLnBrk="0" hangingPunct="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zh-CN" altLang="zh-CN" kern="1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kern="1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</a:t>
            </a:r>
            <a:r>
              <a:rPr kumimoji="0" lang="zh-CN" altLang="zh-CN" kern="1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）试问关系模式</a:t>
            </a:r>
            <a:r>
              <a:rPr kumimoji="0" lang="en-US" altLang="zh-CN" kern="1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Sports</a:t>
            </a:r>
            <a:r>
              <a:rPr kumimoji="0" lang="zh-CN" altLang="zh-CN" kern="1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最高已经达到第几范式？为什么？</a:t>
            </a:r>
            <a:endParaRPr kumimoji="0" lang="zh-CN" altLang="zh-CN" kern="100" cap="none" spc="0" normalizeH="0" baseline="0" noProof="0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R="0" defTabSz="914400" eaLnBrk="0" hangingPunct="0">
              <a:buClrTx/>
              <a:buSzTx/>
              <a:buFontTx/>
              <a:buNone/>
              <a:defRPr/>
            </a:pPr>
            <a:endParaRPr kumimoji="0" lang="zh-CN" altLang="en-US" kern="1200" cap="none" spc="0" normalizeH="0" baseline="0" noProof="0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7890" name="文本框 3"/>
          <p:cNvSpPr txBox="1"/>
          <p:nvPr/>
        </p:nvSpPr>
        <p:spPr>
          <a:xfrm>
            <a:off x="576263" y="1700213"/>
            <a:ext cx="8316912" cy="46101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indent="266700" algn="just" eaLnBrk="0" hangingPunct="0">
              <a:lnSpc>
                <a:spcPct val="150000"/>
              </a:lnSpc>
              <a:buClrTx/>
              <a:buFontTx/>
            </a:pP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设有一个单一的关系模式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S(</a:t>
            </a: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学生编号，课程，分数，教师，教室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 eaLnBrk="0" hangingPunct="0">
              <a:lnSpc>
                <a:spcPct val="150000"/>
              </a:lnSpc>
              <a:buClrTx/>
              <a:buFontTx/>
            </a:pP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规定：用</a:t>
            </a:r>
            <a:r>
              <a:rPr lang="en-US" altLang="zh-CN" dirty="0" err="1">
                <a:latin typeface="Times New Roman" panose="02020603050405020304" pitchFamily="18" charset="0"/>
                <a:ea typeface="宋体" panose="02010600030101010101" pitchFamily="2" charset="-122"/>
              </a:rPr>
              <a:t>sno</a:t>
            </a: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表示学生编号，</a:t>
            </a:r>
            <a:r>
              <a:rPr lang="en-US" altLang="zh-CN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cno</a:t>
            </a: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表示课程，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grade</a:t>
            </a: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表示分数，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teacher</a:t>
            </a: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表示教师，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room</a:t>
            </a: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表示教室。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 eaLnBrk="0" hangingPunct="0">
              <a:lnSpc>
                <a:spcPct val="150000"/>
              </a:lnSpc>
              <a:buClrTx/>
              <a:buFontTx/>
            </a:pP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其语义为：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 eaLnBrk="0" hangingPunct="0">
              <a:lnSpc>
                <a:spcPct val="150000"/>
              </a:lnSpc>
              <a:buClrTx/>
              <a:buFontTx/>
            </a:pP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每个学生每学习一门课程，只有一个分数；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 eaLnBrk="0" hangingPunct="0">
              <a:lnSpc>
                <a:spcPct val="150000"/>
              </a:lnSpc>
              <a:buClrTx/>
              <a:buFontTx/>
            </a:pP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每门课程只有一名授课教师；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 eaLnBrk="0" hangingPunct="0">
              <a:lnSpc>
                <a:spcPct val="150000"/>
              </a:lnSpc>
              <a:buClrTx/>
              <a:buFontTx/>
            </a:pP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每个教师只在一个教室授课。 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 eaLnBrk="0" hangingPunct="0">
              <a:lnSpc>
                <a:spcPct val="150000"/>
              </a:lnSpc>
              <a:buClrTx/>
              <a:buFontTx/>
            </a:pP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回答以下问题：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 eaLnBrk="0" hangingPunct="0">
              <a:lnSpc>
                <a:spcPct val="150000"/>
              </a:lnSpc>
              <a:buClrTx/>
              <a:buFontTx/>
            </a:pP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）根据上述语义写出关系模式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S</a:t>
            </a: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的基本函数依赖；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 eaLnBrk="0" hangingPunct="0">
              <a:lnSpc>
                <a:spcPct val="150000"/>
              </a:lnSpc>
              <a:buClrTx/>
              <a:buFontTx/>
            </a:pP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）找出关系模式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S</a:t>
            </a: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的候选码；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 eaLnBrk="0" hangingPunct="0">
              <a:lnSpc>
                <a:spcPct val="150000"/>
              </a:lnSpc>
              <a:buClrTx/>
              <a:buFontTx/>
            </a:pP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）试问关系模式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S</a:t>
            </a: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最高已经达到第几范式？为什么？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3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1" dirty="0">
                <a:latin typeface="宋体" panose="02010600030101010101" pitchFamily="2" charset="-122"/>
              </a:rPr>
              <a:t>第</a:t>
            </a:r>
            <a:r>
              <a:rPr lang="en-US" altLang="zh-CN" b="1" dirty="0">
                <a:latin typeface="宋体" panose="02010600030101010101" pitchFamily="2" charset="-122"/>
              </a:rPr>
              <a:t>7</a:t>
            </a:r>
            <a:r>
              <a:rPr lang="zh-CN" altLang="en-US" b="1" dirty="0">
                <a:latin typeface="宋体" panose="02010600030101010101" pitchFamily="2" charset="-122"/>
              </a:rPr>
              <a:t>章 数据库设计</a:t>
            </a:r>
            <a:endParaRPr lang="zh-CN" altLang="en-US" dirty="0"/>
          </a:p>
        </p:txBody>
      </p:sp>
      <p:sp>
        <p:nvSpPr>
          <p:cNvPr id="44036" name="Rectangle 3"/>
          <p:cNvSpPr>
            <a:spLocks noGrp="1"/>
          </p:cNvSpPr>
          <p:nvPr>
            <p:ph idx="1"/>
          </p:nvPr>
        </p:nvSpPr>
        <p:spPr>
          <a:xfrm>
            <a:off x="179388" y="1557338"/>
            <a:ext cx="8280400" cy="5256212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</a:pPr>
            <a:r>
              <a:rPr lang="en-US" altLang="zh-CN" b="1" dirty="0"/>
              <a:t>1</a:t>
            </a:r>
            <a:r>
              <a:rPr lang="zh-CN" altLang="en-US" b="1" dirty="0"/>
              <a:t>、数据库的设计过程：</a:t>
            </a:r>
            <a:endParaRPr lang="zh-CN" altLang="en-US" b="1" dirty="0"/>
          </a:p>
          <a:p>
            <a:pPr lvl="1" eaLnBrk="1" hangingPunct="1">
              <a:lnSpc>
                <a:spcPct val="130000"/>
              </a:lnSpc>
            </a:pPr>
            <a:r>
              <a:rPr lang="zh-CN" altLang="en-US" sz="2400" b="1" dirty="0">
                <a:solidFill>
                  <a:srgbClr val="C00000"/>
                </a:solidFill>
              </a:rPr>
              <a:t>需求分析</a:t>
            </a:r>
            <a:endParaRPr lang="en-US" altLang="zh-CN" sz="2400" b="1" dirty="0">
              <a:solidFill>
                <a:srgbClr val="C00000"/>
              </a:solidFill>
            </a:endParaRPr>
          </a:p>
          <a:p>
            <a:pPr lvl="1" eaLnBrk="1" hangingPunct="1">
              <a:lnSpc>
                <a:spcPct val="130000"/>
              </a:lnSpc>
            </a:pPr>
            <a:r>
              <a:rPr lang="zh-CN" altLang="en-US" sz="2400" b="1" dirty="0">
                <a:solidFill>
                  <a:srgbClr val="C00000"/>
                </a:solidFill>
              </a:rPr>
              <a:t>概念结构设计</a:t>
            </a:r>
            <a:endParaRPr lang="en-US" altLang="zh-CN" sz="2400" b="1" dirty="0">
              <a:solidFill>
                <a:srgbClr val="C00000"/>
              </a:solidFill>
            </a:endParaRPr>
          </a:p>
          <a:p>
            <a:pPr lvl="1" eaLnBrk="1" hangingPunct="1">
              <a:lnSpc>
                <a:spcPct val="130000"/>
              </a:lnSpc>
            </a:pPr>
            <a:r>
              <a:rPr lang="zh-CN" altLang="en-US" sz="2400" b="1" dirty="0">
                <a:solidFill>
                  <a:srgbClr val="C00000"/>
                </a:solidFill>
              </a:rPr>
              <a:t>逻辑结构设计</a:t>
            </a:r>
            <a:r>
              <a:rPr lang="zh-CN" altLang="en-US" sz="2400" b="1" dirty="0"/>
              <a:t>：</a:t>
            </a:r>
            <a:endParaRPr lang="en-US" altLang="zh-CN" sz="2400" b="1" dirty="0"/>
          </a:p>
          <a:p>
            <a:pPr lvl="1" eaLnBrk="1" hangingPunct="1">
              <a:lnSpc>
                <a:spcPct val="130000"/>
              </a:lnSpc>
            </a:pPr>
            <a:r>
              <a:rPr lang="zh-CN" altLang="en-US" sz="2400" b="1" dirty="0">
                <a:solidFill>
                  <a:srgbClr val="C00000"/>
                </a:solidFill>
              </a:rPr>
              <a:t>物理结构设计：</a:t>
            </a:r>
            <a:endParaRPr lang="en-US" altLang="zh-CN" sz="2400" b="1" dirty="0">
              <a:solidFill>
                <a:srgbClr val="C00000"/>
              </a:solidFill>
            </a:endParaRPr>
          </a:p>
          <a:p>
            <a:pPr lvl="1" eaLnBrk="1" hangingPunct="1">
              <a:lnSpc>
                <a:spcPct val="130000"/>
              </a:lnSpc>
            </a:pPr>
            <a:r>
              <a:rPr lang="zh-CN" altLang="en-US" sz="2400" b="1" dirty="0">
                <a:solidFill>
                  <a:srgbClr val="C00000"/>
                </a:solidFill>
              </a:rPr>
              <a:t>数据库实施</a:t>
            </a:r>
            <a:endParaRPr lang="en-US" altLang="zh-CN" sz="2400" b="1" dirty="0">
              <a:solidFill>
                <a:srgbClr val="C00000"/>
              </a:solidFill>
            </a:endParaRPr>
          </a:p>
          <a:p>
            <a:pPr lvl="1" eaLnBrk="1" hangingPunct="1">
              <a:lnSpc>
                <a:spcPct val="130000"/>
              </a:lnSpc>
            </a:pPr>
            <a:r>
              <a:rPr lang="zh-CN" altLang="en-US" sz="2400" b="1" dirty="0">
                <a:solidFill>
                  <a:srgbClr val="C00000"/>
                </a:solidFill>
              </a:rPr>
              <a:t>数据库运行和维护</a:t>
            </a:r>
            <a:endParaRPr lang="zh-CN" altLang="en-US" sz="2100" b="1" dirty="0"/>
          </a:p>
          <a:p>
            <a:pPr eaLnBrk="1" hangingPunct="1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zh-CN" sz="1800" b="1" dirty="0"/>
              <a:t>	</a:t>
            </a:r>
            <a:endParaRPr lang="en-US" altLang="zh-CN" sz="2000" b="1" dirty="0"/>
          </a:p>
          <a:p>
            <a:pPr lvl="2" eaLnBrk="1" hangingPunct="1">
              <a:lnSpc>
                <a:spcPct val="130000"/>
              </a:lnSpc>
            </a:pPr>
            <a:endParaRPr lang="zh-CN" altLang="en-US" sz="2000" b="1" dirty="0"/>
          </a:p>
          <a:p>
            <a:pPr lvl="1" eaLnBrk="1" hangingPunct="1">
              <a:lnSpc>
                <a:spcPct val="130000"/>
              </a:lnSpc>
            </a:pPr>
            <a:endParaRPr lang="zh-CN" altLang="en-US" sz="2100" b="1" dirty="0"/>
          </a:p>
          <a:p>
            <a:pPr lvl="1" eaLnBrk="1" hangingPunct="1">
              <a:lnSpc>
                <a:spcPct val="130000"/>
              </a:lnSpc>
              <a:buNone/>
            </a:pPr>
            <a:endParaRPr lang="en-US" altLang="zh-CN" sz="21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036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036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charRg st="12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4036">
                                            <p:txEl>
                                              <p:charRg st="12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4036">
                                            <p:txEl>
                                              <p:charRg st="12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charRg st="17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4036">
                                            <p:txEl>
                                              <p:charRg st="17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4036">
                                            <p:txEl>
                                              <p:charRg st="17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charRg st="24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4036">
                                            <p:txEl>
                                              <p:charRg st="24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4036">
                                            <p:txEl>
                                              <p:charRg st="24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charRg st="32" end="4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4036">
                                            <p:txEl>
                                              <p:charRg st="32" end="4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4036">
                                            <p:txEl>
                                              <p:charRg st="32" end="4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charRg st="40" end="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4036">
                                            <p:txEl>
                                              <p:charRg st="40" end="4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4036">
                                            <p:txEl>
                                              <p:charRg st="40" end="4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charRg st="46" end="5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4036">
                                            <p:txEl>
                                              <p:charRg st="46" end="5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4036">
                                            <p:txEl>
                                              <p:charRg st="46" end="5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charRg st="55" end="5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4036">
                                            <p:txEl>
                                              <p:charRg st="55" end="5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4036">
                                            <p:txEl>
                                              <p:charRg st="55" end="5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9938" name="Rectangle 2"/>
          <p:cNvSpPr>
            <a:spLocks noGrp="1"/>
          </p:cNvSpPr>
          <p:nvPr>
            <p:ph type="title"/>
          </p:nvPr>
        </p:nvSpPr>
        <p:spPr>
          <a:xfrm>
            <a:off x="971550" y="549275"/>
            <a:ext cx="4259263" cy="811213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3200" b="1" dirty="0"/>
              <a:t>第</a:t>
            </a:r>
            <a:r>
              <a:rPr lang="en-US" altLang="zh-CN" sz="3200" b="1" dirty="0"/>
              <a:t>7</a:t>
            </a:r>
            <a:r>
              <a:rPr lang="zh-CN" altLang="en-US" sz="3200" b="1" dirty="0"/>
              <a:t>章 数据库设计</a:t>
            </a:r>
            <a:endParaRPr lang="zh-CN" altLang="en-US" sz="3200" b="1" dirty="0"/>
          </a:p>
        </p:txBody>
      </p:sp>
      <p:sp>
        <p:nvSpPr>
          <p:cNvPr id="39939" name="Rectangle 3"/>
          <p:cNvSpPr>
            <a:spLocks noGrp="1"/>
          </p:cNvSpPr>
          <p:nvPr>
            <p:ph idx="1"/>
          </p:nvPr>
        </p:nvSpPr>
        <p:spPr>
          <a:xfrm>
            <a:off x="468313" y="1700213"/>
            <a:ext cx="7772400" cy="4475162"/>
          </a:xfrm>
          <a:ln/>
        </p:spPr>
        <p:txBody>
          <a:bodyPr vert="horz" wrap="square" lIns="91440" tIns="45720" rIns="91440" bIns="45720" anchor="t" anchorCtr="0"/>
          <a:p>
            <a:pPr marL="0" indent="0" eaLnBrk="1" hangingPunct="1">
              <a:spcAft>
                <a:spcPct val="30000"/>
              </a:spcAft>
              <a:buNone/>
            </a:pPr>
            <a:r>
              <a:rPr lang="en-US" altLang="zh-CN" sz="2400" b="1" dirty="0">
                <a:ea typeface="_x000B__x000C_"/>
              </a:rPr>
              <a:t>2</a:t>
            </a:r>
            <a:r>
              <a:rPr lang="zh-CN" altLang="en-US" sz="2400" b="1" dirty="0">
                <a:ea typeface="_x000B__x000C_"/>
              </a:rPr>
              <a:t>、 </a:t>
            </a:r>
            <a:endParaRPr lang="en-US" altLang="zh-CN" sz="2400" b="1" dirty="0">
              <a:ea typeface="_x000B__x000C_"/>
            </a:endParaRPr>
          </a:p>
          <a:p>
            <a:pPr marL="0" indent="0" eaLnBrk="1" hangingPunct="1">
              <a:spcAft>
                <a:spcPct val="30000"/>
              </a:spcAft>
              <a:buFont typeface="Wingdings" panose="05000000000000000000" pitchFamily="2" charset="2"/>
              <a:buChar char="ü"/>
            </a:pPr>
            <a:r>
              <a:rPr lang="zh-CN" altLang="en-US" sz="2400" b="1" dirty="0">
                <a:ea typeface="_x000B__x000C_"/>
              </a:rPr>
              <a:t>联系类型：</a:t>
            </a:r>
            <a:r>
              <a:rPr lang="en-US" altLang="zh-CN" sz="2400" b="1" dirty="0">
                <a:ea typeface="_x000B__x000C_"/>
              </a:rPr>
              <a:t>1:1</a:t>
            </a:r>
            <a:r>
              <a:rPr lang="zh-CN" altLang="en-US" sz="2400" b="1" dirty="0">
                <a:ea typeface="_x000B__x000C_"/>
              </a:rPr>
              <a:t>、</a:t>
            </a:r>
            <a:r>
              <a:rPr lang="en-US" altLang="zh-CN" sz="2400" b="1" dirty="0">
                <a:ea typeface="_x000B__x000C_"/>
              </a:rPr>
              <a:t>1:n</a:t>
            </a:r>
            <a:r>
              <a:rPr lang="zh-CN" altLang="en-US" sz="2400" b="1" dirty="0">
                <a:ea typeface="_x000B__x000C_"/>
              </a:rPr>
              <a:t>、</a:t>
            </a:r>
            <a:r>
              <a:rPr lang="en-US" altLang="zh-CN" sz="2400" b="1" dirty="0">
                <a:ea typeface="_x000B__x000C_"/>
              </a:rPr>
              <a:t>m:n</a:t>
            </a:r>
            <a:r>
              <a:rPr lang="zh-CN" altLang="en-US" sz="2400" b="1" dirty="0">
                <a:ea typeface="_x000B__x000C_"/>
              </a:rPr>
              <a:t>判断</a:t>
            </a:r>
            <a:endParaRPr lang="en-US" altLang="zh-CN" sz="2400" b="1" dirty="0">
              <a:ea typeface="_x000B__x000C_"/>
            </a:endParaRPr>
          </a:p>
          <a:p>
            <a:pPr marL="0" indent="0" eaLnBrk="1" hangingPunct="1">
              <a:spcAft>
                <a:spcPct val="30000"/>
              </a:spcAft>
              <a:buFont typeface="Wingdings" panose="05000000000000000000" pitchFamily="2" charset="2"/>
              <a:buChar char="ü"/>
            </a:pPr>
            <a:r>
              <a:rPr lang="en-US" altLang="zh-CN" sz="2400" b="1" dirty="0">
                <a:ea typeface="_x000B__x000C_"/>
              </a:rPr>
              <a:t> E-R</a:t>
            </a:r>
            <a:r>
              <a:rPr lang="zh-CN" altLang="en-US" sz="2400" b="1" dirty="0">
                <a:ea typeface="_x000B__x000C_"/>
              </a:rPr>
              <a:t>图画法：实体、联系、属性都怎么画</a:t>
            </a:r>
            <a:endParaRPr lang="en-US" altLang="zh-CN" sz="2400" b="1" dirty="0">
              <a:ea typeface="_x000B__x000C_"/>
            </a:endParaRPr>
          </a:p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altLang="zh-CN" sz="2400" b="1" dirty="0">
                <a:ea typeface="_x000B__x000C_"/>
              </a:rPr>
              <a:t> </a:t>
            </a:r>
            <a:r>
              <a:rPr lang="zh-CN" altLang="en-US" sz="2400" b="1" dirty="0">
                <a:ea typeface="_x000B__x000C_"/>
              </a:rPr>
              <a:t>向关系模型的转换：</a:t>
            </a:r>
            <a:endParaRPr lang="en-US" altLang="zh-CN" sz="2400" b="1" dirty="0">
              <a:ea typeface="_x000B__x000C_"/>
            </a:endParaRPr>
          </a:p>
          <a:p>
            <a:pPr lvl="1" eaLnBrk="1" hangingPunct="1">
              <a:buFont typeface="Arial" panose="020B0604020202020204" pitchFamily="34" charset="0"/>
              <a:buNone/>
            </a:pPr>
            <a:r>
              <a:rPr lang="en-US" altLang="zh-CN" sz="2000" b="1" dirty="0"/>
              <a:t>	</a:t>
            </a:r>
            <a:r>
              <a:rPr lang="zh-CN" altLang="en-US" sz="2000" b="1" dirty="0">
                <a:solidFill>
                  <a:srgbClr val="FF0000"/>
                </a:solidFill>
              </a:rPr>
              <a:t>一个实体型转换为一个关系模式。</a:t>
            </a:r>
            <a:endParaRPr lang="zh-CN" altLang="en-US" sz="2000" b="1" dirty="0">
              <a:solidFill>
                <a:srgbClr val="FF0000"/>
              </a:solidFill>
            </a:endParaRPr>
          </a:p>
          <a:p>
            <a:pPr lvl="1"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zh-CN" sz="2000" b="1" dirty="0">
                <a:solidFill>
                  <a:srgbClr val="FF0000"/>
                </a:solidFill>
              </a:rPr>
              <a:t>	</a:t>
            </a:r>
            <a:r>
              <a:rPr lang="zh-CN" altLang="en-US" sz="2000" b="1" dirty="0">
                <a:solidFill>
                  <a:srgbClr val="FF0000"/>
                </a:solidFill>
              </a:rPr>
              <a:t>一个</a:t>
            </a:r>
            <a:r>
              <a:rPr lang="en-US" altLang="zh-CN" sz="2000" b="1" dirty="0">
                <a:solidFill>
                  <a:srgbClr val="FF0000"/>
                </a:solidFill>
              </a:rPr>
              <a:t>m:n</a:t>
            </a:r>
            <a:r>
              <a:rPr lang="zh-CN" altLang="en-US" sz="2000" b="1" dirty="0">
                <a:solidFill>
                  <a:srgbClr val="FF0000"/>
                </a:solidFill>
              </a:rPr>
              <a:t>联系转换为一个关系模式。</a:t>
            </a:r>
            <a:endParaRPr lang="zh-CN" altLang="en-US" sz="2000" b="1" dirty="0">
              <a:solidFill>
                <a:srgbClr val="FF0000"/>
              </a:solidFill>
            </a:endParaRPr>
          </a:p>
          <a:p>
            <a:pPr lvl="1"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zh-CN" sz="2000" b="1" dirty="0">
                <a:solidFill>
                  <a:srgbClr val="FF0000"/>
                </a:solidFill>
              </a:rPr>
              <a:t>	</a:t>
            </a:r>
            <a:r>
              <a:rPr lang="zh-CN" altLang="en-US" sz="2000" b="1" dirty="0">
                <a:solidFill>
                  <a:srgbClr val="FF0000"/>
                </a:solidFill>
              </a:rPr>
              <a:t>一个</a:t>
            </a:r>
            <a:r>
              <a:rPr lang="en-US" altLang="zh-CN" sz="2000" b="1" dirty="0">
                <a:solidFill>
                  <a:srgbClr val="FF0000"/>
                </a:solidFill>
              </a:rPr>
              <a:t>1:n</a:t>
            </a:r>
            <a:r>
              <a:rPr lang="zh-CN" altLang="en-US" sz="2000" b="1" dirty="0">
                <a:solidFill>
                  <a:srgbClr val="FF0000"/>
                </a:solidFill>
              </a:rPr>
              <a:t>联系可以转换为一个独立的关系模式，也可以与</a:t>
            </a:r>
            <a:r>
              <a:rPr lang="en-US" altLang="zh-CN" sz="2000" b="1" dirty="0">
                <a:solidFill>
                  <a:srgbClr val="FF0000"/>
                </a:solidFill>
              </a:rPr>
              <a:t>n</a:t>
            </a:r>
            <a:r>
              <a:rPr lang="zh-CN" altLang="en-US" sz="2000" b="1" dirty="0">
                <a:solidFill>
                  <a:srgbClr val="FF0000"/>
                </a:solidFill>
              </a:rPr>
              <a:t>端对应的关系模式合并。</a:t>
            </a:r>
            <a:endParaRPr lang="en-US" altLang="zh-CN" sz="2000" b="1" dirty="0">
              <a:solidFill>
                <a:srgbClr val="FF0000"/>
              </a:solidFill>
            </a:endParaRPr>
          </a:p>
          <a:p>
            <a:pPr lvl="1"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sz="2000" b="1" dirty="0"/>
              <a:t>    </a:t>
            </a:r>
            <a:r>
              <a:rPr lang="zh-CN" altLang="en-US" sz="2000" b="1" dirty="0">
                <a:solidFill>
                  <a:srgbClr val="FF0000"/>
                </a:solidFill>
              </a:rPr>
              <a:t>一个</a:t>
            </a:r>
            <a:r>
              <a:rPr lang="en-US" altLang="zh-CN" sz="2000" b="1" dirty="0">
                <a:solidFill>
                  <a:srgbClr val="FF0000"/>
                </a:solidFill>
              </a:rPr>
              <a:t>1:1</a:t>
            </a:r>
            <a:r>
              <a:rPr lang="zh-CN" altLang="en-US" sz="2000" b="1" dirty="0">
                <a:solidFill>
                  <a:srgbClr val="FF0000"/>
                </a:solidFill>
              </a:rPr>
              <a:t>联系可以转换为一个独立的关系模式，也可以与任意一端对应的关系模式合并</a:t>
            </a:r>
            <a:endParaRPr lang="zh-CN" altLang="en-US" sz="2000" b="1" dirty="0">
              <a:solidFill>
                <a:srgbClr val="FF0000"/>
              </a:solidFill>
            </a:endParaRPr>
          </a:p>
          <a:p>
            <a:pPr marL="0" indent="0" eaLnBrk="1" hangingPunct="1">
              <a:spcAft>
                <a:spcPct val="30000"/>
              </a:spcAft>
              <a:buNone/>
            </a:pPr>
            <a:endParaRPr lang="zh-CN" altLang="en-US" sz="2400" b="1" dirty="0">
              <a:ea typeface="_x000B__x000C_"/>
            </a:endParaRPr>
          </a:p>
          <a:p>
            <a:pPr marL="0" indent="0" eaLnBrk="1" hangingPunct="1">
              <a:buFont typeface="Wingdings" panose="05000000000000000000" pitchFamily="2" charset="2"/>
              <a:buChar char="Ø"/>
            </a:pPr>
            <a:endParaRPr lang="en-US" altLang="zh-CN" sz="2400" b="1" dirty="0">
              <a:ea typeface="_x000B__x000C_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0962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b="1" dirty="0"/>
              <a:t>E-R</a:t>
            </a:r>
            <a:r>
              <a:rPr lang="zh-CN" altLang="en-US" b="1" dirty="0"/>
              <a:t>图向关系模型的转换（续）</a:t>
            </a:r>
            <a:endParaRPr lang="zh-CN" altLang="en-US" b="1" dirty="0"/>
          </a:p>
        </p:txBody>
      </p:sp>
      <p:sp>
        <p:nvSpPr>
          <p:cNvPr id="2" name="文本框 1"/>
          <p:cNvSpPr txBox="1"/>
          <p:nvPr/>
        </p:nvSpPr>
        <p:spPr>
          <a:xfrm>
            <a:off x="398463" y="1828800"/>
            <a:ext cx="8347075" cy="49403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indent="266700" algn="just" defTabSz="914400" eaLnBrk="0" hangingPunct="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zh-CN" altLang="zh-CN" kern="1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某教学系统数据库有三个实体集，一是“学生”实体集，属性有学号、姓名；二是“课程”实体集，属性有课号，课称名；三是“教师”实体集，属性有职工号、教师名、职称。若我们约定语义为</a:t>
            </a:r>
            <a:r>
              <a:rPr kumimoji="0" lang="en-US" altLang="zh-CN" kern="1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:</a:t>
            </a:r>
            <a:endParaRPr kumimoji="0" lang="zh-CN" altLang="zh-CN" kern="100" cap="none" spc="0" normalizeH="0" baseline="0" noProof="0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R="0" indent="266700" algn="just" defTabSz="914400" eaLnBrk="0" hangingPunct="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zh-CN" altLang="zh-CN" kern="1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每名学生选修若干门课程，每门课程也可被多名学生选修，每名学生每选一门课有一个成绩；</a:t>
            </a:r>
            <a:endParaRPr kumimoji="0" lang="zh-CN" altLang="zh-CN" kern="100" cap="none" spc="0" normalizeH="0" baseline="0" noProof="0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R="0" indent="266700" algn="just" defTabSz="914400" eaLnBrk="0" hangingPunct="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zh-CN" altLang="zh-CN" kern="1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每名教师讲授多门课程，每门课程只能由一名教师任教，每名教师讲授每门课程有一个授课地点。</a:t>
            </a:r>
            <a:endParaRPr kumimoji="0" lang="zh-CN" altLang="zh-CN" kern="100" cap="none" spc="0" normalizeH="0" baseline="0" noProof="0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R="0" indent="266700" algn="just" defTabSz="914400" eaLnBrk="0" hangingPunct="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zh-CN" altLang="zh-CN" kern="10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要求：</a:t>
            </a:r>
            <a:endParaRPr kumimoji="0" lang="zh-CN" altLang="zh-CN" kern="100" cap="none" spc="0" normalizeH="0" baseline="0" noProof="0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R="0" algn="just" defTabSz="914400" eaLnBrk="0" hangingPunct="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zh-CN" altLang="zh-CN" kern="1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kern="1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zh-CN" altLang="zh-CN" kern="1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</a:t>
            </a:r>
            <a:r>
              <a:rPr kumimoji="0" lang="zh-CN" altLang="zh-CN" kern="10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根据上述语义画出</a:t>
            </a:r>
            <a:r>
              <a:rPr kumimoji="0" lang="en-US" altLang="zh-CN" kern="10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E-R</a:t>
            </a:r>
            <a:r>
              <a:rPr kumimoji="0" lang="zh-CN" altLang="zh-CN" kern="10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图，要求图中画出实体及联系的属性并注明联系的</a:t>
            </a:r>
            <a:r>
              <a:rPr kumimoji="0" lang="zh-CN" altLang="zh-CN" kern="100" cap="none" spc="0" normalizeH="0" baseline="0" noProof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类型；</a:t>
            </a:r>
            <a:endParaRPr kumimoji="0" lang="zh-CN" altLang="zh-CN" kern="100" cap="none" spc="0" normalizeH="0" baseline="0" noProof="0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R="0" algn="just" defTabSz="914400" eaLnBrk="0" hangingPunct="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zh-CN" altLang="zh-CN" kern="1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kern="1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zh-CN" altLang="zh-CN" kern="1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）将上述</a:t>
            </a:r>
            <a:r>
              <a:rPr kumimoji="0" lang="en-US" altLang="zh-CN" kern="1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E-R</a:t>
            </a:r>
            <a:r>
              <a:rPr kumimoji="0" lang="zh-CN" altLang="zh-CN" kern="1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图转换成对应的关系模式，并注明主码；</a:t>
            </a:r>
            <a:endParaRPr kumimoji="0" lang="zh-CN" altLang="zh-CN" kern="100" cap="none" spc="0" normalizeH="0" baseline="0" noProof="0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R="0" defTabSz="914400" eaLnBrk="0" hangingPunct="0">
              <a:buClrTx/>
              <a:buSzTx/>
              <a:buFontTx/>
              <a:buNone/>
              <a:defRPr/>
            </a:pPr>
            <a:endParaRPr kumimoji="0" lang="zh-CN" altLang="en-US" kern="1200" cap="none" spc="0" normalizeH="0" baseline="0" noProof="0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577850" y="1412875"/>
            <a:ext cx="7988300" cy="50260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indent="266700" algn="just" defTabSz="914400" eaLnBrk="0" hangingPunct="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zh-CN" altLang="zh-CN" kern="1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设某商业集团数据库中有三个实体集，一是“供应商”实体集，属性有供应商编号、供应商名、供应商地址；二是“商品”实体集，属性有商品编号、商品名、商品单价；三是“超市”实体集，属性有超市编号、超市名、超市地址。语义为：</a:t>
            </a:r>
            <a:endParaRPr kumimoji="0" lang="zh-CN" altLang="zh-CN" kern="100" cap="none" spc="0" normalizeH="0" baseline="0" noProof="0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R="0" indent="266700" algn="just" defTabSz="914400" eaLnBrk="0" hangingPunct="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zh-CN" altLang="zh-CN" kern="1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一个供应商可供应多种商品，一种商品也可由多个供应商供应，供应商供应商品有供应数量；</a:t>
            </a:r>
            <a:endParaRPr kumimoji="0" lang="zh-CN" altLang="zh-CN" kern="100" cap="none" spc="0" normalizeH="0" baseline="0" noProof="0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R="0" indent="266700" algn="just" defTabSz="914400" eaLnBrk="0" hangingPunct="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zh-CN" altLang="zh-CN" kern="1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一家超市可销售多种商品，每种商品也可在多家超市销售，超市销售商品有月销售量。</a:t>
            </a:r>
            <a:endParaRPr kumimoji="0" lang="zh-CN" altLang="zh-CN" kern="100" cap="none" spc="0" normalizeH="0" baseline="0" noProof="0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R="0" indent="266700" algn="just" defTabSz="914400" eaLnBrk="0" hangingPunct="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zh-CN" altLang="zh-CN" kern="1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要求：</a:t>
            </a:r>
            <a:endParaRPr kumimoji="0" lang="zh-CN" altLang="zh-CN" kern="100" cap="none" spc="0" normalizeH="0" baseline="0" noProof="0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R="0" algn="just" defTabSz="914400" eaLnBrk="0" hangingPunct="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zh-CN" altLang="zh-CN" kern="1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kern="1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zh-CN" altLang="zh-CN" kern="1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）根据上述语义画出</a:t>
            </a:r>
            <a:r>
              <a:rPr kumimoji="0" lang="en-US" altLang="zh-CN" kern="1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E-R</a:t>
            </a:r>
            <a:r>
              <a:rPr kumimoji="0" lang="zh-CN" altLang="zh-CN" kern="1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图，要求图中画出实体及联系的属性并注明联系的类型；</a:t>
            </a:r>
            <a:endParaRPr kumimoji="0" lang="zh-CN" altLang="zh-CN" kern="100" cap="none" spc="0" normalizeH="0" baseline="0" noProof="0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R="0" algn="just" defTabSz="914400" eaLnBrk="0" hangingPunct="0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zh-CN" altLang="zh-CN" kern="1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kern="1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zh-CN" altLang="zh-CN" kern="1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）将上述</a:t>
            </a:r>
            <a:r>
              <a:rPr kumimoji="0" lang="en-US" altLang="zh-CN" kern="1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E-R</a:t>
            </a:r>
            <a:r>
              <a:rPr kumimoji="0" lang="zh-CN" altLang="zh-CN" kern="1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图转换成对应的关系模式，并注明主码；</a:t>
            </a:r>
            <a:endParaRPr kumimoji="0" lang="zh-CN" altLang="zh-CN" kern="100" cap="none" spc="0" normalizeH="0" baseline="0" noProof="0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3010" name="Rectangle 3"/>
          <p:cNvSpPr>
            <a:spLocks noGrp="1"/>
          </p:cNvSpPr>
          <p:nvPr>
            <p:ph idx="1"/>
          </p:nvPr>
        </p:nvSpPr>
        <p:spPr>
          <a:xfrm>
            <a:off x="250825" y="1557338"/>
            <a:ext cx="8605838" cy="4176712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45000"/>
              </a:lnSpc>
              <a:buNone/>
            </a:pPr>
            <a:r>
              <a:rPr lang="en-US" altLang="zh-CN" sz="2600" b="1" dirty="0"/>
              <a:t>1.</a:t>
            </a:r>
            <a:r>
              <a:rPr lang="zh-CN" altLang="en-US" sz="2600" b="1" dirty="0"/>
              <a:t>事务定义</a:t>
            </a:r>
            <a:endParaRPr lang="en-US" altLang="zh-CN" sz="2600" b="1" dirty="0"/>
          </a:p>
          <a:p>
            <a:pPr eaLnBrk="1" hangingPunct="1">
              <a:lnSpc>
                <a:spcPct val="145000"/>
              </a:lnSpc>
              <a:buNone/>
            </a:pPr>
            <a:r>
              <a:rPr lang="zh-CN" altLang="en-US" sz="2600" b="1" dirty="0"/>
              <a:t>  事务特征：原子性、一致性、隔离性、持续性，其含义</a:t>
            </a:r>
            <a:endParaRPr lang="en-US" altLang="zh-CN" sz="2600" b="1" dirty="0"/>
          </a:p>
          <a:p>
            <a:pPr eaLnBrk="1" hangingPunct="1">
              <a:lnSpc>
                <a:spcPct val="145000"/>
              </a:lnSpc>
              <a:buNone/>
            </a:pPr>
            <a:r>
              <a:rPr lang="en-US" altLang="zh-CN" sz="2600" b="1" dirty="0"/>
              <a:t>2.</a:t>
            </a:r>
            <a:r>
              <a:rPr lang="zh-CN" altLang="zh-CN" sz="2600" b="1" dirty="0"/>
              <a:t>数据库系统中可能发生的故障大致可以分为哪几类？</a:t>
            </a:r>
            <a:endParaRPr lang="en-US" altLang="zh-CN" sz="2600" b="1" dirty="0"/>
          </a:p>
          <a:p>
            <a:pPr eaLnBrk="1" hangingPunct="1">
              <a:lnSpc>
                <a:spcPct val="145000"/>
              </a:lnSpc>
              <a:buNone/>
            </a:pPr>
            <a:r>
              <a:rPr lang="en-US" altLang="zh-CN" sz="2600" b="1" dirty="0"/>
              <a:t>  </a:t>
            </a:r>
            <a:r>
              <a:rPr lang="zh-CN" altLang="zh-CN" sz="2600" b="1" dirty="0"/>
              <a:t>简述各类故障的恢复机制</a:t>
            </a:r>
            <a:endParaRPr lang="en-US" altLang="zh-CN" sz="2600" b="1" dirty="0"/>
          </a:p>
        </p:txBody>
      </p:sp>
      <p:sp>
        <p:nvSpPr>
          <p:cNvPr id="43011" name="Rectangle 4"/>
          <p:cNvSpPr/>
          <p:nvPr/>
        </p:nvSpPr>
        <p:spPr>
          <a:xfrm>
            <a:off x="827088" y="476250"/>
            <a:ext cx="7489825" cy="88423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>
              <a:buClrTx/>
              <a:buFontTx/>
            </a:pPr>
            <a:r>
              <a:rPr lang="zh-CN" altLang="en-US" sz="3600" b="1" dirty="0">
                <a:latin typeface="宋体" panose="0201060003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3600" b="1" dirty="0">
                <a:latin typeface="宋体" panose="02010600030101010101" pitchFamily="2" charset="-122"/>
                <a:ea typeface="宋体" panose="02010600030101010101" pitchFamily="2" charset="-122"/>
              </a:rPr>
              <a:t>10</a:t>
            </a:r>
            <a:r>
              <a:rPr lang="zh-CN" altLang="en-US" sz="3600" b="1" dirty="0">
                <a:latin typeface="宋体" panose="02010600030101010101" pitchFamily="2" charset="-122"/>
                <a:ea typeface="宋体" panose="02010600030101010101" pitchFamily="2" charset="-122"/>
              </a:rPr>
              <a:t>章  数据库保护</a:t>
            </a:r>
            <a:r>
              <a:rPr lang="en-US" altLang="zh-CN" sz="3600" b="1" dirty="0">
                <a:latin typeface="宋体" panose="02010600030101010101" pitchFamily="2" charset="-122"/>
                <a:ea typeface="宋体" panose="02010600030101010101" pitchFamily="2" charset="-122"/>
              </a:rPr>
              <a:t>—</a:t>
            </a:r>
            <a:r>
              <a:rPr lang="zh-CN" altLang="en-US" sz="3600" b="1" dirty="0">
                <a:latin typeface="宋体" panose="02010600030101010101" pitchFamily="2" charset="-122"/>
                <a:ea typeface="宋体" panose="02010600030101010101" pitchFamily="2" charset="-122"/>
              </a:rPr>
              <a:t>恢复技术</a:t>
            </a:r>
            <a:endParaRPr lang="zh-CN" altLang="en-US" sz="3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44033" name="Rectangle 2"/>
          <p:cNvSpPr>
            <a:spLocks noGrp="1"/>
          </p:cNvSpPr>
          <p:nvPr>
            <p:ph type="title"/>
          </p:nvPr>
        </p:nvSpPr>
        <p:spPr>
          <a:xfrm>
            <a:off x="971550" y="476250"/>
            <a:ext cx="4762500" cy="739775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2800" b="1" dirty="0"/>
              <a:t>事务故障的恢复</a:t>
            </a:r>
            <a:endParaRPr lang="zh-CN" altLang="en-US" sz="2800" b="1" dirty="0"/>
          </a:p>
        </p:txBody>
      </p:sp>
      <p:sp>
        <p:nvSpPr>
          <p:cNvPr id="44034" name="Rectangle 3"/>
          <p:cNvSpPr>
            <a:spLocks noGrp="1"/>
          </p:cNvSpPr>
          <p:nvPr>
            <p:ph idx="1"/>
          </p:nvPr>
        </p:nvSpPr>
        <p:spPr>
          <a:xfrm>
            <a:off x="539750" y="1700213"/>
            <a:ext cx="7715250" cy="295275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  <a:buSzTx/>
              <a:buNone/>
            </a:pPr>
            <a:r>
              <a:rPr lang="zh-CN" altLang="en-US" sz="2400" b="1" dirty="0"/>
              <a:t>事务故障：事务在运行至正常终止点前被中止</a:t>
            </a:r>
            <a:endParaRPr lang="zh-CN" altLang="en-US" sz="2400" b="1" dirty="0"/>
          </a:p>
          <a:p>
            <a:pPr eaLnBrk="1" hangingPunct="1">
              <a:lnSpc>
                <a:spcPct val="120000"/>
              </a:lnSpc>
              <a:buSzTx/>
              <a:buNone/>
            </a:pPr>
            <a:r>
              <a:rPr lang="zh-CN" altLang="en-US" sz="2400" b="1" dirty="0"/>
              <a:t>恢复方法</a:t>
            </a:r>
            <a:endParaRPr lang="zh-CN" altLang="en-US" sz="2400" b="1" dirty="0"/>
          </a:p>
          <a:p>
            <a:pPr lvl="1" eaLnBrk="1" hangingPunct="1">
              <a:lnSpc>
                <a:spcPct val="120000"/>
              </a:lnSpc>
              <a:buSzTx/>
              <a:buNone/>
            </a:pPr>
            <a:r>
              <a:rPr lang="zh-CN" altLang="en-US" sz="2400" b="1" dirty="0"/>
              <a:t>由恢复子系统应利用日志文件撤消（</a:t>
            </a:r>
            <a:r>
              <a:rPr lang="en-US" altLang="zh-CN" sz="2400" b="1" dirty="0"/>
              <a:t>UNDO</a:t>
            </a:r>
            <a:r>
              <a:rPr lang="zh-CN" altLang="en-US" sz="2400" b="1" dirty="0"/>
              <a:t>）此事务已对数据库进行的修改</a:t>
            </a:r>
            <a:endParaRPr lang="zh-CN" altLang="en-US" sz="2400" b="1" dirty="0"/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46081" name="Rectangle 2"/>
          <p:cNvSpPr>
            <a:spLocks noGrp="1"/>
          </p:cNvSpPr>
          <p:nvPr>
            <p:ph type="title"/>
          </p:nvPr>
        </p:nvSpPr>
        <p:spPr>
          <a:xfrm>
            <a:off x="1187450" y="476250"/>
            <a:ext cx="5256213" cy="955675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3200" b="1" dirty="0"/>
              <a:t>系统故障的恢复</a:t>
            </a:r>
            <a:endParaRPr lang="zh-CN" altLang="en-US" sz="3200" b="1" dirty="0"/>
          </a:p>
        </p:txBody>
      </p:sp>
      <p:sp>
        <p:nvSpPr>
          <p:cNvPr id="46082" name="Rectangle 3"/>
          <p:cNvSpPr>
            <a:spLocks noGrp="1"/>
          </p:cNvSpPr>
          <p:nvPr>
            <p:ph idx="1"/>
          </p:nvPr>
        </p:nvSpPr>
        <p:spPr>
          <a:xfrm>
            <a:off x="539750" y="1773238"/>
            <a:ext cx="8077200" cy="3532187"/>
          </a:xfrm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sz="2400" b="1" dirty="0"/>
              <a:t>恢复方法</a:t>
            </a:r>
            <a:endParaRPr lang="zh-CN" altLang="en-US" sz="2400" b="1" dirty="0"/>
          </a:p>
          <a:p>
            <a:pPr lvl="1" eaLnBrk="1" hangingPunct="1"/>
            <a:r>
              <a:rPr lang="en-US" altLang="zh-CN" sz="2400" b="1" dirty="0"/>
              <a:t>1. Undo </a:t>
            </a:r>
            <a:r>
              <a:rPr lang="zh-CN" altLang="en-US" sz="2400" b="1" dirty="0"/>
              <a:t>故障发生时未完成的事务</a:t>
            </a:r>
            <a:endParaRPr lang="zh-CN" altLang="en-US" sz="2400" b="1" dirty="0"/>
          </a:p>
          <a:p>
            <a:pPr lvl="1" eaLnBrk="1" hangingPunct="1"/>
            <a:r>
              <a:rPr lang="en-US" altLang="zh-CN" sz="2400" b="1" dirty="0"/>
              <a:t>2. Redo </a:t>
            </a:r>
            <a:r>
              <a:rPr lang="zh-CN" altLang="en-US" sz="2400" b="1" dirty="0"/>
              <a:t>已完成的事务</a:t>
            </a:r>
            <a:endParaRPr lang="zh-CN" altLang="en-US" sz="2400" b="1" dirty="0"/>
          </a:p>
        </p:txBody>
      </p:sp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29" name="Rectangle 2"/>
          <p:cNvSpPr>
            <a:spLocks noGrp="1"/>
          </p:cNvSpPr>
          <p:nvPr>
            <p:ph type="title"/>
          </p:nvPr>
        </p:nvSpPr>
        <p:spPr>
          <a:xfrm>
            <a:off x="900113" y="476250"/>
            <a:ext cx="5338762" cy="739775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3200" b="1" dirty="0"/>
              <a:t>介质故障的恢复</a:t>
            </a:r>
            <a:endParaRPr lang="zh-CN" altLang="en-US" sz="3200" b="1" dirty="0"/>
          </a:p>
        </p:txBody>
      </p:sp>
      <p:sp>
        <p:nvSpPr>
          <p:cNvPr id="48130" name="Rectangle 3"/>
          <p:cNvSpPr>
            <a:spLocks noGrp="1"/>
          </p:cNvSpPr>
          <p:nvPr>
            <p:ph idx="1"/>
          </p:nvPr>
        </p:nvSpPr>
        <p:spPr>
          <a:xfrm>
            <a:off x="395288" y="1628775"/>
            <a:ext cx="8353425" cy="41148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  <a:buNone/>
            </a:pPr>
            <a:r>
              <a:rPr lang="en-US" altLang="zh-CN" sz="2400" b="1" dirty="0"/>
              <a:t>1. </a:t>
            </a:r>
            <a:r>
              <a:rPr lang="zh-CN" altLang="en-US" sz="2400" b="1" dirty="0"/>
              <a:t>重装数据库</a:t>
            </a:r>
            <a:endParaRPr lang="zh-CN" altLang="en-US" sz="2400" b="1" dirty="0"/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sz="2400" b="1" dirty="0"/>
              <a:t>    使数据库恢复到一致性状态</a:t>
            </a:r>
            <a:endParaRPr lang="zh-CN" altLang="en-US" sz="2400" b="1" dirty="0"/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400" b="1" dirty="0"/>
              <a:t>2. </a:t>
            </a:r>
            <a:r>
              <a:rPr lang="zh-CN" altLang="en-US" sz="2400" b="1" dirty="0"/>
              <a:t>重做已完成的事务</a:t>
            </a:r>
            <a:endParaRPr lang="zh-CN" altLang="en-US" sz="2400" b="1" dirty="0"/>
          </a:p>
          <a:p>
            <a:pPr eaLnBrk="1" hangingPunct="1">
              <a:lnSpc>
                <a:spcPct val="90000"/>
              </a:lnSpc>
            </a:pPr>
            <a:endParaRPr lang="zh-CN" altLang="en-US" sz="2000" b="1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7" name="Rectangle 2"/>
          <p:cNvSpPr>
            <a:spLocks noGrp="1"/>
          </p:cNvSpPr>
          <p:nvPr>
            <p:ph idx="1"/>
          </p:nvPr>
        </p:nvSpPr>
        <p:spPr>
          <a:xfrm>
            <a:off x="407988" y="1557338"/>
            <a:ext cx="8401050" cy="3984625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15000"/>
              </a:lnSpc>
              <a:buNone/>
            </a:pPr>
            <a:endParaRPr lang="en-US" altLang="zh-CN" sz="2800" b="1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buNone/>
            </a:pPr>
            <a:r>
              <a:rPr lang="en-US" altLang="zh-CN" sz="2400" b="1" dirty="0"/>
              <a:t>1</a:t>
            </a:r>
            <a:r>
              <a:rPr lang="zh-CN" altLang="en-US" sz="2400" b="1" dirty="0"/>
              <a:t>、并发操作带来的数据不一致性包括哪几类？每一类的表示方法（丢失修改、不可重复读、读脏数据）</a:t>
            </a:r>
            <a:endParaRPr lang="en-US" altLang="zh-CN" sz="2400" b="1" dirty="0"/>
          </a:p>
          <a:p>
            <a:pPr eaLnBrk="1" hangingPunct="1">
              <a:lnSpc>
                <a:spcPct val="150000"/>
              </a:lnSpc>
              <a:buNone/>
            </a:pPr>
            <a:r>
              <a:rPr lang="en-US" altLang="zh-CN" sz="2400" b="1" dirty="0"/>
              <a:t>2</a:t>
            </a:r>
            <a:r>
              <a:rPr lang="zh-CN" altLang="en-US" sz="2400" b="1" dirty="0"/>
              <a:t>、</a:t>
            </a:r>
            <a:r>
              <a:rPr lang="zh-CN" altLang="zh-CN" sz="2400" b="1" dirty="0"/>
              <a:t>基本的封锁类型有几种</a:t>
            </a:r>
            <a:r>
              <a:rPr lang="en-US" altLang="zh-CN" sz="2400" b="1" dirty="0"/>
              <a:t>?</a:t>
            </a:r>
            <a:r>
              <a:rPr lang="zh-CN" altLang="zh-CN" sz="2400" b="1" dirty="0"/>
              <a:t>试叙述它们的含义</a:t>
            </a:r>
            <a:endParaRPr lang="zh-CN" altLang="en-US" sz="2400" b="1" dirty="0"/>
          </a:p>
          <a:p>
            <a:pPr eaLnBrk="1" hangingPunct="1">
              <a:lnSpc>
                <a:spcPct val="150000"/>
              </a:lnSpc>
              <a:buNone/>
            </a:pPr>
            <a:r>
              <a:rPr lang="en-US" altLang="zh-CN" sz="2400" b="1" dirty="0"/>
              <a:t>3</a:t>
            </a:r>
            <a:r>
              <a:rPr lang="zh-CN" altLang="en-US" sz="2400" b="1" dirty="0"/>
              <a:t>、</a:t>
            </a:r>
            <a:r>
              <a:rPr lang="zh-CN" altLang="zh-CN" sz="2400" b="1" dirty="0"/>
              <a:t>数据库中死锁产生的原因和解决死锁的方法</a:t>
            </a:r>
            <a:endParaRPr lang="en-US" altLang="zh-CN" sz="2400" b="1" dirty="0"/>
          </a:p>
          <a:p>
            <a:pPr>
              <a:lnSpc>
                <a:spcPct val="115000"/>
              </a:lnSpc>
              <a:spcBef>
                <a:spcPct val="0"/>
              </a:spcBef>
              <a:buNone/>
            </a:pPr>
            <a:endParaRPr lang="en-US" altLang="zh-CN" sz="2800" b="1" dirty="0">
              <a:latin typeface="宋体" panose="02010600030101010101" pitchFamily="2" charset="-122"/>
            </a:endParaRPr>
          </a:p>
        </p:txBody>
      </p:sp>
      <p:sp>
        <p:nvSpPr>
          <p:cNvPr id="50178" name="Rectangle 3"/>
          <p:cNvSpPr/>
          <p:nvPr/>
        </p:nvSpPr>
        <p:spPr>
          <a:xfrm>
            <a:off x="971550" y="549275"/>
            <a:ext cx="7272338" cy="88423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>
              <a:buClrTx/>
              <a:buFontTx/>
            </a:pP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11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章 数据库保护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—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并发控制</a:t>
            </a:r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52610" name="Group 2"/>
          <p:cNvGraphicFramePr>
            <a:graphicFrameLocks noGrp="1"/>
          </p:cNvGraphicFramePr>
          <p:nvPr/>
        </p:nvGraphicFramePr>
        <p:xfrm>
          <a:off x="3779838" y="1722438"/>
          <a:ext cx="3313113" cy="4144963"/>
        </p:xfrm>
        <a:graphic>
          <a:graphicData uri="http://schemas.openxmlformats.org/drawingml/2006/table">
            <a:tbl>
              <a:tblPr/>
              <a:tblGrid>
                <a:gridCol w="1944652"/>
                <a:gridCol w="1368460"/>
              </a:tblGrid>
              <a:tr h="3983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r>
                        <a:rPr kumimoji="0" lang="en-US" altLang="zh-CN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20" marR="90020" marT="46775" marB="4677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r>
                        <a:rPr kumimoji="0" lang="en-US" altLang="zh-CN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0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20" marR="90020" marT="46775" marB="467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4661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① 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读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A=16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 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②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 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③ A←A-1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写回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A=15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 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④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20" marR="90020" marT="46775" marB="4677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 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 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读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A=16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 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 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 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 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A←A-1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写回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A=15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20" marR="90020" marT="46775" marB="4677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1212" name="Rectangle 13"/>
          <p:cNvSpPr/>
          <p:nvPr/>
        </p:nvSpPr>
        <p:spPr>
          <a:xfrm>
            <a:off x="3505200" y="5867400"/>
            <a:ext cx="2590800" cy="609600"/>
          </a:xfrm>
          <a:prstGeom prst="rect">
            <a:avLst/>
          </a:prstGeom>
          <a:noFill/>
          <a:ln w="28575">
            <a:noFill/>
          </a:ln>
        </p:spPr>
        <p:txBody>
          <a:bodyPr wrap="none" lIns="90000" tIns="46800" rIns="90000" bIns="46800" anchor="ctr" anchorCtr="0"/>
          <a:p>
            <a:pPr algn="ctr">
              <a:buClrTx/>
              <a:buFontTx/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(a) 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丢失修改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52225" name="Group 2"/>
          <p:cNvGrpSpPr/>
          <p:nvPr/>
        </p:nvGrpSpPr>
        <p:grpSpPr>
          <a:xfrm>
            <a:off x="2916238" y="1844675"/>
            <a:ext cx="3505200" cy="4079875"/>
            <a:chOff x="2688" y="1152"/>
            <a:chExt cx="2208" cy="2570"/>
          </a:xfrm>
        </p:grpSpPr>
        <p:sp>
          <p:nvSpPr>
            <p:cNvPr id="52226" name="Rectangle 3"/>
            <p:cNvSpPr/>
            <p:nvPr/>
          </p:nvSpPr>
          <p:spPr>
            <a:xfrm>
              <a:off x="3892" y="1402"/>
              <a:ext cx="1004" cy="2320"/>
            </a:xfrm>
            <a:prstGeom prst="rect">
              <a:avLst/>
            </a:prstGeom>
            <a:noFill/>
            <a:ln w="28575">
              <a:noFill/>
            </a:ln>
          </p:spPr>
          <p:txBody>
            <a:bodyPr lIns="90000" tIns="46800" rIns="90000" bIns="46800" anchor="t" anchorCtr="0"/>
            <a:p>
              <a: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</a:pPr>
              <a:r>
                <a:rPr lang="en-US" altLang="zh-CN" sz="2800" dirty="0">
                  <a:latin typeface="Arial" panose="020B0604020202020204" pitchFamily="34" charset="0"/>
                  <a:ea typeface="宋体" panose="02010600030101010101" pitchFamily="2" charset="-122"/>
                </a:rPr>
                <a:t> </a:t>
              </a:r>
              <a:endParaRPr lang="en-US" altLang="zh-CN" sz="2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</a:pPr>
              <a:r>
                <a:rPr lang="en-US" altLang="zh-CN" sz="2000" dirty="0">
                  <a:latin typeface="Arial" panose="020B0604020202020204" pitchFamily="34" charset="0"/>
                  <a:ea typeface="宋体" panose="02010600030101010101" pitchFamily="2" charset="-122"/>
                </a:rPr>
                <a:t> </a:t>
              </a:r>
              <a:endParaRPr lang="en-US" altLang="zh-CN" sz="2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</a:pPr>
              <a:r>
                <a:rPr lang="en-US" altLang="zh-CN" sz="2000" dirty="0">
                  <a:latin typeface="Arial" panose="020B0604020202020204" pitchFamily="34" charset="0"/>
                  <a:ea typeface="宋体" panose="02010600030101010101" pitchFamily="2" charset="-122"/>
                </a:rPr>
                <a:t> </a:t>
              </a:r>
              <a:endParaRPr lang="en-US" altLang="zh-CN" sz="2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</a:pPr>
              <a:r>
                <a:rPr lang="zh-CN" altLang="en-US" sz="2000" dirty="0">
                  <a:latin typeface="Arial" panose="020B0604020202020204" pitchFamily="34" charset="0"/>
                  <a:ea typeface="宋体" panose="02010600030101010101" pitchFamily="2" charset="-122"/>
                </a:rPr>
                <a:t>读</a:t>
              </a:r>
              <a:r>
                <a:rPr lang="en-US" altLang="zh-CN" sz="2000" dirty="0">
                  <a:latin typeface="Arial" panose="020B0604020202020204" pitchFamily="34" charset="0"/>
                  <a:ea typeface="宋体" panose="02010600030101010101" pitchFamily="2" charset="-122"/>
                </a:rPr>
                <a:t>B=100</a:t>
              </a:r>
              <a:endParaRPr lang="en-US" altLang="zh-CN" sz="2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</a:pPr>
              <a:r>
                <a:rPr lang="en-US" altLang="zh-CN" sz="2000" dirty="0">
                  <a:latin typeface="Arial" panose="020B0604020202020204" pitchFamily="34" charset="0"/>
                  <a:ea typeface="宋体" panose="02010600030101010101" pitchFamily="2" charset="-122"/>
                </a:rPr>
                <a:t>  B←B*2</a:t>
              </a:r>
              <a:endParaRPr lang="en-US" altLang="zh-CN" sz="2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</a:pPr>
              <a:r>
                <a:rPr lang="zh-CN" altLang="en-US" sz="2000" dirty="0">
                  <a:latin typeface="Arial" panose="020B0604020202020204" pitchFamily="34" charset="0"/>
                  <a:ea typeface="宋体" panose="02010600030101010101" pitchFamily="2" charset="-122"/>
                </a:rPr>
                <a:t>写回</a:t>
              </a:r>
              <a:r>
                <a:rPr lang="en-US" altLang="zh-CN" sz="2000" dirty="0">
                  <a:latin typeface="Arial" panose="020B0604020202020204" pitchFamily="34" charset="0"/>
                  <a:ea typeface="宋体" panose="02010600030101010101" pitchFamily="2" charset="-122"/>
                </a:rPr>
                <a:t>B=200</a:t>
              </a:r>
              <a:endParaRPr lang="en-US" altLang="zh-CN" sz="2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</a:pPr>
              <a:r>
                <a:rPr lang="en-US" altLang="zh-CN" sz="2000" dirty="0">
                  <a:latin typeface="Arial" panose="020B0604020202020204" pitchFamily="34" charset="0"/>
                  <a:ea typeface="宋体" panose="02010600030101010101" pitchFamily="2" charset="-122"/>
                </a:rPr>
                <a:t> </a:t>
              </a:r>
              <a:endParaRPr lang="en-US" altLang="zh-CN" sz="2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</a:pPr>
              <a:endParaRPr lang="en-US" altLang="zh-CN" sz="2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2227" name="Rectangle 4"/>
            <p:cNvSpPr/>
            <p:nvPr/>
          </p:nvSpPr>
          <p:spPr>
            <a:xfrm>
              <a:off x="2688" y="1402"/>
              <a:ext cx="1204" cy="2320"/>
            </a:xfrm>
            <a:prstGeom prst="rect">
              <a:avLst/>
            </a:prstGeom>
            <a:noFill/>
            <a:ln w="28575">
              <a:noFill/>
            </a:ln>
          </p:spPr>
          <p:txBody>
            <a:bodyPr lIns="90000" tIns="46800" rIns="90000" bIns="46800" anchor="t" anchorCtr="0"/>
            <a:p>
              <a: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</a:pPr>
              <a:r>
                <a:rPr lang="en-US" altLang="zh-CN" sz="2000" dirty="0">
                  <a:latin typeface="Arial" panose="020B0604020202020204" pitchFamily="34" charset="0"/>
                  <a:ea typeface="宋体" panose="02010600030101010101" pitchFamily="2" charset="-122"/>
                </a:rPr>
                <a:t>① </a:t>
              </a:r>
              <a:r>
                <a:rPr lang="zh-CN" altLang="en-US" sz="2000" dirty="0">
                  <a:latin typeface="Arial" panose="020B0604020202020204" pitchFamily="34" charset="0"/>
                  <a:ea typeface="宋体" panose="02010600030101010101" pitchFamily="2" charset="-122"/>
                </a:rPr>
                <a:t>读</a:t>
              </a:r>
              <a:r>
                <a:rPr lang="en-US" altLang="zh-CN" sz="2000" dirty="0">
                  <a:latin typeface="Arial" panose="020B0604020202020204" pitchFamily="34" charset="0"/>
                  <a:ea typeface="宋体" panose="02010600030101010101" pitchFamily="2" charset="-122"/>
                </a:rPr>
                <a:t>A=50</a:t>
              </a:r>
              <a:endParaRPr lang="en-US" altLang="zh-CN" sz="2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</a:pPr>
              <a:r>
                <a:rPr lang="en-US" altLang="zh-CN" sz="2000" dirty="0">
                  <a:latin typeface="Arial" panose="020B0604020202020204" pitchFamily="34" charset="0"/>
                  <a:ea typeface="宋体" panose="02010600030101010101" pitchFamily="2" charset="-122"/>
                </a:rPr>
                <a:t>     </a:t>
              </a:r>
              <a:r>
                <a:rPr lang="zh-CN" altLang="en-US" sz="2000" dirty="0">
                  <a:latin typeface="Arial" panose="020B0604020202020204" pitchFamily="34" charset="0"/>
                  <a:ea typeface="宋体" panose="02010600030101010101" pitchFamily="2" charset="-122"/>
                </a:rPr>
                <a:t>读</a:t>
              </a:r>
              <a:r>
                <a:rPr lang="en-US" altLang="zh-CN" sz="2000" dirty="0">
                  <a:latin typeface="Arial" panose="020B0604020202020204" pitchFamily="34" charset="0"/>
                  <a:ea typeface="宋体" panose="02010600030101010101" pitchFamily="2" charset="-122"/>
                </a:rPr>
                <a:t>B=100</a:t>
              </a:r>
              <a:endParaRPr lang="en-US" altLang="zh-CN" sz="2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</a:pPr>
              <a:r>
                <a:rPr lang="en-US" altLang="zh-CN" sz="2000" dirty="0">
                  <a:latin typeface="Arial" panose="020B0604020202020204" pitchFamily="34" charset="0"/>
                  <a:ea typeface="宋体" panose="02010600030101010101" pitchFamily="2" charset="-122"/>
                </a:rPr>
                <a:t>     </a:t>
              </a:r>
              <a:r>
                <a:rPr lang="zh-CN" altLang="en-US" sz="2000" dirty="0">
                  <a:latin typeface="Arial" panose="020B0604020202020204" pitchFamily="34" charset="0"/>
                  <a:ea typeface="宋体" panose="02010600030101010101" pitchFamily="2" charset="-122"/>
                </a:rPr>
                <a:t>求和</a:t>
              </a:r>
              <a:r>
                <a:rPr lang="en-US" altLang="zh-CN" sz="2000" dirty="0">
                  <a:latin typeface="Arial" panose="020B0604020202020204" pitchFamily="34" charset="0"/>
                  <a:ea typeface="宋体" panose="02010600030101010101" pitchFamily="2" charset="-122"/>
                </a:rPr>
                <a:t>=150</a:t>
              </a:r>
              <a:endParaRPr lang="en-US" altLang="zh-CN" sz="2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</a:pPr>
              <a:r>
                <a:rPr lang="en-US" altLang="zh-CN" sz="2000" dirty="0">
                  <a:latin typeface="Arial" panose="020B0604020202020204" pitchFamily="34" charset="0"/>
                  <a:ea typeface="宋体" panose="02010600030101010101" pitchFamily="2" charset="-122"/>
                </a:rPr>
                <a:t>②</a:t>
              </a:r>
              <a:endParaRPr lang="en-US" altLang="zh-CN" sz="2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</a:pPr>
              <a:r>
                <a:rPr lang="en-US" altLang="zh-CN" sz="2000" dirty="0">
                  <a:latin typeface="Arial" panose="020B0604020202020204" pitchFamily="34" charset="0"/>
                  <a:ea typeface="宋体" panose="02010600030101010101" pitchFamily="2" charset="-122"/>
                </a:rPr>
                <a:t> </a:t>
              </a:r>
              <a:endParaRPr lang="en-US" altLang="zh-CN" sz="2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</a:pPr>
              <a:r>
                <a:rPr lang="en-US" altLang="zh-CN" sz="2000" dirty="0">
                  <a:latin typeface="Arial" panose="020B0604020202020204" pitchFamily="34" charset="0"/>
                  <a:ea typeface="宋体" panose="02010600030101010101" pitchFamily="2" charset="-122"/>
                </a:rPr>
                <a:t> </a:t>
              </a:r>
              <a:endParaRPr lang="en-US" altLang="zh-CN" sz="2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</a:pPr>
              <a:r>
                <a:rPr lang="en-US" altLang="zh-CN" sz="2000" dirty="0">
                  <a:latin typeface="Arial" panose="020B0604020202020204" pitchFamily="34" charset="0"/>
                  <a:ea typeface="宋体" panose="02010600030101010101" pitchFamily="2" charset="-122"/>
                </a:rPr>
                <a:t>③ </a:t>
              </a:r>
              <a:r>
                <a:rPr lang="zh-CN" altLang="en-US" sz="2000" dirty="0">
                  <a:latin typeface="Arial" panose="020B0604020202020204" pitchFamily="34" charset="0"/>
                  <a:ea typeface="宋体" panose="02010600030101010101" pitchFamily="2" charset="-122"/>
                </a:rPr>
                <a:t>读</a:t>
              </a:r>
              <a:r>
                <a:rPr lang="en-US" altLang="zh-CN" sz="2000" dirty="0">
                  <a:latin typeface="Arial" panose="020B0604020202020204" pitchFamily="34" charset="0"/>
                  <a:ea typeface="宋体" panose="02010600030101010101" pitchFamily="2" charset="-122"/>
                </a:rPr>
                <a:t>A=50</a:t>
              </a:r>
              <a:endParaRPr lang="en-US" altLang="zh-CN" sz="2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</a:pPr>
              <a:r>
                <a:rPr lang="en-US" altLang="zh-CN" sz="2000" dirty="0">
                  <a:latin typeface="Arial" panose="020B0604020202020204" pitchFamily="34" charset="0"/>
                  <a:ea typeface="宋体" panose="02010600030101010101" pitchFamily="2" charset="-122"/>
                </a:rPr>
                <a:t>     </a:t>
              </a:r>
              <a:r>
                <a:rPr lang="zh-CN" altLang="en-US" sz="2000" dirty="0">
                  <a:latin typeface="Arial" panose="020B0604020202020204" pitchFamily="34" charset="0"/>
                  <a:ea typeface="宋体" panose="02010600030101010101" pitchFamily="2" charset="-122"/>
                </a:rPr>
                <a:t>读</a:t>
              </a:r>
              <a:r>
                <a:rPr lang="en-US" altLang="zh-CN" sz="2000" dirty="0">
                  <a:latin typeface="Arial" panose="020B0604020202020204" pitchFamily="34" charset="0"/>
                  <a:ea typeface="宋体" panose="02010600030101010101" pitchFamily="2" charset="-122"/>
                </a:rPr>
                <a:t>B=200</a:t>
              </a:r>
              <a:endParaRPr lang="en-US" altLang="zh-CN" sz="2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</a:pPr>
              <a:r>
                <a:rPr lang="en-US" altLang="zh-CN" sz="2000" dirty="0">
                  <a:latin typeface="Arial" panose="020B0604020202020204" pitchFamily="34" charset="0"/>
                  <a:ea typeface="宋体" panose="02010600030101010101" pitchFamily="2" charset="-122"/>
                </a:rPr>
                <a:t>     </a:t>
              </a:r>
              <a:r>
                <a:rPr lang="zh-CN" altLang="en-US" sz="2000" dirty="0">
                  <a:latin typeface="Arial" panose="020B0604020202020204" pitchFamily="34" charset="0"/>
                  <a:ea typeface="宋体" panose="02010600030101010101" pitchFamily="2" charset="-122"/>
                </a:rPr>
                <a:t>求和</a:t>
              </a:r>
              <a:r>
                <a:rPr lang="en-US" altLang="zh-CN" sz="2000" dirty="0">
                  <a:latin typeface="Arial" panose="020B0604020202020204" pitchFamily="34" charset="0"/>
                  <a:ea typeface="宋体" panose="02010600030101010101" pitchFamily="2" charset="-122"/>
                </a:rPr>
                <a:t>=250</a:t>
              </a:r>
              <a:endParaRPr lang="en-US" altLang="zh-CN" sz="2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</a:pPr>
              <a:r>
                <a:rPr lang="en-US" altLang="zh-CN" sz="2000" dirty="0">
                  <a:latin typeface="Arial" panose="020B0604020202020204" pitchFamily="34" charset="0"/>
                  <a:ea typeface="宋体" panose="02010600030101010101" pitchFamily="2" charset="-122"/>
                </a:rPr>
                <a:t>   (</a:t>
              </a:r>
              <a:r>
                <a:rPr lang="zh-CN" altLang="en-US" sz="2000" dirty="0">
                  <a:latin typeface="Arial" panose="020B0604020202020204" pitchFamily="34" charset="0"/>
                  <a:ea typeface="宋体" panose="02010600030101010101" pitchFamily="2" charset="-122"/>
                </a:rPr>
                <a:t>验算不对</a:t>
              </a:r>
              <a:r>
                <a:rPr lang="en-US" altLang="zh-CN" sz="2000" dirty="0">
                  <a:latin typeface="Arial" panose="020B0604020202020204" pitchFamily="34" charset="0"/>
                  <a:ea typeface="宋体" panose="02010600030101010101" pitchFamily="2" charset="-122"/>
                </a:rPr>
                <a:t>) </a:t>
              </a:r>
              <a:endParaRPr lang="en-US" altLang="zh-CN" sz="2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2228" name="Rectangle 5"/>
            <p:cNvSpPr/>
            <p:nvPr/>
          </p:nvSpPr>
          <p:spPr>
            <a:xfrm>
              <a:off x="3892" y="1152"/>
              <a:ext cx="1004" cy="250"/>
            </a:xfrm>
            <a:prstGeom prst="rect">
              <a:avLst/>
            </a:prstGeom>
            <a:noFill/>
            <a:ln w="28575">
              <a:noFill/>
            </a:ln>
          </p:spPr>
          <p:txBody>
            <a:bodyPr lIns="90000" tIns="46800" rIns="90000" bIns="46800" anchor="t" anchorCtr="0"/>
            <a:p>
              <a: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</a:pPr>
              <a:r>
                <a:rPr lang="en-US" altLang="zh-CN" sz="2000" dirty="0">
                  <a:latin typeface="Arial" panose="020B0604020202020204" pitchFamily="34" charset="0"/>
                  <a:ea typeface="宋体" panose="02010600030101010101" pitchFamily="2" charset="-122"/>
                </a:rPr>
                <a:t>T</a:t>
              </a:r>
              <a:r>
                <a:rPr lang="en-US" altLang="zh-CN" sz="2000" baseline="-25000" dirty="0">
                  <a:latin typeface="Arial" panose="020B0604020202020204" pitchFamily="34" charset="0"/>
                  <a:ea typeface="宋体" panose="02010600030101010101" pitchFamily="2" charset="-122"/>
                </a:rPr>
                <a:t>2</a:t>
              </a:r>
              <a:endParaRPr lang="en-US" altLang="zh-CN" sz="2000" baseline="-25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2229" name="Rectangle 6"/>
            <p:cNvSpPr/>
            <p:nvPr/>
          </p:nvSpPr>
          <p:spPr>
            <a:xfrm>
              <a:off x="2688" y="1152"/>
              <a:ext cx="1204" cy="250"/>
            </a:xfrm>
            <a:prstGeom prst="rect">
              <a:avLst/>
            </a:prstGeom>
            <a:noFill/>
            <a:ln w="28575">
              <a:noFill/>
            </a:ln>
          </p:spPr>
          <p:txBody>
            <a:bodyPr lIns="90000" tIns="46800" rIns="90000" bIns="46800" anchor="t" anchorCtr="0"/>
            <a:p>
              <a: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</a:pPr>
              <a:r>
                <a:rPr lang="en-US" altLang="zh-CN" sz="2000" dirty="0">
                  <a:latin typeface="Arial" panose="020B0604020202020204" pitchFamily="34" charset="0"/>
                  <a:ea typeface="宋体" panose="02010600030101010101" pitchFamily="2" charset="-122"/>
                </a:rPr>
                <a:t>T</a:t>
              </a:r>
              <a:r>
                <a:rPr lang="en-US" altLang="zh-CN" sz="2000" baseline="-25000" dirty="0">
                  <a:latin typeface="Arial" panose="020B0604020202020204" pitchFamily="34" charset="0"/>
                  <a:ea typeface="宋体" panose="02010600030101010101" pitchFamily="2" charset="-122"/>
                </a:rPr>
                <a:t>1</a:t>
              </a:r>
              <a:endParaRPr lang="en-US" altLang="zh-CN" sz="2000" baseline="-25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2230" name="Line 7"/>
            <p:cNvSpPr/>
            <p:nvPr/>
          </p:nvSpPr>
          <p:spPr>
            <a:xfrm>
              <a:off x="2688" y="1152"/>
              <a:ext cx="2208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2231" name="Line 8"/>
            <p:cNvSpPr/>
            <p:nvPr/>
          </p:nvSpPr>
          <p:spPr>
            <a:xfrm>
              <a:off x="2688" y="1402"/>
              <a:ext cx="2208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2232" name="Line 9"/>
            <p:cNvSpPr/>
            <p:nvPr/>
          </p:nvSpPr>
          <p:spPr>
            <a:xfrm>
              <a:off x="2688" y="3722"/>
              <a:ext cx="2208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2233" name="Line 10"/>
            <p:cNvSpPr/>
            <p:nvPr/>
          </p:nvSpPr>
          <p:spPr>
            <a:xfrm>
              <a:off x="2688" y="1152"/>
              <a:ext cx="0" cy="257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2234" name="Line 11"/>
            <p:cNvSpPr/>
            <p:nvPr/>
          </p:nvSpPr>
          <p:spPr>
            <a:xfrm>
              <a:off x="3892" y="1152"/>
              <a:ext cx="0" cy="257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2235" name="Line 12"/>
            <p:cNvSpPr/>
            <p:nvPr/>
          </p:nvSpPr>
          <p:spPr>
            <a:xfrm>
              <a:off x="4896" y="1152"/>
              <a:ext cx="0" cy="257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52236" name="Rectangle 13"/>
          <p:cNvSpPr/>
          <p:nvPr/>
        </p:nvSpPr>
        <p:spPr>
          <a:xfrm>
            <a:off x="3276600" y="5867400"/>
            <a:ext cx="2590800" cy="609600"/>
          </a:xfrm>
          <a:prstGeom prst="rect">
            <a:avLst/>
          </a:prstGeom>
          <a:noFill/>
          <a:ln w="28575">
            <a:noFill/>
          </a:ln>
        </p:spPr>
        <p:txBody>
          <a:bodyPr wrap="none" lIns="90000" tIns="46800" rIns="90000" bIns="46800" anchor="ctr" anchorCtr="0"/>
          <a:p>
            <a:pPr algn="ctr">
              <a:buClrTx/>
              <a:buFontTx/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(b) 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不可重复读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53249" name="Group 2"/>
          <p:cNvGrpSpPr/>
          <p:nvPr/>
        </p:nvGrpSpPr>
        <p:grpSpPr>
          <a:xfrm>
            <a:off x="2438400" y="1828800"/>
            <a:ext cx="3200400" cy="3471863"/>
            <a:chOff x="1344" y="1104"/>
            <a:chExt cx="2016" cy="2187"/>
          </a:xfrm>
        </p:grpSpPr>
        <p:sp>
          <p:nvSpPr>
            <p:cNvPr id="53250" name="Rectangle 3"/>
            <p:cNvSpPr/>
            <p:nvPr/>
          </p:nvSpPr>
          <p:spPr>
            <a:xfrm>
              <a:off x="2511" y="1354"/>
              <a:ext cx="849" cy="1937"/>
            </a:xfrm>
            <a:prstGeom prst="rect">
              <a:avLst/>
            </a:prstGeom>
            <a:noFill/>
            <a:ln w="28575">
              <a:noFill/>
            </a:ln>
          </p:spPr>
          <p:txBody>
            <a:bodyPr lIns="90000" tIns="46800" rIns="90000" bIns="46800" anchor="t" anchorCtr="0"/>
            <a:p>
              <a: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</a:pPr>
              <a:r>
                <a:rPr lang="en-US" altLang="zh-CN" sz="2800" dirty="0">
                  <a:latin typeface="Arial" panose="020B0604020202020204" pitchFamily="34" charset="0"/>
                  <a:ea typeface="宋体" panose="02010600030101010101" pitchFamily="2" charset="-122"/>
                </a:rPr>
                <a:t> </a:t>
              </a:r>
              <a:r>
                <a:rPr lang="en-US" altLang="zh-CN" sz="2000" dirty="0">
                  <a:latin typeface="Arial" panose="020B0604020202020204" pitchFamily="34" charset="0"/>
                  <a:ea typeface="宋体" panose="02010600030101010101" pitchFamily="2" charset="-122"/>
                </a:rPr>
                <a:t> </a:t>
              </a:r>
              <a:endParaRPr lang="en-US" altLang="zh-CN" sz="2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</a:pPr>
              <a:r>
                <a:rPr lang="en-US" altLang="zh-CN" sz="2000" dirty="0">
                  <a:latin typeface="Arial" panose="020B0604020202020204" pitchFamily="34" charset="0"/>
                  <a:ea typeface="宋体" panose="02010600030101010101" pitchFamily="2" charset="-122"/>
                </a:rPr>
                <a:t> </a:t>
              </a:r>
              <a:endParaRPr lang="en-US" altLang="zh-CN" sz="2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</a:pPr>
              <a:r>
                <a:rPr lang="en-US" altLang="zh-CN" sz="2000" dirty="0">
                  <a:latin typeface="Arial" panose="020B0604020202020204" pitchFamily="34" charset="0"/>
                  <a:ea typeface="宋体" panose="02010600030101010101" pitchFamily="2" charset="-122"/>
                </a:rPr>
                <a:t> </a:t>
              </a:r>
              <a:endParaRPr lang="en-US" altLang="zh-CN" sz="2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</a:pPr>
              <a:r>
                <a:rPr lang="zh-CN" altLang="en-US" sz="2000" dirty="0">
                  <a:latin typeface="Arial" panose="020B0604020202020204" pitchFamily="34" charset="0"/>
                  <a:ea typeface="宋体" panose="02010600030101010101" pitchFamily="2" charset="-122"/>
                </a:rPr>
                <a:t>读</a:t>
              </a:r>
              <a:r>
                <a:rPr lang="en-US" altLang="zh-CN" sz="2000" dirty="0">
                  <a:latin typeface="Arial" panose="020B0604020202020204" pitchFamily="34" charset="0"/>
                  <a:ea typeface="宋体" panose="02010600030101010101" pitchFamily="2" charset="-122"/>
                </a:rPr>
                <a:t>C=200</a:t>
              </a:r>
              <a:endParaRPr lang="en-US" altLang="zh-CN" sz="2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</a:pPr>
              <a:r>
                <a:rPr lang="en-US" altLang="zh-CN" sz="2000" dirty="0">
                  <a:latin typeface="Arial" panose="020B0604020202020204" pitchFamily="34" charset="0"/>
                  <a:ea typeface="宋体" panose="02010600030101010101" pitchFamily="2" charset="-122"/>
                </a:rPr>
                <a:t> </a:t>
              </a:r>
              <a:endParaRPr lang="en-US" altLang="zh-CN" sz="2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</a:pPr>
              <a:r>
                <a:rPr lang="en-US" altLang="zh-CN" sz="2000" dirty="0">
                  <a:latin typeface="Arial" panose="020B0604020202020204" pitchFamily="34" charset="0"/>
                  <a:ea typeface="宋体" panose="02010600030101010101" pitchFamily="2" charset="-122"/>
                </a:rPr>
                <a:t> </a:t>
              </a:r>
              <a:endParaRPr lang="en-US" altLang="zh-CN" sz="2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</a:pPr>
              <a:r>
                <a:rPr lang="en-US" altLang="zh-CN" sz="2000" dirty="0">
                  <a:latin typeface="Arial" panose="020B0604020202020204" pitchFamily="34" charset="0"/>
                  <a:ea typeface="宋体" panose="02010600030101010101" pitchFamily="2" charset="-122"/>
                </a:rPr>
                <a:t> </a:t>
              </a:r>
              <a:endParaRPr lang="en-US" altLang="zh-CN" sz="2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</a:pPr>
              <a:endParaRPr lang="en-US" altLang="zh-CN" sz="2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3251" name="Rectangle 4"/>
            <p:cNvSpPr/>
            <p:nvPr/>
          </p:nvSpPr>
          <p:spPr>
            <a:xfrm>
              <a:off x="1344" y="1354"/>
              <a:ext cx="1296" cy="1937"/>
            </a:xfrm>
            <a:prstGeom prst="rect">
              <a:avLst/>
            </a:prstGeom>
            <a:noFill/>
            <a:ln w="28575">
              <a:noFill/>
            </a:ln>
          </p:spPr>
          <p:txBody>
            <a:bodyPr lIns="90000" tIns="46800" rIns="90000" bIns="46800" anchor="t" anchorCtr="0"/>
            <a:p>
              <a: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</a:pPr>
              <a:r>
                <a:rPr lang="en-US" altLang="zh-CN" sz="2000" dirty="0">
                  <a:latin typeface="Arial" panose="020B0604020202020204" pitchFamily="34" charset="0"/>
                  <a:ea typeface="宋体" panose="02010600030101010101" pitchFamily="2" charset="-122"/>
                </a:rPr>
                <a:t>① </a:t>
              </a:r>
              <a:r>
                <a:rPr lang="zh-CN" altLang="en-US" sz="2000" dirty="0">
                  <a:latin typeface="Arial" panose="020B0604020202020204" pitchFamily="34" charset="0"/>
                  <a:ea typeface="宋体" panose="02010600030101010101" pitchFamily="2" charset="-122"/>
                </a:rPr>
                <a:t>读</a:t>
              </a:r>
              <a:r>
                <a:rPr lang="en-US" altLang="zh-CN" sz="2000" dirty="0">
                  <a:latin typeface="Arial" panose="020B0604020202020204" pitchFamily="34" charset="0"/>
                  <a:ea typeface="宋体" panose="02010600030101010101" pitchFamily="2" charset="-122"/>
                </a:rPr>
                <a:t>C=100</a:t>
              </a:r>
              <a:endParaRPr lang="en-US" altLang="zh-CN" sz="2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</a:pPr>
              <a:r>
                <a:rPr lang="en-US" altLang="zh-CN" sz="2000" dirty="0">
                  <a:latin typeface="Arial" panose="020B0604020202020204" pitchFamily="34" charset="0"/>
                  <a:ea typeface="宋体" panose="02010600030101010101" pitchFamily="2" charset="-122"/>
                </a:rPr>
                <a:t>     C←C*2</a:t>
              </a:r>
              <a:endParaRPr lang="en-US" altLang="zh-CN" sz="2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</a:pPr>
              <a:r>
                <a:rPr lang="en-US" altLang="zh-CN" sz="2000" dirty="0">
                  <a:latin typeface="Arial" panose="020B0604020202020204" pitchFamily="34" charset="0"/>
                  <a:ea typeface="宋体" panose="02010600030101010101" pitchFamily="2" charset="-122"/>
                </a:rPr>
                <a:t>     </a:t>
              </a:r>
              <a:r>
                <a:rPr lang="zh-CN" altLang="en-US" sz="2000" dirty="0">
                  <a:latin typeface="Arial" panose="020B0604020202020204" pitchFamily="34" charset="0"/>
                  <a:ea typeface="宋体" panose="02010600030101010101" pitchFamily="2" charset="-122"/>
                </a:rPr>
                <a:t>写回</a:t>
              </a:r>
              <a:r>
                <a:rPr lang="en-US" altLang="zh-CN" sz="2000" dirty="0">
                  <a:latin typeface="Arial" panose="020B0604020202020204" pitchFamily="34" charset="0"/>
                  <a:ea typeface="宋体" panose="02010600030101010101" pitchFamily="2" charset="-122"/>
                </a:rPr>
                <a:t>C</a:t>
              </a:r>
              <a:endParaRPr lang="en-US" altLang="zh-CN" sz="2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</a:pPr>
              <a:r>
                <a:rPr lang="en-US" altLang="zh-CN" sz="2000" dirty="0">
                  <a:latin typeface="Arial" panose="020B0604020202020204" pitchFamily="34" charset="0"/>
                  <a:ea typeface="宋体" panose="02010600030101010101" pitchFamily="2" charset="-122"/>
                </a:rPr>
                <a:t>②   </a:t>
              </a:r>
              <a:endParaRPr lang="en-US" altLang="zh-CN" sz="2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</a:pPr>
              <a:r>
                <a:rPr lang="en-US" altLang="zh-CN" sz="2000" dirty="0">
                  <a:latin typeface="Arial" panose="020B0604020202020204" pitchFamily="34" charset="0"/>
                  <a:ea typeface="宋体" panose="02010600030101010101" pitchFamily="2" charset="-122"/>
                </a:rPr>
                <a:t> </a:t>
              </a:r>
              <a:endParaRPr lang="en-US" altLang="zh-CN" sz="2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</a:pPr>
              <a:r>
                <a:rPr lang="en-US" altLang="zh-CN" sz="2000" dirty="0">
                  <a:latin typeface="Arial" panose="020B0604020202020204" pitchFamily="34" charset="0"/>
                  <a:ea typeface="宋体" panose="02010600030101010101" pitchFamily="2" charset="-122"/>
                </a:rPr>
                <a:t> </a:t>
              </a:r>
              <a:endParaRPr lang="en-US" altLang="zh-CN" sz="2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</a:pPr>
              <a:r>
                <a:rPr lang="en-US" altLang="zh-CN" sz="2000" dirty="0">
                  <a:latin typeface="Arial" panose="020B0604020202020204" pitchFamily="34" charset="0"/>
                  <a:ea typeface="宋体" panose="02010600030101010101" pitchFamily="2" charset="-122"/>
                </a:rPr>
                <a:t>③ ROLLBACK</a:t>
              </a:r>
              <a:endParaRPr lang="en-US" altLang="zh-CN" sz="2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</a:pPr>
              <a:r>
                <a:rPr lang="en-US" altLang="zh-CN" sz="2000" dirty="0">
                  <a:latin typeface="Arial" panose="020B0604020202020204" pitchFamily="34" charset="0"/>
                  <a:ea typeface="宋体" panose="02010600030101010101" pitchFamily="2" charset="-122"/>
                </a:rPr>
                <a:t>     C</a:t>
              </a:r>
              <a:r>
                <a:rPr lang="zh-CN" altLang="en-US" sz="2000" dirty="0">
                  <a:latin typeface="Arial" panose="020B0604020202020204" pitchFamily="34" charset="0"/>
                  <a:ea typeface="宋体" panose="02010600030101010101" pitchFamily="2" charset="-122"/>
                </a:rPr>
                <a:t>恢复为</a:t>
              </a:r>
              <a:r>
                <a:rPr lang="en-US" altLang="zh-CN" sz="2000" dirty="0">
                  <a:latin typeface="Arial" panose="020B0604020202020204" pitchFamily="34" charset="0"/>
                  <a:ea typeface="宋体" panose="02010600030101010101" pitchFamily="2" charset="-122"/>
                </a:rPr>
                <a:t>100</a:t>
              </a:r>
              <a:endParaRPr lang="en-US" altLang="zh-CN" sz="2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3252" name="Rectangle 5"/>
            <p:cNvSpPr/>
            <p:nvPr/>
          </p:nvSpPr>
          <p:spPr>
            <a:xfrm>
              <a:off x="2511" y="1104"/>
              <a:ext cx="849" cy="250"/>
            </a:xfrm>
            <a:prstGeom prst="rect">
              <a:avLst/>
            </a:prstGeom>
            <a:noFill/>
            <a:ln w="28575">
              <a:noFill/>
            </a:ln>
          </p:spPr>
          <p:txBody>
            <a:bodyPr lIns="90000" tIns="46800" rIns="90000" bIns="46800" anchor="t" anchorCtr="0"/>
            <a:p>
              <a: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</a:pPr>
              <a:r>
                <a:rPr lang="en-US" altLang="zh-CN" sz="2000" dirty="0">
                  <a:latin typeface="Arial" panose="020B0604020202020204" pitchFamily="34" charset="0"/>
                  <a:ea typeface="宋体" panose="02010600030101010101" pitchFamily="2" charset="-122"/>
                </a:rPr>
                <a:t>T</a:t>
              </a:r>
              <a:r>
                <a:rPr lang="en-US" altLang="zh-CN" sz="2000" baseline="-25000" dirty="0">
                  <a:latin typeface="Arial" panose="020B0604020202020204" pitchFamily="34" charset="0"/>
                  <a:ea typeface="宋体" panose="02010600030101010101" pitchFamily="2" charset="-122"/>
                </a:rPr>
                <a:t>2</a:t>
              </a:r>
              <a:endParaRPr lang="en-US" altLang="zh-CN" sz="2000" baseline="-25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3253" name="Rectangle 6"/>
            <p:cNvSpPr/>
            <p:nvPr/>
          </p:nvSpPr>
          <p:spPr>
            <a:xfrm>
              <a:off x="1344" y="1104"/>
              <a:ext cx="1167" cy="250"/>
            </a:xfrm>
            <a:prstGeom prst="rect">
              <a:avLst/>
            </a:prstGeom>
            <a:noFill/>
            <a:ln w="28575">
              <a:noFill/>
            </a:ln>
          </p:spPr>
          <p:txBody>
            <a:bodyPr lIns="90000" tIns="46800" rIns="90000" bIns="46800" anchor="t" anchorCtr="0"/>
            <a:p>
              <a: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</a:pPr>
              <a:r>
                <a:rPr lang="en-US" altLang="zh-CN" sz="2000" dirty="0">
                  <a:latin typeface="Arial" panose="020B0604020202020204" pitchFamily="34" charset="0"/>
                  <a:ea typeface="宋体" panose="02010600030101010101" pitchFamily="2" charset="-122"/>
                </a:rPr>
                <a:t>T</a:t>
              </a:r>
              <a:r>
                <a:rPr lang="en-US" altLang="zh-CN" sz="2000" baseline="-25000" dirty="0">
                  <a:latin typeface="Arial" panose="020B0604020202020204" pitchFamily="34" charset="0"/>
                  <a:ea typeface="宋体" panose="02010600030101010101" pitchFamily="2" charset="-122"/>
                </a:rPr>
                <a:t>1</a:t>
              </a:r>
              <a:endParaRPr lang="en-US" altLang="zh-CN" sz="2000" baseline="-25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3254" name="Line 7"/>
            <p:cNvSpPr/>
            <p:nvPr/>
          </p:nvSpPr>
          <p:spPr>
            <a:xfrm>
              <a:off x="1344" y="1104"/>
              <a:ext cx="2016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3255" name="Line 8"/>
            <p:cNvSpPr/>
            <p:nvPr/>
          </p:nvSpPr>
          <p:spPr>
            <a:xfrm>
              <a:off x="1344" y="1354"/>
              <a:ext cx="201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3256" name="Line 9"/>
            <p:cNvSpPr/>
            <p:nvPr/>
          </p:nvSpPr>
          <p:spPr>
            <a:xfrm>
              <a:off x="1344" y="3291"/>
              <a:ext cx="2016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3257" name="Line 10"/>
            <p:cNvSpPr/>
            <p:nvPr/>
          </p:nvSpPr>
          <p:spPr>
            <a:xfrm>
              <a:off x="1344" y="1104"/>
              <a:ext cx="0" cy="2187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3258" name="Line 11"/>
            <p:cNvSpPr/>
            <p:nvPr/>
          </p:nvSpPr>
          <p:spPr>
            <a:xfrm>
              <a:off x="2496" y="1104"/>
              <a:ext cx="0" cy="2187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3259" name="Line 12"/>
            <p:cNvSpPr/>
            <p:nvPr/>
          </p:nvSpPr>
          <p:spPr>
            <a:xfrm>
              <a:off x="3360" y="1104"/>
              <a:ext cx="0" cy="2187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53260" name="Rectangle 13"/>
          <p:cNvSpPr/>
          <p:nvPr/>
        </p:nvSpPr>
        <p:spPr>
          <a:xfrm>
            <a:off x="2438400" y="5410200"/>
            <a:ext cx="2590800" cy="609600"/>
          </a:xfrm>
          <a:prstGeom prst="rect">
            <a:avLst/>
          </a:prstGeom>
          <a:noFill/>
          <a:ln w="28575">
            <a:noFill/>
          </a:ln>
        </p:spPr>
        <p:txBody>
          <a:bodyPr wrap="none" lIns="90000" tIns="46800" rIns="90000" bIns="46800" anchor="ctr" anchorCtr="0"/>
          <a:p>
            <a:pPr algn="ctr" eaLnBrk="0" hangingPunct="0">
              <a:buClrTx/>
              <a:buFontTx/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(c) 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读“脏”数据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273" name="Rectangle 2"/>
          <p:cNvSpPr>
            <a:spLocks noGrp="1"/>
          </p:cNvSpPr>
          <p:nvPr>
            <p:ph type="title"/>
          </p:nvPr>
        </p:nvSpPr>
        <p:spPr>
          <a:xfrm>
            <a:off x="928688" y="500063"/>
            <a:ext cx="5267325" cy="811212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3600" b="1" dirty="0"/>
              <a:t>考试题目类型</a:t>
            </a:r>
            <a:endParaRPr lang="zh-CN" altLang="en-US" sz="3600" b="1" dirty="0"/>
          </a:p>
        </p:txBody>
      </p:sp>
      <p:sp>
        <p:nvSpPr>
          <p:cNvPr id="52227" name="Rectangle 3"/>
          <p:cNvSpPr>
            <a:spLocks noGrp="1" noChangeArrowheads="1"/>
          </p:cNvSpPr>
          <p:nvPr>
            <p:ph idx="1"/>
          </p:nvPr>
        </p:nvSpPr>
        <p:spPr>
          <a:xfrm>
            <a:off x="358775" y="1412875"/>
            <a:ext cx="8785225" cy="5329238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、单选题（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10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题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*2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分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=20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分）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基础理论知识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、填空题（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10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题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*1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分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=10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分）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基础理论知识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、简答题（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题，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11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分）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1 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数据库的定义和特点；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2 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数据库独立性的含义；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3 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关系模型的完整性约束条件；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4 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事务的定义和特性；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5 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封锁类型；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6 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三级封锁协议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、查询题（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24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分）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关系代数（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题）、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SQL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语句（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6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题）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5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、设计题（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分）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E-R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图及关系模型的转换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6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、分析题（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15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分）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函数依赖及范式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Ø"/>
              <a:defRPr/>
            </a:pP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297" name="WordArt 2"/>
          <p:cNvSpPr>
            <a:spLocks noTextEdit="1"/>
          </p:cNvSpPr>
          <p:nvPr/>
        </p:nvSpPr>
        <p:spPr>
          <a:xfrm>
            <a:off x="1476375" y="2636838"/>
            <a:ext cx="6400800" cy="16002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  <a:normAutofit/>
          </a:bodyPr>
          <a:p>
            <a:pPr algn="ctr"/>
            <a:r>
              <a:rPr lang="zh-CN" altLang="en-US" sz="3600">
                <a:ln w="9525" cap="sq" cmpd="sng">
                  <a:solidFill>
                    <a:srgbClr val="CC99FF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folHlink"/>
                </a:solidFill>
                <a:effectLst>
                  <a:outerShdw dist="53882" dir="2699999" algn="ctr" rotWithShape="0">
                    <a:srgbClr val="9999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祝各位同学复习愉快、考试顺利！</a:t>
            </a:r>
            <a:endParaRPr lang="zh-CN" altLang="en-US" sz="3600">
              <a:ln w="9525" cap="sq" cmpd="sng">
                <a:solidFill>
                  <a:srgbClr val="CC99FF"/>
                </a:solidFill>
                <a:prstDash val="solid"/>
                <a:round/>
                <a:headEnd type="none" w="sm" len="sm"/>
                <a:tailEnd type="none" w="sm" len="sm"/>
              </a:ln>
              <a:solidFill>
                <a:schemeClr val="folHlink"/>
              </a:solidFill>
              <a:effectLst>
                <a:outerShdw dist="53882" dir="2699999" algn="ctr" rotWithShape="0">
                  <a:srgbClr val="9999FF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Pixel 12">
    <a:dk1>
      <a:srgbClr val="000000"/>
    </a:dk1>
    <a:lt1>
      <a:srgbClr val="FFFFFF"/>
    </a:lt1>
    <a:dk2>
      <a:srgbClr val="000000"/>
    </a:dk2>
    <a:lt2>
      <a:srgbClr val="00007D"/>
    </a:lt2>
    <a:accent1>
      <a:srgbClr val="9999FF"/>
    </a:accent1>
    <a:accent2>
      <a:srgbClr val="9999CC"/>
    </a:accent2>
    <a:accent3>
      <a:srgbClr val="FFFFFF"/>
    </a:accent3>
    <a:accent4>
      <a:srgbClr val="000000"/>
    </a:accent4>
    <a:accent5>
      <a:srgbClr val="CACAFF"/>
    </a:accent5>
    <a:accent6>
      <a:srgbClr val="8A8AB9"/>
    </a:accent6>
    <a:hlink>
      <a:srgbClr val="666699"/>
    </a:hlink>
    <a:folHlink>
      <a:srgbClr val="CCCCE6"/>
    </a:folHlink>
  </a:clrScheme>
</a:themeOverride>
</file>

<file path=ppt/theme/themeOverride2.xml><?xml version="1.0" encoding="utf-8"?>
<a:themeOverride xmlns:a="http://schemas.openxmlformats.org/drawingml/2006/main">
  <a:clrScheme name="Pixel 12">
    <a:dk1>
      <a:srgbClr val="000000"/>
    </a:dk1>
    <a:lt1>
      <a:srgbClr val="FFFFFF"/>
    </a:lt1>
    <a:dk2>
      <a:srgbClr val="000000"/>
    </a:dk2>
    <a:lt2>
      <a:srgbClr val="00007D"/>
    </a:lt2>
    <a:accent1>
      <a:srgbClr val="9999FF"/>
    </a:accent1>
    <a:accent2>
      <a:srgbClr val="9999CC"/>
    </a:accent2>
    <a:accent3>
      <a:srgbClr val="FFFFFF"/>
    </a:accent3>
    <a:accent4>
      <a:srgbClr val="000000"/>
    </a:accent4>
    <a:accent5>
      <a:srgbClr val="CACAFF"/>
    </a:accent5>
    <a:accent6>
      <a:srgbClr val="8A8AB9"/>
    </a:accent6>
    <a:hlink>
      <a:srgbClr val="666699"/>
    </a:hlink>
    <a:folHlink>
      <a:srgbClr val="CCCCE6"/>
    </a:folHlink>
  </a:clrScheme>
</a:themeOverride>
</file>

<file path=ppt/theme/themeOverride3.xml><?xml version="1.0" encoding="utf-8"?>
<a:themeOverride xmlns:a="http://schemas.openxmlformats.org/drawingml/2006/main">
  <a:clrScheme name="Pixel 12">
    <a:dk1>
      <a:srgbClr val="000000"/>
    </a:dk1>
    <a:lt1>
      <a:srgbClr val="FFFFFF"/>
    </a:lt1>
    <a:dk2>
      <a:srgbClr val="000000"/>
    </a:dk2>
    <a:lt2>
      <a:srgbClr val="00007D"/>
    </a:lt2>
    <a:accent1>
      <a:srgbClr val="9999FF"/>
    </a:accent1>
    <a:accent2>
      <a:srgbClr val="9999CC"/>
    </a:accent2>
    <a:accent3>
      <a:srgbClr val="FFFFFF"/>
    </a:accent3>
    <a:accent4>
      <a:srgbClr val="000000"/>
    </a:accent4>
    <a:accent5>
      <a:srgbClr val="CACAFF"/>
    </a:accent5>
    <a:accent6>
      <a:srgbClr val="8A8AB9"/>
    </a:accent6>
    <a:hlink>
      <a:srgbClr val="666699"/>
    </a:hlink>
    <a:folHlink>
      <a:srgbClr val="CCCCE6"/>
    </a:folHlink>
  </a:clrScheme>
</a:themeOverride>
</file>

<file path=ppt/theme/themeOverride4.xml><?xml version="1.0" encoding="utf-8"?>
<a:themeOverride xmlns:a="http://schemas.openxmlformats.org/drawingml/2006/main">
  <a:clrScheme name="Pixel 12">
    <a:dk1>
      <a:srgbClr val="000000"/>
    </a:dk1>
    <a:lt1>
      <a:srgbClr val="FFFFFF"/>
    </a:lt1>
    <a:dk2>
      <a:srgbClr val="000000"/>
    </a:dk2>
    <a:lt2>
      <a:srgbClr val="00007D"/>
    </a:lt2>
    <a:accent1>
      <a:srgbClr val="9999FF"/>
    </a:accent1>
    <a:accent2>
      <a:srgbClr val="9999CC"/>
    </a:accent2>
    <a:accent3>
      <a:srgbClr val="FFFFFF"/>
    </a:accent3>
    <a:accent4>
      <a:srgbClr val="000000"/>
    </a:accent4>
    <a:accent5>
      <a:srgbClr val="CACAFF"/>
    </a:accent5>
    <a:accent6>
      <a:srgbClr val="8A8AB9"/>
    </a:accent6>
    <a:hlink>
      <a:srgbClr val="666699"/>
    </a:hlink>
    <a:folHlink>
      <a:srgbClr val="CCCCE6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4892</Words>
  <Application>WPS 演示</Application>
  <PresentationFormat>全屏显示(4:3)</PresentationFormat>
  <Paragraphs>913</Paragraphs>
  <Slides>39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39</vt:i4>
      </vt:variant>
    </vt:vector>
  </HeadingPairs>
  <TitlesOfParts>
    <vt:vector size="53" baseType="lpstr">
      <vt:lpstr>Arial</vt:lpstr>
      <vt:lpstr>宋体</vt:lpstr>
      <vt:lpstr>Wingdings</vt:lpstr>
      <vt:lpstr>Times New Roman</vt:lpstr>
      <vt:lpstr>Arial Black</vt:lpstr>
      <vt:lpstr>Tahoma</vt:lpstr>
      <vt:lpstr>Symbol</vt:lpstr>
      <vt:lpstr>Courier New</vt:lpstr>
      <vt:lpstr>_x000B__x000C_</vt:lpstr>
      <vt:lpstr>Segoe Print</vt:lpstr>
      <vt:lpstr>微软雅黑</vt:lpstr>
      <vt:lpstr>Arial Unicode MS</vt:lpstr>
      <vt:lpstr>Calibri</vt:lpstr>
      <vt:lpstr>Pixel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 China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复习提纲</dc:title>
  <dc:creator>phy</dc:creator>
  <cp:lastModifiedBy>茗</cp:lastModifiedBy>
  <cp:revision>303</cp:revision>
  <dcterms:created xsi:type="dcterms:W3CDTF">2006-01-09T10:00:35Z</dcterms:created>
  <dcterms:modified xsi:type="dcterms:W3CDTF">2026-05-25T04:22:18Z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BDEA4AF9E5374F0EB9F3DA77634A3D09_12</vt:lpwstr>
  </property>
</Properties>
</file>