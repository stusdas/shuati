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</p:sldMasterIdLst>
  <p:notesMasterIdLst>
    <p:notesMasterId r:id="rId30"/>
  </p:notesMasterIdLst>
  <p:handoutMasterIdLst>
    <p:handoutMasterId r:id="rId31"/>
  </p:handoutMasterIdLst>
  <p:sldIdLst>
    <p:sldId id="1419" r:id="rId6"/>
    <p:sldId id="1420" r:id="rId7"/>
    <p:sldId id="1421" r:id="rId8"/>
    <p:sldId id="1422" r:id="rId9"/>
    <p:sldId id="1426" r:id="rId10"/>
    <p:sldId id="1427" r:id="rId11"/>
    <p:sldId id="1410" r:id="rId12"/>
    <p:sldId id="1429" r:id="rId13"/>
    <p:sldId id="1428" r:id="rId14"/>
    <p:sldId id="1431" r:id="rId15"/>
    <p:sldId id="1433" r:id="rId16"/>
    <p:sldId id="1432" r:id="rId17"/>
    <p:sldId id="1418" r:id="rId18"/>
    <p:sldId id="1411" r:id="rId19"/>
    <p:sldId id="1416" r:id="rId20"/>
    <p:sldId id="1435" r:id="rId21"/>
    <p:sldId id="1436" r:id="rId22"/>
    <p:sldId id="1434" r:id="rId23"/>
    <p:sldId id="1437" r:id="rId24"/>
    <p:sldId id="1438" r:id="rId25"/>
    <p:sldId id="1439" r:id="rId26"/>
    <p:sldId id="1442" r:id="rId27"/>
    <p:sldId id="1440" r:id="rId28"/>
    <p:sldId id="1441" r:id="rId29"/>
  </p:sldIdLst>
  <p:sldSz cx="12192000" cy="6858000"/>
  <p:notesSz cx="6833870" cy="997902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4"/>
    <p:restoredTop sz="94651"/>
  </p:normalViewPr>
  <p:slideViewPr>
    <p:cSldViewPr snapToObjects="1" showGuides="1">
      <p:cViewPr varScale="1">
        <p:scale>
          <a:sx n="59" d="100"/>
          <a:sy n="59" d="100"/>
        </p:scale>
        <p:origin x="86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notesMaster" Target="notesMasters/notesMaster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924" cy="54640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90"/>
            </a:lvl1pPr>
          </a:lstStyle>
          <a:p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7325" y="0"/>
            <a:ext cx="2950924" cy="54640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9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343899"/>
            <a:ext cx="2950924" cy="5464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90"/>
            </a:lvl1pPr>
          </a:lstStyle>
          <a:p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7325" y="10343899"/>
            <a:ext cx="2950924" cy="5464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9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200"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2275" cy="4984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fld id="{84F3FDE9-766E-824F-8219-5FA0102948F5}" type="datetimeFigureOut">
              <a:rPr lang="zh-CN" altLang="en-US"/>
            </a:fld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0488" y="747713"/>
            <a:ext cx="6651625" cy="374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2625" y="4740275"/>
            <a:ext cx="5467350" cy="4489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7375"/>
            <a:ext cx="2960688" cy="5000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buFont typeface="Arial" panose="020B0604020202020204" pitchFamily="34" charset="0"/>
              <a:buNone/>
              <a:defRPr sz="1200"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9477375"/>
            <a:ext cx="2962275" cy="5000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fld id="{04FE809C-0FE3-3145-BED1-7DEB80ACC30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微软雅黑" panose="020B0503020204020204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微软雅黑" panose="020B0503020204020204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微软雅黑" panose="020B0503020204020204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微软雅黑" panose="020B0503020204020204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3" Type="http://schemas.openxmlformats.org/officeDocument/2006/relationships/theme" Target="../theme/theme4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9851"/>
            <a:ext cx="1097280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第二级</a:t>
            </a:r>
            <a:endParaRPr lang="zh-CN" altLang="zh-CN"/>
          </a:p>
          <a:p>
            <a:pPr lvl="2"/>
            <a:r>
              <a:rPr lang="zh-CN" altLang="zh-CN"/>
              <a:t>第三级</a:t>
            </a:r>
            <a:endParaRPr lang="zh-CN" altLang="zh-CN"/>
          </a:p>
          <a:p>
            <a:pPr lvl="3"/>
            <a:r>
              <a:rPr lang="zh-CN" altLang="zh-CN"/>
              <a:t>第四级</a:t>
            </a:r>
            <a:endParaRPr lang="zh-CN" altLang="zh-CN"/>
          </a:p>
          <a:p>
            <a:pPr lvl="4"/>
            <a:r>
              <a:rPr lang="zh-CN" altLang="zh-CN"/>
              <a:t>第五级</a:t>
            </a:r>
            <a:endParaRPr lang="zh-CN" altLang="zh-CN"/>
          </a:p>
        </p:txBody>
      </p:sp>
      <p:sp>
        <p:nvSpPr>
          <p:cNvPr id="2" name="WordArt 8"/>
          <p:cNvSpPr/>
          <p:nvPr userDrawn="1"/>
        </p:nvSpPr>
        <p:spPr>
          <a:xfrm rot="20636009">
            <a:off x="1944857" y="1830959"/>
            <a:ext cx="7582205" cy="290992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1328"/>
              </a:avLst>
            </a:prstTxWarp>
            <a:norm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>
                <a:ln w="9525" cap="flat" cmpd="sng">
                  <a:solidFill>
                    <a:schemeClr val="bg1">
                      <a:alpha val="5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  <a:noFill/>
                <a:latin typeface="华文琥珀" panose="02010800040101010101" charset="-122"/>
                <a:ea typeface="华文琥珀" panose="02010800040101010101" charset="-122"/>
                <a:cs typeface="微软雅黑" panose="020B0503020204020204" charset="-122"/>
              </a:rPr>
              <a:t>中国人民大学信息学院</a:t>
            </a: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微软雅黑" panose="020B0503020204020204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微软雅黑" panose="020B0503020204020204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微软雅黑" panose="020B0503020204020204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>
                <a:ln w="9525" cap="flat" cmpd="sng">
                  <a:solidFill>
                    <a:schemeClr val="bg1">
                      <a:alpha val="5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  <a:noFill/>
                <a:latin typeface="华文琥珀" panose="02010800040101010101" charset="-122"/>
                <a:ea typeface="华文琥珀" panose="02010800040101010101" charset="-122"/>
                <a:cs typeface="微软雅黑" panose="020B0503020204020204" charset="-122"/>
              </a:rPr>
              <a:t>数据库系统概论</a:t>
            </a: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微软雅黑" panose="020B0503020204020204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205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9851"/>
            <a:ext cx="1097280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第二级</a:t>
            </a:r>
            <a:endParaRPr lang="zh-CN" altLang="zh-CN"/>
          </a:p>
          <a:p>
            <a:pPr lvl="2"/>
            <a:r>
              <a:rPr lang="zh-CN" altLang="zh-CN"/>
              <a:t>第三级</a:t>
            </a:r>
            <a:endParaRPr lang="zh-CN" altLang="zh-CN"/>
          </a:p>
          <a:p>
            <a:pPr lvl="3"/>
            <a:r>
              <a:rPr lang="zh-CN" altLang="zh-CN"/>
              <a:t>第四级</a:t>
            </a:r>
            <a:endParaRPr lang="zh-CN" altLang="zh-CN"/>
          </a:p>
          <a:p>
            <a:pPr lvl="4"/>
            <a:r>
              <a:rPr lang="zh-CN" altLang="zh-CN"/>
              <a:t>第五级</a:t>
            </a: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微软雅黑" panose="020B0503020204020204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308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9851"/>
            <a:ext cx="1097280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第二级</a:t>
            </a:r>
            <a:endParaRPr lang="zh-CN" altLang="zh-CN"/>
          </a:p>
          <a:p>
            <a:pPr lvl="2"/>
            <a:r>
              <a:rPr lang="zh-CN" altLang="zh-CN"/>
              <a:t>第三级</a:t>
            </a:r>
            <a:endParaRPr lang="zh-CN" altLang="zh-CN"/>
          </a:p>
          <a:p>
            <a:pPr lvl="3"/>
            <a:r>
              <a:rPr lang="zh-CN" altLang="zh-CN"/>
              <a:t>第四级</a:t>
            </a:r>
            <a:endParaRPr lang="zh-CN" altLang="zh-CN"/>
          </a:p>
          <a:p>
            <a:pPr lvl="4"/>
            <a:r>
              <a:rPr lang="zh-CN" altLang="zh-CN"/>
              <a:t>第五级</a:t>
            </a: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微软雅黑" panose="020B0503020204020204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9851"/>
            <a:ext cx="1097280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第二级</a:t>
            </a:r>
            <a:endParaRPr lang="zh-CN" altLang="zh-CN"/>
          </a:p>
          <a:p>
            <a:pPr lvl="2"/>
            <a:r>
              <a:rPr lang="zh-CN" altLang="zh-CN"/>
              <a:t>第三级</a:t>
            </a:r>
            <a:endParaRPr lang="zh-CN" altLang="zh-CN"/>
          </a:p>
          <a:p>
            <a:pPr lvl="3"/>
            <a:r>
              <a:rPr lang="zh-CN" altLang="zh-CN"/>
              <a:t>第四级</a:t>
            </a:r>
            <a:endParaRPr lang="zh-CN" altLang="zh-CN"/>
          </a:p>
          <a:p>
            <a:pPr lvl="4"/>
            <a:r>
              <a:rPr lang="zh-CN" altLang="zh-CN"/>
              <a:t>第五级</a:t>
            </a:r>
            <a:endParaRPr lang="zh-CN" altLang="zh-CN"/>
          </a:p>
        </p:txBody>
      </p:sp>
      <p:sp>
        <p:nvSpPr>
          <p:cNvPr id="2" name="WordArt 8"/>
          <p:cNvSpPr/>
          <p:nvPr userDrawn="1"/>
        </p:nvSpPr>
        <p:spPr>
          <a:xfrm rot="20636009">
            <a:off x="1944857" y="1830959"/>
            <a:ext cx="7582205" cy="290992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1328"/>
              </a:avLst>
            </a:prstTxWarp>
            <a:norm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>
                <a:ln w="9525" cap="flat" cmpd="sng">
                  <a:solidFill>
                    <a:schemeClr val="bg1">
                      <a:alpha val="5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  <a:noFill/>
                <a:latin typeface="华文琥珀" panose="02010800040101010101" charset="-122"/>
                <a:ea typeface="华文琥珀" panose="02010800040101010101" charset="-122"/>
                <a:cs typeface="微软雅黑" panose="020B0503020204020204" charset="-122"/>
              </a:rPr>
              <a:t>中国人民大学信息学院</a:t>
            </a: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微软雅黑" panose="020B0503020204020204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微软雅黑" panose="020B0503020204020204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微软雅黑" panose="020B0503020204020204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>
                <a:ln w="9525" cap="flat" cmpd="sng">
                  <a:solidFill>
                    <a:schemeClr val="bg1">
                      <a:alpha val="5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  <a:noFill/>
                <a:latin typeface="华文琥珀" panose="02010800040101010101" charset="-122"/>
                <a:ea typeface="华文琥珀" panose="02010800040101010101" charset="-122"/>
                <a:cs typeface="微软雅黑" panose="020B0503020204020204" charset="-122"/>
              </a:rPr>
              <a:t>数据库系统概论</a:t>
            </a: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微软雅黑" panose="020B0503020204020204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" y="1052830"/>
            <a:ext cx="11563350" cy="30645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703705" y="4437380"/>
            <a:ext cx="1118997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 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写【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】后面的内容</a:t>
            </a:r>
            <a:endParaRPr lang="zh-CN" altLang="en-US" sz="3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from 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写题目中含有的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所有的属性所在的表</a:t>
            </a:r>
            <a:endParaRPr lang="zh-CN" altLang="en-US" sz="3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where 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查询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【的】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之间条件</a:t>
            </a:r>
            <a:endParaRPr lang="zh-CN" altLang="en-US" sz="3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600"/>
              <a:t>1</a:t>
            </a:r>
            <a:endParaRPr lang="zh-CN" altLang="en-US" sz="3600"/>
          </a:p>
        </p:txBody>
      </p:sp>
      <p:sp>
        <p:nvSpPr>
          <p:cNvPr id="99331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321945" y="1111885"/>
            <a:ext cx="11696700" cy="291147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3200"/>
              <a:t>学生关系</a:t>
            </a:r>
            <a:r>
              <a:rPr lang="en-US" altLang="zh-CN" sz="3200"/>
              <a:t>S(Sno,Sname,Sdept)，</a:t>
            </a:r>
            <a:r>
              <a:rPr lang="zh-CN" altLang="en-US" sz="3200"/>
              <a:t>其中</a:t>
            </a:r>
            <a:r>
              <a:rPr lang="en-US" altLang="zh-CN" sz="3200"/>
              <a:t>Sno</a:t>
            </a:r>
            <a:r>
              <a:rPr lang="zh-CN" altLang="en-US" sz="3200"/>
              <a:t>为学号，</a:t>
            </a:r>
            <a:r>
              <a:rPr lang="en-US" altLang="zh-CN" sz="3200"/>
              <a:t>Sname</a:t>
            </a:r>
            <a:r>
              <a:rPr lang="zh-CN" altLang="en-US" sz="3200"/>
              <a:t>为姓名，</a:t>
            </a:r>
            <a:r>
              <a:rPr lang="en-US" altLang="zh-CN" sz="3200"/>
              <a:t>Sdept</a:t>
            </a:r>
            <a:r>
              <a:rPr lang="zh-CN" altLang="en-US" sz="3200"/>
              <a:t>为所在系。</a:t>
            </a:r>
            <a:endParaRPr lang="zh-CN" altLang="en-US" sz="3200"/>
          </a:p>
          <a:p>
            <a:pPr marL="0" indent="0" eaLnBrk="1" hangingPunct="1">
              <a:buNone/>
            </a:pPr>
            <a:r>
              <a:rPr lang="zh-CN" altLang="en-US" sz="3200"/>
              <a:t>选课关系</a:t>
            </a:r>
            <a:r>
              <a:rPr lang="en-US" altLang="zh-CN" sz="3200"/>
              <a:t>SC(Sno,Cno,Grade)，</a:t>
            </a:r>
            <a:r>
              <a:rPr lang="zh-CN" altLang="en-US" sz="3200"/>
              <a:t>其中</a:t>
            </a:r>
            <a:r>
              <a:rPr lang="en-US" altLang="zh-CN" sz="3200"/>
              <a:t>Sno</a:t>
            </a:r>
            <a:r>
              <a:rPr lang="zh-CN" altLang="en-US" sz="3200"/>
              <a:t>为学号，</a:t>
            </a:r>
            <a:r>
              <a:rPr lang="en-US" altLang="zh-CN" sz="3200"/>
              <a:t>Cno</a:t>
            </a:r>
            <a:r>
              <a:rPr lang="zh-CN" altLang="en-US" sz="3200"/>
              <a:t>为课程号，</a:t>
            </a:r>
            <a:r>
              <a:rPr lang="en-US" altLang="zh-CN" sz="3200"/>
              <a:t>Grade</a:t>
            </a:r>
            <a:r>
              <a:rPr lang="zh-CN" altLang="en-US" sz="3200"/>
              <a:t>为成绩。</a:t>
            </a:r>
            <a:endParaRPr lang="en-US" altLang="zh-CN" sz="3200"/>
          </a:p>
          <a:p>
            <a:pPr marL="0" indent="0" eaLnBrk="1" hangingPunct="1">
              <a:buNone/>
            </a:pPr>
            <a:r>
              <a:rPr lang="zh-CN" altLang="en-US" sz="3200"/>
              <a:t>查询</a:t>
            </a:r>
            <a:r>
              <a:rPr lang="zh-CN" altLang="en-US" sz="3200" u="sng" strike="sngStrike"/>
              <a:t>所有</a:t>
            </a:r>
            <a:r>
              <a:rPr lang="zh-CN" altLang="en-US" sz="3200" u="sng"/>
              <a:t>电子系学生</a:t>
            </a:r>
            <a:r>
              <a:rPr lang="zh-CN" altLang="en-US" sz="3200">
                <a:solidFill>
                  <a:srgbClr val="FF0000"/>
                </a:solidFill>
              </a:rPr>
              <a:t>的学号</a:t>
            </a:r>
            <a:r>
              <a:rPr lang="zh-CN" altLang="en-US" sz="3200"/>
              <a:t>；</a:t>
            </a:r>
            <a:endParaRPr lang="zh-CN" altLang="en-US" sz="3200"/>
          </a:p>
        </p:txBody>
      </p:sp>
      <p:sp>
        <p:nvSpPr>
          <p:cNvPr id="3" name="文本框 2"/>
          <p:cNvSpPr txBox="1"/>
          <p:nvPr/>
        </p:nvSpPr>
        <p:spPr>
          <a:xfrm>
            <a:off x="2639695" y="3933190"/>
            <a:ext cx="775081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>
              <a:buNone/>
            </a:pPr>
            <a:r>
              <a:rPr lang="en-US" altLang="zh-CN" sz="4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 Sno</a:t>
            </a:r>
            <a:endParaRPr lang="en-US" altLang="zh-CN" sz="4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just">
              <a:buNone/>
            </a:pPr>
            <a:r>
              <a:rPr lang="en-US" altLang="zh-CN" sz="4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from s</a:t>
            </a:r>
            <a:endParaRPr lang="en-US" altLang="zh-CN" sz="4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just">
              <a:buNone/>
            </a:pPr>
            <a:r>
              <a:rPr lang="en-US" altLang="zh-CN" sz="4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where sdept = '</a:t>
            </a:r>
            <a:r>
              <a:rPr lang="zh-CN" altLang="en-US" sz="4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电子系';</a:t>
            </a:r>
            <a:endParaRPr lang="zh-CN" altLang="en-US" sz="4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600"/>
              <a:t>2</a:t>
            </a:r>
            <a:endParaRPr lang="en-US" sz="3600"/>
          </a:p>
        </p:txBody>
      </p:sp>
      <p:sp>
        <p:nvSpPr>
          <p:cNvPr id="99331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321945" y="1111885"/>
            <a:ext cx="11696700" cy="291147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3200"/>
              <a:t>学生关系</a:t>
            </a:r>
            <a:r>
              <a:rPr lang="en-US" altLang="zh-CN" sz="3200"/>
              <a:t>S(Sno,Sname,Sdept)，</a:t>
            </a:r>
            <a:r>
              <a:rPr lang="zh-CN" altLang="en-US" sz="3200"/>
              <a:t>其中</a:t>
            </a:r>
            <a:r>
              <a:rPr lang="en-US" altLang="zh-CN" sz="3200"/>
              <a:t>Sno</a:t>
            </a:r>
            <a:r>
              <a:rPr lang="zh-CN" altLang="en-US" sz="3200"/>
              <a:t>为学号，</a:t>
            </a:r>
            <a:r>
              <a:rPr lang="en-US" altLang="zh-CN" sz="3200"/>
              <a:t>Sname</a:t>
            </a:r>
            <a:r>
              <a:rPr lang="zh-CN" altLang="en-US" sz="3200"/>
              <a:t>为姓名，</a:t>
            </a:r>
            <a:r>
              <a:rPr lang="en-US" altLang="zh-CN" sz="3200"/>
              <a:t>Sdept</a:t>
            </a:r>
            <a:r>
              <a:rPr lang="zh-CN" altLang="en-US" sz="3200"/>
              <a:t>为所在系。</a:t>
            </a:r>
            <a:endParaRPr lang="zh-CN" altLang="en-US" sz="3200"/>
          </a:p>
          <a:p>
            <a:pPr marL="0" indent="0" eaLnBrk="1" hangingPunct="1">
              <a:buNone/>
            </a:pPr>
            <a:r>
              <a:rPr lang="zh-CN" altLang="en-US" sz="3200"/>
              <a:t>选课关系</a:t>
            </a:r>
            <a:r>
              <a:rPr lang="en-US" altLang="zh-CN" sz="3200"/>
              <a:t>SC(Sno,Cno,Grade)，</a:t>
            </a:r>
            <a:r>
              <a:rPr lang="zh-CN" altLang="en-US" sz="3200"/>
              <a:t>其中</a:t>
            </a:r>
            <a:r>
              <a:rPr lang="en-US" altLang="zh-CN" sz="3200"/>
              <a:t>Sno</a:t>
            </a:r>
            <a:r>
              <a:rPr lang="zh-CN" altLang="en-US" sz="3200"/>
              <a:t>为学号，</a:t>
            </a:r>
            <a:r>
              <a:rPr lang="en-US" altLang="zh-CN" sz="3200"/>
              <a:t>Cno</a:t>
            </a:r>
            <a:r>
              <a:rPr lang="zh-CN" altLang="en-US" sz="3200"/>
              <a:t>为课程号，</a:t>
            </a:r>
            <a:r>
              <a:rPr lang="en-US" altLang="zh-CN" sz="3200"/>
              <a:t>Grade</a:t>
            </a:r>
            <a:r>
              <a:rPr lang="zh-CN" altLang="en-US" sz="3200"/>
              <a:t>为成绩。</a:t>
            </a:r>
            <a:endParaRPr lang="en-US" altLang="zh-CN" sz="3200"/>
          </a:p>
          <a:p>
            <a:pPr marL="0" indent="0" eaLnBrk="1" hangingPunct="1">
              <a:buNone/>
            </a:pPr>
            <a:r>
              <a:rPr lang="zh-CN" altLang="en-US" sz="3200"/>
              <a:t>查询</a:t>
            </a:r>
            <a:r>
              <a:rPr lang="zh-CN" altLang="en-US" sz="3200" u="sng"/>
              <a:t>所有物理系学生</a:t>
            </a:r>
            <a:r>
              <a:rPr lang="zh-CN" altLang="en-US" sz="3200">
                <a:solidFill>
                  <a:srgbClr val="FF0000"/>
                </a:solidFill>
              </a:rPr>
              <a:t>的学号和姓名</a:t>
            </a:r>
            <a:r>
              <a:rPr lang="zh-CN" altLang="en-US" sz="3200"/>
              <a:t>；</a:t>
            </a:r>
            <a:endParaRPr lang="zh-CN" altLang="en-US" sz="3200"/>
          </a:p>
        </p:txBody>
      </p:sp>
      <p:sp>
        <p:nvSpPr>
          <p:cNvPr id="3" name="文本框 2"/>
          <p:cNvSpPr txBox="1"/>
          <p:nvPr/>
        </p:nvSpPr>
        <p:spPr>
          <a:xfrm>
            <a:off x="2639695" y="3933190"/>
            <a:ext cx="775081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>
              <a:buNone/>
            </a:pPr>
            <a:r>
              <a:rPr lang="en-US" altLang="zh-CN" sz="4000" b="1">
                <a:solidFill>
                  <a:srgbClr val="000000"/>
                </a:solidFill>
                <a:sym typeface="+mn-ea"/>
              </a:rPr>
              <a:t>select </a:t>
            </a:r>
            <a:r>
              <a:rPr lang="en-US" altLang="zh-CN" sz="4000" b="1">
                <a:solidFill>
                  <a:srgbClr val="000000"/>
                </a:solidFill>
                <a:sym typeface="+mn-ea"/>
              </a:rPr>
              <a:t>Sno,</a:t>
            </a:r>
            <a:r>
              <a:rPr lang="en-US" altLang="zh-CN" sz="4000" b="1">
                <a:solidFill>
                  <a:srgbClr val="000000"/>
                </a:solidFill>
                <a:sym typeface="+mn-ea"/>
              </a:rPr>
              <a:t>Sname</a:t>
            </a:r>
            <a:endParaRPr lang="en-US" altLang="zh-CN" sz="4000" b="1">
              <a:solidFill>
                <a:srgbClr val="000000"/>
              </a:solidFill>
              <a:sym typeface="+mn-ea"/>
            </a:endParaRPr>
          </a:p>
          <a:p>
            <a:pPr marL="0" indent="0" algn="just">
              <a:buNone/>
            </a:pPr>
            <a:r>
              <a:rPr lang="en-US" altLang="zh-CN" sz="4000" b="1">
                <a:solidFill>
                  <a:srgbClr val="000000"/>
                </a:solidFill>
                <a:sym typeface="+mn-ea"/>
              </a:rPr>
              <a:t>from s</a:t>
            </a:r>
            <a:endParaRPr lang="en-US" altLang="zh-CN" sz="4000" b="1">
              <a:solidFill>
                <a:srgbClr val="000000"/>
              </a:solidFill>
              <a:sym typeface="+mn-ea"/>
            </a:endParaRPr>
          </a:p>
          <a:p>
            <a:pPr marL="0" indent="0" algn="just">
              <a:buNone/>
            </a:pPr>
            <a:r>
              <a:rPr lang="en-US" altLang="zh-CN" sz="4000" b="1">
                <a:solidFill>
                  <a:srgbClr val="000000"/>
                </a:solidFill>
                <a:sym typeface="+mn-ea"/>
              </a:rPr>
              <a:t>where sdept = '</a:t>
            </a:r>
            <a:r>
              <a:rPr lang="zh-CN" altLang="en-US" sz="4000" b="1">
                <a:solidFill>
                  <a:srgbClr val="000000"/>
                </a:solidFill>
                <a:sym typeface="+mn-ea"/>
              </a:rPr>
              <a:t>物理</a:t>
            </a:r>
            <a:r>
              <a:rPr lang="zh-CN" altLang="en-US" sz="4000" b="1">
                <a:solidFill>
                  <a:srgbClr val="000000"/>
                </a:solidFill>
                <a:sym typeface="+mn-ea"/>
              </a:rPr>
              <a:t>系';</a:t>
            </a:r>
            <a:endParaRPr lang="zh-CN" altLang="en-US" sz="4000" b="1">
              <a:solidFill>
                <a:srgbClr val="00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3</a:t>
            </a:r>
            <a:endParaRPr lang="zh-CN" altLang="en-US" sz="3600"/>
          </a:p>
        </p:txBody>
      </p:sp>
      <p:sp>
        <p:nvSpPr>
          <p:cNvPr id="99331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321945" y="1111885"/>
            <a:ext cx="11696700" cy="291147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3200"/>
              <a:t>学生关系</a:t>
            </a:r>
            <a:r>
              <a:rPr lang="en-US" altLang="zh-CN" sz="3200"/>
              <a:t>S(Sno,Sname,Sdept)，</a:t>
            </a:r>
            <a:r>
              <a:rPr lang="zh-CN" altLang="en-US" sz="3200"/>
              <a:t>其中</a:t>
            </a:r>
            <a:r>
              <a:rPr lang="en-US" altLang="zh-CN" sz="3200"/>
              <a:t>Sno</a:t>
            </a:r>
            <a:r>
              <a:rPr lang="zh-CN" altLang="en-US" sz="3200"/>
              <a:t>为学号，</a:t>
            </a:r>
            <a:r>
              <a:rPr lang="en-US" altLang="zh-CN" sz="3200"/>
              <a:t>Sname</a:t>
            </a:r>
            <a:r>
              <a:rPr lang="zh-CN" altLang="en-US" sz="3200"/>
              <a:t>为姓名，</a:t>
            </a:r>
            <a:r>
              <a:rPr lang="en-US" altLang="zh-CN" sz="3200"/>
              <a:t>Sdept</a:t>
            </a:r>
            <a:r>
              <a:rPr lang="zh-CN" altLang="en-US" sz="3200"/>
              <a:t>为所在系。</a:t>
            </a:r>
            <a:endParaRPr lang="zh-CN" altLang="en-US" sz="3200"/>
          </a:p>
          <a:p>
            <a:pPr marL="0" indent="0" eaLnBrk="1" hangingPunct="1">
              <a:buNone/>
            </a:pPr>
            <a:r>
              <a:rPr lang="zh-CN" altLang="en-US" sz="3200"/>
              <a:t>选课关系</a:t>
            </a:r>
            <a:r>
              <a:rPr lang="en-US" altLang="zh-CN" sz="3200"/>
              <a:t>SC(Sno,Cno,Grade)，</a:t>
            </a:r>
            <a:r>
              <a:rPr lang="zh-CN" altLang="en-US" sz="3200"/>
              <a:t>其中</a:t>
            </a:r>
            <a:r>
              <a:rPr lang="en-US" altLang="zh-CN" sz="3200"/>
              <a:t>Sno</a:t>
            </a:r>
            <a:r>
              <a:rPr lang="zh-CN" altLang="en-US" sz="3200"/>
              <a:t>为学号，</a:t>
            </a:r>
            <a:r>
              <a:rPr lang="en-US" altLang="zh-CN" sz="3200"/>
              <a:t>Cno</a:t>
            </a:r>
            <a:r>
              <a:rPr lang="zh-CN" altLang="en-US" sz="3200"/>
              <a:t>为课程号，</a:t>
            </a:r>
            <a:r>
              <a:rPr lang="en-US" altLang="zh-CN" sz="3200"/>
              <a:t>Grade</a:t>
            </a:r>
            <a:r>
              <a:rPr lang="zh-CN" altLang="en-US" sz="3200"/>
              <a:t>为成绩。</a:t>
            </a:r>
            <a:endParaRPr lang="en-US" altLang="zh-CN" sz="3200"/>
          </a:p>
          <a:p>
            <a:pPr marL="0" indent="0" eaLnBrk="1" hangingPunct="1">
              <a:buNone/>
            </a:pPr>
            <a:r>
              <a:rPr lang="zh-CN" altLang="en-US" sz="3200"/>
              <a:t>查询</a:t>
            </a:r>
            <a:r>
              <a:rPr lang="zh-CN" altLang="en-US" sz="3200" u="sng"/>
              <a:t>选修了课程号为 '</a:t>
            </a:r>
            <a:r>
              <a:rPr lang="en-US" altLang="zh-CN" sz="3200" u="sng"/>
              <a:t>c3'</a:t>
            </a:r>
            <a:r>
              <a:rPr lang="en-US" altLang="zh-CN" sz="3200"/>
              <a:t> </a:t>
            </a:r>
            <a:r>
              <a:rPr lang="zh-CN" altLang="en-US" sz="3200">
                <a:solidFill>
                  <a:srgbClr val="FF0000"/>
                </a:solidFill>
              </a:rPr>
              <a:t>的学生学号和成绩</a:t>
            </a:r>
            <a:r>
              <a:rPr lang="zh-CN" altLang="en-US" sz="3200"/>
              <a:t>，按成绩</a:t>
            </a:r>
            <a:r>
              <a:rPr lang="zh-CN" altLang="en-US" sz="3200"/>
              <a:t>升序排列；</a:t>
            </a:r>
            <a:endParaRPr lang="zh-CN" altLang="en-US" sz="3200"/>
          </a:p>
        </p:txBody>
      </p:sp>
      <p:sp>
        <p:nvSpPr>
          <p:cNvPr id="3" name="文本框 2"/>
          <p:cNvSpPr txBox="1"/>
          <p:nvPr/>
        </p:nvSpPr>
        <p:spPr>
          <a:xfrm>
            <a:off x="2783840" y="3933190"/>
            <a:ext cx="775081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>
              <a:buNone/>
            </a:pPr>
            <a:r>
              <a:rPr lang="en-US" altLang="zh-CN" sz="4000" b="1">
                <a:solidFill>
                  <a:srgbClr val="000000"/>
                </a:solidFill>
                <a:sym typeface="+mn-ea"/>
              </a:rPr>
              <a:t>select sno, grade</a:t>
            </a:r>
            <a:endParaRPr lang="en-US" altLang="zh-CN" sz="4000" b="1">
              <a:solidFill>
                <a:srgbClr val="000000"/>
              </a:solidFill>
              <a:sym typeface="+mn-ea"/>
            </a:endParaRPr>
          </a:p>
          <a:p>
            <a:pPr marL="0" indent="0" algn="just">
              <a:buNone/>
            </a:pPr>
            <a:r>
              <a:rPr lang="en-US" altLang="zh-CN" sz="4000" b="1">
                <a:solidFill>
                  <a:srgbClr val="000000"/>
                </a:solidFill>
                <a:sym typeface="+mn-ea"/>
              </a:rPr>
              <a:t>from sc</a:t>
            </a:r>
            <a:endParaRPr lang="en-US" altLang="zh-CN" sz="4000" b="1">
              <a:solidFill>
                <a:srgbClr val="000000"/>
              </a:solidFill>
              <a:sym typeface="+mn-ea"/>
            </a:endParaRPr>
          </a:p>
          <a:p>
            <a:pPr marL="0" indent="0" algn="just">
              <a:buNone/>
            </a:pPr>
            <a:r>
              <a:rPr lang="en-US" altLang="zh-CN" sz="4000" b="1">
                <a:solidFill>
                  <a:srgbClr val="000000"/>
                </a:solidFill>
                <a:sym typeface="+mn-ea"/>
              </a:rPr>
              <a:t>where cno = 'c3'</a:t>
            </a:r>
            <a:endParaRPr lang="en-US" altLang="zh-CN" sz="4000" b="1">
              <a:solidFill>
                <a:srgbClr val="000000"/>
              </a:solidFill>
              <a:sym typeface="+mn-ea"/>
            </a:endParaRPr>
          </a:p>
          <a:p>
            <a:pPr marL="0" indent="0" algn="just">
              <a:buNone/>
            </a:pPr>
            <a:r>
              <a:rPr lang="en-US" altLang="zh-CN" sz="4000" b="1">
                <a:solidFill>
                  <a:srgbClr val="000000"/>
                </a:solidFill>
                <a:sym typeface="+mn-ea"/>
              </a:rPr>
              <a:t>order by grade;</a:t>
            </a:r>
            <a:endParaRPr lang="zh-CN" altLang="en-US" sz="4000" b="1">
              <a:solidFill>
                <a:srgbClr val="00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4</a:t>
            </a:r>
            <a:endParaRPr lang="en-US" altLang="zh-CN" sz="3600"/>
          </a:p>
        </p:txBody>
      </p:sp>
      <p:sp>
        <p:nvSpPr>
          <p:cNvPr id="99331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321945" y="1111885"/>
            <a:ext cx="11696700" cy="291147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3200"/>
              <a:t>学生关系</a:t>
            </a:r>
            <a:r>
              <a:rPr lang="en-US" altLang="zh-CN" sz="3200"/>
              <a:t>S(Sno,Sname,Sdept)，</a:t>
            </a:r>
            <a:r>
              <a:rPr lang="zh-CN" altLang="en-US" sz="3200"/>
              <a:t>其中</a:t>
            </a:r>
            <a:r>
              <a:rPr lang="en-US" altLang="zh-CN" sz="3200"/>
              <a:t>Sno</a:t>
            </a:r>
            <a:r>
              <a:rPr lang="zh-CN" altLang="en-US" sz="3200"/>
              <a:t>为学号，</a:t>
            </a:r>
            <a:r>
              <a:rPr lang="en-US" altLang="zh-CN" sz="3200"/>
              <a:t>Sname</a:t>
            </a:r>
            <a:r>
              <a:rPr lang="zh-CN" altLang="en-US" sz="3200"/>
              <a:t>为姓名，</a:t>
            </a:r>
            <a:r>
              <a:rPr lang="en-US" altLang="zh-CN" sz="3200"/>
              <a:t>Sdept</a:t>
            </a:r>
            <a:r>
              <a:rPr lang="zh-CN" altLang="en-US" sz="3200"/>
              <a:t>为所在系。</a:t>
            </a:r>
            <a:endParaRPr lang="zh-CN" altLang="en-US" sz="3200"/>
          </a:p>
          <a:p>
            <a:pPr marL="0" indent="0" eaLnBrk="1" hangingPunct="1">
              <a:buNone/>
            </a:pPr>
            <a:r>
              <a:rPr lang="zh-CN" altLang="en-US" sz="3200"/>
              <a:t>选课关系</a:t>
            </a:r>
            <a:r>
              <a:rPr lang="en-US" altLang="zh-CN" sz="3200"/>
              <a:t>SC(Sno,Cno,Grade)，</a:t>
            </a:r>
            <a:r>
              <a:rPr lang="zh-CN" altLang="en-US" sz="3200"/>
              <a:t>其中</a:t>
            </a:r>
            <a:r>
              <a:rPr lang="en-US" altLang="zh-CN" sz="3200"/>
              <a:t>Sno</a:t>
            </a:r>
            <a:r>
              <a:rPr lang="zh-CN" altLang="en-US" sz="3200"/>
              <a:t>为学号，</a:t>
            </a:r>
            <a:r>
              <a:rPr lang="en-US" altLang="zh-CN" sz="3200"/>
              <a:t>Cno</a:t>
            </a:r>
            <a:r>
              <a:rPr lang="zh-CN" altLang="en-US" sz="3200"/>
              <a:t>为课程号，</a:t>
            </a:r>
            <a:r>
              <a:rPr lang="en-US" altLang="zh-CN" sz="3200"/>
              <a:t>Grade</a:t>
            </a:r>
            <a:r>
              <a:rPr lang="zh-CN" altLang="en-US" sz="3200"/>
              <a:t>为成绩。</a:t>
            </a:r>
            <a:endParaRPr lang="en-US" altLang="zh-CN" sz="3200"/>
          </a:p>
          <a:p>
            <a:pPr marL="0" indent="0" eaLnBrk="1" hangingPunct="1">
              <a:buNone/>
            </a:pPr>
            <a:r>
              <a:rPr lang="zh-CN" altLang="en-US" sz="3200"/>
              <a:t>查询</a:t>
            </a:r>
            <a:r>
              <a:rPr lang="zh-CN" altLang="en-US" sz="3200" u="sng"/>
              <a:t>选修了课程号为 '</a:t>
            </a:r>
            <a:r>
              <a:rPr lang="en-US" altLang="zh-CN" sz="3200" u="sng"/>
              <a:t>c3'</a:t>
            </a:r>
            <a:r>
              <a:rPr lang="en-US" altLang="zh-CN" sz="3200"/>
              <a:t> </a:t>
            </a:r>
            <a:r>
              <a:rPr lang="zh-CN" altLang="en-US" sz="3200">
                <a:solidFill>
                  <a:srgbClr val="FF0000"/>
                </a:solidFill>
              </a:rPr>
              <a:t>的学生学号和成绩</a:t>
            </a:r>
            <a:r>
              <a:rPr lang="zh-CN" altLang="en-US" sz="3200"/>
              <a:t>，按成绩</a:t>
            </a:r>
            <a:r>
              <a:rPr lang="zh-CN" altLang="en-US" sz="3200"/>
              <a:t>降序排列；</a:t>
            </a:r>
            <a:endParaRPr lang="zh-CN" altLang="en-US" sz="3200"/>
          </a:p>
        </p:txBody>
      </p:sp>
      <p:sp>
        <p:nvSpPr>
          <p:cNvPr id="3" name="文本框 2"/>
          <p:cNvSpPr txBox="1"/>
          <p:nvPr/>
        </p:nvSpPr>
        <p:spPr>
          <a:xfrm>
            <a:off x="2783840" y="3933190"/>
            <a:ext cx="775081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>
              <a:buNone/>
            </a:pPr>
            <a:r>
              <a:rPr lang="en-US" altLang="zh-CN" sz="4000" b="1">
                <a:solidFill>
                  <a:srgbClr val="000000"/>
                </a:solidFill>
                <a:sym typeface="+mn-ea"/>
              </a:rPr>
              <a:t>select sno, grade</a:t>
            </a:r>
            <a:endParaRPr lang="en-US" altLang="zh-CN" sz="4000" b="1">
              <a:solidFill>
                <a:srgbClr val="000000"/>
              </a:solidFill>
              <a:sym typeface="+mn-ea"/>
            </a:endParaRPr>
          </a:p>
          <a:p>
            <a:pPr marL="0" indent="0" algn="just">
              <a:buNone/>
            </a:pPr>
            <a:r>
              <a:rPr lang="en-US" altLang="zh-CN" sz="4000" b="1">
                <a:solidFill>
                  <a:srgbClr val="000000"/>
                </a:solidFill>
                <a:sym typeface="+mn-ea"/>
              </a:rPr>
              <a:t>from sc</a:t>
            </a:r>
            <a:endParaRPr lang="en-US" altLang="zh-CN" sz="4000" b="1">
              <a:solidFill>
                <a:srgbClr val="000000"/>
              </a:solidFill>
              <a:sym typeface="+mn-ea"/>
            </a:endParaRPr>
          </a:p>
          <a:p>
            <a:pPr marL="0" indent="0" algn="just">
              <a:buNone/>
            </a:pPr>
            <a:r>
              <a:rPr lang="en-US" altLang="zh-CN" sz="4000" b="1">
                <a:solidFill>
                  <a:srgbClr val="000000"/>
                </a:solidFill>
                <a:sym typeface="+mn-ea"/>
              </a:rPr>
              <a:t>where cno = 'c3'</a:t>
            </a:r>
            <a:endParaRPr lang="en-US" altLang="zh-CN" sz="4000" b="1">
              <a:solidFill>
                <a:srgbClr val="000000"/>
              </a:solidFill>
              <a:sym typeface="+mn-ea"/>
            </a:endParaRPr>
          </a:p>
          <a:p>
            <a:pPr marL="0" indent="0" algn="just">
              <a:buNone/>
            </a:pPr>
            <a:r>
              <a:rPr lang="en-US" altLang="zh-CN" sz="4000" b="1">
                <a:solidFill>
                  <a:srgbClr val="000000"/>
                </a:solidFill>
                <a:sym typeface="+mn-ea"/>
              </a:rPr>
              <a:t>order by grade desc</a:t>
            </a:r>
            <a:r>
              <a:rPr lang="en-US" altLang="zh-CN" sz="4000" b="1">
                <a:solidFill>
                  <a:srgbClr val="000000"/>
                </a:solidFill>
                <a:sym typeface="+mn-ea"/>
              </a:rPr>
              <a:t>;</a:t>
            </a:r>
            <a:endParaRPr lang="en-US" altLang="zh-CN" sz="4000" b="1">
              <a:solidFill>
                <a:srgbClr val="00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600"/>
              <a:t>5</a:t>
            </a:r>
            <a:endParaRPr lang="en-US" sz="3600"/>
          </a:p>
        </p:txBody>
      </p:sp>
      <p:sp>
        <p:nvSpPr>
          <p:cNvPr id="99331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321945" y="1111885"/>
            <a:ext cx="11696700" cy="338264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3200"/>
              <a:t>学生关系</a:t>
            </a:r>
            <a:r>
              <a:rPr lang="en-US" altLang="zh-CN" sz="3200"/>
              <a:t>S(Sno,Sname,Sdept)，</a:t>
            </a:r>
            <a:r>
              <a:rPr lang="zh-CN" altLang="en-US" sz="3200"/>
              <a:t>其中</a:t>
            </a:r>
            <a:r>
              <a:rPr lang="en-US" altLang="zh-CN" sz="3200"/>
              <a:t>Sno</a:t>
            </a:r>
            <a:r>
              <a:rPr lang="zh-CN" altLang="en-US" sz="3200"/>
              <a:t>为学号，</a:t>
            </a:r>
            <a:r>
              <a:rPr lang="en-US" altLang="zh-CN" sz="3200"/>
              <a:t>Sname</a:t>
            </a:r>
            <a:r>
              <a:rPr lang="zh-CN" altLang="en-US" sz="3200"/>
              <a:t>为姓名，</a:t>
            </a:r>
            <a:r>
              <a:rPr lang="en-US" altLang="zh-CN" sz="3200"/>
              <a:t>Sdept</a:t>
            </a:r>
            <a:r>
              <a:rPr lang="zh-CN" altLang="en-US" sz="3200"/>
              <a:t>为所在系。</a:t>
            </a:r>
            <a:endParaRPr lang="zh-CN" altLang="en-US" sz="3200"/>
          </a:p>
          <a:p>
            <a:pPr marL="0" indent="0" eaLnBrk="1" hangingPunct="1">
              <a:buNone/>
            </a:pPr>
            <a:r>
              <a:rPr lang="zh-CN" altLang="en-US" sz="3200"/>
              <a:t>选课关系</a:t>
            </a:r>
            <a:r>
              <a:rPr lang="en-US" altLang="zh-CN" sz="3200"/>
              <a:t>SC(Sno,Cno,Grade)，</a:t>
            </a:r>
            <a:r>
              <a:rPr lang="zh-CN" altLang="en-US" sz="3200"/>
              <a:t>其中</a:t>
            </a:r>
            <a:r>
              <a:rPr lang="en-US" altLang="zh-CN" sz="3200"/>
              <a:t>Sno</a:t>
            </a:r>
            <a:r>
              <a:rPr lang="zh-CN" altLang="en-US" sz="3200"/>
              <a:t>为学号，</a:t>
            </a:r>
            <a:r>
              <a:rPr lang="en-US" altLang="zh-CN" sz="3200"/>
              <a:t>Cno</a:t>
            </a:r>
            <a:r>
              <a:rPr lang="zh-CN" altLang="en-US" sz="3200"/>
              <a:t>为课程号，</a:t>
            </a:r>
            <a:r>
              <a:rPr lang="en-US" altLang="zh-CN" sz="3200"/>
              <a:t>Grade</a:t>
            </a:r>
            <a:r>
              <a:rPr lang="zh-CN" altLang="en-US" sz="3200"/>
              <a:t>为成绩。</a:t>
            </a:r>
            <a:endParaRPr lang="en-US" altLang="zh-CN" sz="3200"/>
          </a:p>
          <a:p>
            <a:pPr marL="0" indent="0" eaLnBrk="1" hangingPunct="1">
              <a:buNone/>
            </a:pPr>
            <a:r>
              <a:rPr lang="en-US" altLang="zh-CN" sz="3200"/>
              <a:t>[</a:t>
            </a:r>
            <a:r>
              <a:rPr lang="zh-CN" altLang="en-US" sz="3200"/>
              <a:t>例</a:t>
            </a:r>
            <a:r>
              <a:rPr lang="en-US" altLang="zh-CN" sz="3200"/>
              <a:t>3.48 ]</a:t>
            </a:r>
            <a:r>
              <a:rPr lang="zh-CN" altLang="en-US" sz="3200"/>
              <a:t>查询学生</a:t>
            </a:r>
            <a:r>
              <a:rPr lang="zh-CN" altLang="en-US" sz="3200">
                <a:solidFill>
                  <a:srgbClr val="FF0000"/>
                </a:solidFill>
              </a:rPr>
              <a:t>的学生学号和平均成绩（查询每个学生的平均成绩，要求显示学号及平均成绩；）</a:t>
            </a:r>
            <a:endParaRPr lang="zh-CN" altLang="en-US" sz="320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31540" y="4509135"/>
            <a:ext cx="775081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>
              <a:buNone/>
            </a:pPr>
            <a:r>
              <a:rPr lang="en-US" altLang="zh-CN" sz="4000" b="1">
                <a:solidFill>
                  <a:srgbClr val="000000"/>
                </a:solidFill>
                <a:sym typeface="+mn-ea"/>
              </a:rPr>
              <a:t>select sno, avg(grade)</a:t>
            </a:r>
            <a:endParaRPr lang="en-US" altLang="zh-CN" sz="4000" b="1">
              <a:solidFill>
                <a:srgbClr val="000000"/>
              </a:solidFill>
              <a:sym typeface="+mn-ea"/>
            </a:endParaRPr>
          </a:p>
          <a:p>
            <a:pPr marL="0" indent="0" algn="just">
              <a:buNone/>
            </a:pPr>
            <a:r>
              <a:rPr lang="en-US" altLang="zh-CN" sz="4000" b="1">
                <a:solidFill>
                  <a:srgbClr val="000000"/>
                </a:solidFill>
                <a:sym typeface="+mn-ea"/>
              </a:rPr>
              <a:t>from sc</a:t>
            </a:r>
            <a:endParaRPr lang="en-US" altLang="zh-CN" sz="4000" b="1">
              <a:solidFill>
                <a:srgbClr val="000000"/>
              </a:solidFill>
              <a:sym typeface="+mn-ea"/>
            </a:endParaRPr>
          </a:p>
          <a:p>
            <a:pPr marL="0" indent="0" algn="just">
              <a:buNone/>
            </a:pPr>
            <a:r>
              <a:rPr lang="en-US" altLang="zh-CN" sz="4000" b="1">
                <a:solidFill>
                  <a:srgbClr val="000000"/>
                </a:solidFill>
                <a:sym typeface="+mn-ea"/>
              </a:rPr>
              <a:t>group by sno;</a:t>
            </a:r>
            <a:endParaRPr lang="en-US" altLang="zh-CN" sz="4000" b="1">
              <a:solidFill>
                <a:srgbClr val="00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600"/>
              <a:t>6</a:t>
            </a:r>
            <a:endParaRPr lang="en-US" sz="3600"/>
          </a:p>
        </p:txBody>
      </p:sp>
      <p:sp>
        <p:nvSpPr>
          <p:cNvPr id="99331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321945" y="1111885"/>
            <a:ext cx="11696700" cy="291147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3200"/>
              <a:t>学生关系</a:t>
            </a:r>
            <a:r>
              <a:rPr lang="en-US" altLang="zh-CN" sz="3200"/>
              <a:t>S(Sno,Sname,Sdept)，</a:t>
            </a:r>
            <a:r>
              <a:rPr lang="zh-CN" altLang="en-US" sz="3200"/>
              <a:t>其中</a:t>
            </a:r>
            <a:r>
              <a:rPr lang="en-US" altLang="zh-CN" sz="3200"/>
              <a:t>Sno</a:t>
            </a:r>
            <a:r>
              <a:rPr lang="zh-CN" altLang="en-US" sz="3200"/>
              <a:t>为学号，</a:t>
            </a:r>
            <a:r>
              <a:rPr lang="en-US" altLang="zh-CN" sz="3200"/>
              <a:t>Sname</a:t>
            </a:r>
            <a:r>
              <a:rPr lang="zh-CN" altLang="en-US" sz="3200"/>
              <a:t>为姓名，</a:t>
            </a:r>
            <a:r>
              <a:rPr lang="en-US" altLang="zh-CN" sz="3200"/>
              <a:t>Sdept</a:t>
            </a:r>
            <a:r>
              <a:rPr lang="zh-CN" altLang="en-US" sz="3200"/>
              <a:t>为所在系。</a:t>
            </a:r>
            <a:endParaRPr lang="zh-CN" altLang="en-US" sz="3200"/>
          </a:p>
          <a:p>
            <a:pPr marL="0" indent="0" eaLnBrk="1" hangingPunct="1">
              <a:buNone/>
            </a:pPr>
            <a:r>
              <a:rPr lang="zh-CN" altLang="en-US" sz="3200"/>
              <a:t>选课关系</a:t>
            </a:r>
            <a:r>
              <a:rPr lang="en-US" altLang="zh-CN" sz="3200"/>
              <a:t>SC(Sno,Cno,Grade)，</a:t>
            </a:r>
            <a:r>
              <a:rPr lang="zh-CN" altLang="en-US" sz="3200"/>
              <a:t>其中</a:t>
            </a:r>
            <a:r>
              <a:rPr lang="en-US" altLang="zh-CN" sz="3200"/>
              <a:t>Sno</a:t>
            </a:r>
            <a:r>
              <a:rPr lang="zh-CN" altLang="en-US" sz="3200"/>
              <a:t>为学号，</a:t>
            </a:r>
            <a:r>
              <a:rPr lang="en-US" altLang="zh-CN" sz="3200"/>
              <a:t>Cno</a:t>
            </a:r>
            <a:r>
              <a:rPr lang="zh-CN" altLang="en-US" sz="3200"/>
              <a:t>为课程号，</a:t>
            </a:r>
            <a:r>
              <a:rPr lang="en-US" altLang="zh-CN" sz="3200"/>
              <a:t>Grade</a:t>
            </a:r>
            <a:r>
              <a:rPr lang="zh-CN" altLang="en-US" sz="3200"/>
              <a:t>为成绩。</a:t>
            </a:r>
            <a:endParaRPr lang="en-US" altLang="zh-CN" sz="3200"/>
          </a:p>
          <a:p>
            <a:pPr marL="0" indent="0" eaLnBrk="1" hangingPunct="1">
              <a:buNone/>
            </a:pPr>
            <a:r>
              <a:rPr lang="en-US" altLang="zh-CN" sz="3200"/>
              <a:t>[</a:t>
            </a:r>
            <a:r>
              <a:rPr lang="zh-CN" altLang="en-US" sz="3200"/>
              <a:t>例</a:t>
            </a:r>
            <a:r>
              <a:rPr lang="en-US" altLang="zh-CN" sz="3200"/>
              <a:t>3.48 ]</a:t>
            </a:r>
            <a:r>
              <a:rPr lang="zh-CN" altLang="en-US" sz="3200"/>
              <a:t>查询</a:t>
            </a:r>
            <a:r>
              <a:rPr lang="zh-CN" altLang="en-US" sz="3200" u="sng"/>
              <a:t>平均成绩大于等于</a:t>
            </a:r>
            <a:r>
              <a:rPr lang="en-US" altLang="zh-CN" sz="3200" u="sng"/>
              <a:t>90</a:t>
            </a:r>
            <a:r>
              <a:rPr lang="zh-CN" altLang="en-US" sz="3200" u="sng"/>
              <a:t>分</a:t>
            </a:r>
            <a:r>
              <a:rPr lang="zh-CN" altLang="en-US" sz="3200">
                <a:solidFill>
                  <a:srgbClr val="FF0000"/>
                </a:solidFill>
              </a:rPr>
              <a:t>的学生学号和平均成绩。</a:t>
            </a:r>
            <a:endParaRPr lang="zh-CN" altLang="en-US" sz="320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endParaRPr lang="zh-CN" altLang="en-US" sz="320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11450" y="3861435"/>
            <a:ext cx="775081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>
              <a:buNone/>
            </a:pPr>
            <a:r>
              <a:rPr lang="en-US" altLang="zh-CN" sz="4000" b="1">
                <a:solidFill>
                  <a:srgbClr val="000000"/>
                </a:solidFill>
                <a:sym typeface="+mn-ea"/>
              </a:rPr>
              <a:t>select sno, avg(grade)</a:t>
            </a:r>
            <a:endParaRPr lang="en-US" altLang="zh-CN" sz="4000" b="1">
              <a:solidFill>
                <a:srgbClr val="000000"/>
              </a:solidFill>
              <a:sym typeface="+mn-ea"/>
            </a:endParaRPr>
          </a:p>
          <a:p>
            <a:pPr marL="0" indent="0" algn="just">
              <a:buNone/>
            </a:pPr>
            <a:r>
              <a:rPr lang="en-US" altLang="zh-CN" sz="4000" b="1">
                <a:solidFill>
                  <a:srgbClr val="000000"/>
                </a:solidFill>
                <a:sym typeface="+mn-ea"/>
              </a:rPr>
              <a:t>from sc</a:t>
            </a:r>
            <a:endParaRPr lang="en-US" altLang="zh-CN" sz="4000" b="1">
              <a:solidFill>
                <a:srgbClr val="000000"/>
              </a:solidFill>
              <a:sym typeface="+mn-ea"/>
            </a:endParaRPr>
          </a:p>
          <a:p>
            <a:pPr marL="0" indent="0" algn="just">
              <a:buNone/>
            </a:pPr>
            <a:r>
              <a:rPr lang="en-US" altLang="zh-CN" sz="4000" b="1">
                <a:solidFill>
                  <a:srgbClr val="000000"/>
                </a:solidFill>
                <a:sym typeface="+mn-ea"/>
              </a:rPr>
              <a:t>group by sno</a:t>
            </a:r>
            <a:endParaRPr lang="en-US" altLang="zh-CN" sz="4000" b="1">
              <a:solidFill>
                <a:srgbClr val="000000"/>
              </a:solidFill>
              <a:sym typeface="+mn-ea"/>
            </a:endParaRPr>
          </a:p>
          <a:p>
            <a:pPr marL="0" indent="0" algn="just">
              <a:buNone/>
            </a:pPr>
            <a:r>
              <a:rPr lang="en-US" altLang="zh-CN" sz="4000" b="1">
                <a:solidFill>
                  <a:srgbClr val="000000"/>
                </a:solidFill>
                <a:sym typeface="+mn-ea"/>
              </a:rPr>
              <a:t>having avg(grade)&gt;=90;</a:t>
            </a:r>
            <a:endParaRPr lang="en-US" altLang="zh-CN" sz="4000" b="1">
              <a:solidFill>
                <a:srgbClr val="00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600"/>
              <a:t>7</a:t>
            </a:r>
            <a:endParaRPr lang="en-US" sz="3600"/>
          </a:p>
        </p:txBody>
      </p:sp>
      <p:sp>
        <p:nvSpPr>
          <p:cNvPr id="99331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247650" y="908685"/>
            <a:ext cx="11696700" cy="387286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3200"/>
              <a:t>学生关系</a:t>
            </a:r>
            <a:r>
              <a:rPr lang="en-US" altLang="zh-CN" sz="3200"/>
              <a:t>S(Sno,Sname,Sdept)，</a:t>
            </a:r>
            <a:r>
              <a:rPr lang="zh-CN" altLang="en-US" sz="3200"/>
              <a:t>其中</a:t>
            </a:r>
            <a:r>
              <a:rPr lang="en-US" altLang="zh-CN" sz="3200"/>
              <a:t>Sno</a:t>
            </a:r>
            <a:r>
              <a:rPr lang="zh-CN" altLang="en-US" sz="3200"/>
              <a:t>为学号，</a:t>
            </a:r>
            <a:r>
              <a:rPr lang="en-US" altLang="zh-CN" sz="3200"/>
              <a:t>Sname</a:t>
            </a:r>
            <a:r>
              <a:rPr lang="zh-CN" altLang="en-US" sz="3200"/>
              <a:t>为姓名，</a:t>
            </a:r>
            <a:r>
              <a:rPr lang="en-US" altLang="zh-CN" sz="3200"/>
              <a:t>Sdept</a:t>
            </a:r>
            <a:r>
              <a:rPr lang="zh-CN" altLang="en-US" sz="3200"/>
              <a:t>为所在系。</a:t>
            </a:r>
            <a:endParaRPr lang="zh-CN" altLang="en-US" sz="3200"/>
          </a:p>
          <a:p>
            <a:pPr marL="0" indent="0" eaLnBrk="1" hangingPunct="1">
              <a:buNone/>
            </a:pPr>
            <a:r>
              <a:rPr lang="zh-CN" altLang="en-US" sz="3200"/>
              <a:t>选课关系</a:t>
            </a:r>
            <a:r>
              <a:rPr lang="en-US" altLang="zh-CN" sz="3200"/>
              <a:t>SC(Sno,Cno,Grade)，</a:t>
            </a:r>
            <a:r>
              <a:rPr lang="zh-CN" altLang="en-US" sz="3200"/>
              <a:t>其中</a:t>
            </a:r>
            <a:r>
              <a:rPr lang="en-US" altLang="zh-CN" sz="3200"/>
              <a:t>Sno</a:t>
            </a:r>
            <a:r>
              <a:rPr lang="zh-CN" altLang="en-US" sz="3200"/>
              <a:t>为学号，</a:t>
            </a:r>
            <a:r>
              <a:rPr lang="en-US" altLang="zh-CN" sz="3200"/>
              <a:t>Cno</a:t>
            </a:r>
            <a:r>
              <a:rPr lang="zh-CN" altLang="en-US" sz="3200"/>
              <a:t>为课程号，</a:t>
            </a:r>
            <a:r>
              <a:rPr lang="en-US" altLang="zh-CN" sz="3200"/>
              <a:t>Grade</a:t>
            </a:r>
            <a:r>
              <a:rPr lang="zh-CN" altLang="en-US" sz="3200"/>
              <a:t>为成绩。</a:t>
            </a:r>
            <a:endParaRPr lang="zh-CN" altLang="en-US" sz="3200"/>
          </a:p>
          <a:p>
            <a:pPr marL="0" indent="0" eaLnBrk="1" hangingPunct="1">
              <a:buNone/>
            </a:pPr>
            <a:r>
              <a:rPr lang="zh-CN" altLang="en-US" sz="3200"/>
              <a:t>课程关系</a:t>
            </a:r>
            <a:r>
              <a:rPr lang="en-US" altLang="zh-CN" sz="3200"/>
              <a:t>C(Cno,Cname, Teacher)，</a:t>
            </a:r>
            <a:r>
              <a:rPr lang="zh-CN" altLang="en-US" sz="3200"/>
              <a:t>其中</a:t>
            </a:r>
            <a:r>
              <a:rPr lang="en-US" altLang="zh-CN" sz="3200"/>
              <a:t>Cno</a:t>
            </a:r>
            <a:r>
              <a:rPr lang="zh-CN" altLang="en-US" sz="3200"/>
              <a:t>为课程号，</a:t>
            </a:r>
            <a:r>
              <a:rPr lang="en-US" altLang="zh-CN" sz="3200"/>
              <a:t>Cname</a:t>
            </a:r>
            <a:r>
              <a:rPr lang="zh-CN" altLang="en-US" sz="3200"/>
              <a:t>为课程名，</a:t>
            </a:r>
            <a:r>
              <a:rPr lang="en-US" altLang="zh-CN" sz="3200"/>
              <a:t>Teacher</a:t>
            </a:r>
            <a:r>
              <a:rPr lang="zh-CN" altLang="en-US" sz="3200"/>
              <a:t>为授课老师姓名。</a:t>
            </a:r>
            <a:endParaRPr lang="zh-CN" altLang="en-US" sz="3200"/>
          </a:p>
          <a:p>
            <a:pPr marL="0" indent="0" eaLnBrk="1" hangingPunct="1">
              <a:buNone/>
            </a:pPr>
            <a:r>
              <a:rPr lang="zh-CN" altLang="en-US" sz="3200">
                <a:solidFill>
                  <a:schemeClr val="tx1"/>
                </a:solidFill>
              </a:rPr>
              <a:t>查询</a:t>
            </a:r>
            <a:r>
              <a:rPr lang="zh-CN" altLang="en-US" sz="3200" u="sng">
                <a:solidFill>
                  <a:schemeClr val="tx1"/>
                </a:solidFill>
              </a:rPr>
              <a:t>选修2门以上课程</a:t>
            </a:r>
            <a:r>
              <a:rPr lang="zh-CN" altLang="en-US" sz="3200">
                <a:solidFill>
                  <a:srgbClr val="FF0000"/>
                </a:solidFill>
              </a:rPr>
              <a:t>的学生学号及选课门数；</a:t>
            </a:r>
            <a:endParaRPr lang="zh-CN" altLang="en-US" sz="320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31315" y="4638040"/>
            <a:ext cx="496316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>
              <a:buNone/>
            </a:pPr>
            <a:r>
              <a:rPr lang="en-US" altLang="zh-CN" sz="28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select sno, count(*)</a:t>
            </a:r>
            <a:endParaRPr lang="en-US" altLang="zh-CN" sz="2800" b="1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marL="0" indent="0" algn="just">
              <a:buNone/>
            </a:pPr>
            <a:r>
              <a:rPr lang="en-US" altLang="zh-CN" sz="28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from sc</a:t>
            </a:r>
            <a:endParaRPr lang="en-US" altLang="zh-CN" sz="2800" b="1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marL="0" indent="0" algn="just">
              <a:buNone/>
            </a:pPr>
            <a:r>
              <a:rPr lang="en-US" altLang="zh-CN" sz="28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group by sno</a:t>
            </a:r>
            <a:endParaRPr lang="en-US" altLang="zh-CN" sz="2800" b="1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marL="0" indent="0" algn="just">
              <a:buNone/>
            </a:pPr>
            <a:r>
              <a:rPr lang="en-US" altLang="zh-CN" sz="28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having count(*) &gt; 2;</a:t>
            </a:r>
            <a:endParaRPr lang="en-US" altLang="zh-CN" sz="2800" b="1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94475" y="4797425"/>
            <a:ext cx="496316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>
              <a:buNone/>
            </a:pPr>
            <a:r>
              <a:rPr lang="zh-CN" altLang="en-US" sz="32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提示：选修2门以上课程是分组之后才能算出来</a:t>
            </a:r>
            <a:r>
              <a:rPr lang="en-US" altLang="zh-CN" sz="32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;</a:t>
            </a:r>
            <a:r>
              <a:rPr lang="zh-CN" altLang="en-US" sz="32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所以写在</a:t>
            </a:r>
            <a:r>
              <a:rPr lang="en-US" altLang="zh-CN" sz="32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having</a:t>
            </a:r>
            <a:r>
              <a:rPr lang="zh-CN" altLang="en-US" sz="32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后面</a:t>
            </a:r>
            <a:endParaRPr lang="zh-CN" altLang="en-US" sz="3200" b="1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600"/>
              <a:t>8</a:t>
            </a:r>
            <a:endParaRPr lang="en-US" sz="3600"/>
          </a:p>
        </p:txBody>
      </p:sp>
      <p:sp>
        <p:nvSpPr>
          <p:cNvPr id="99331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247650" y="908685"/>
            <a:ext cx="11696700" cy="387286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3200"/>
              <a:t>学生关系</a:t>
            </a:r>
            <a:r>
              <a:rPr lang="en-US" altLang="zh-CN" sz="3200"/>
              <a:t>S(Sno,Sname,Sdept)，</a:t>
            </a:r>
            <a:r>
              <a:rPr lang="zh-CN" altLang="en-US" sz="3200"/>
              <a:t>其中</a:t>
            </a:r>
            <a:r>
              <a:rPr lang="en-US" altLang="zh-CN" sz="3200"/>
              <a:t>Sno</a:t>
            </a:r>
            <a:r>
              <a:rPr lang="zh-CN" altLang="en-US" sz="3200"/>
              <a:t>为学号，</a:t>
            </a:r>
            <a:r>
              <a:rPr lang="en-US" altLang="zh-CN" sz="3200"/>
              <a:t>Sname</a:t>
            </a:r>
            <a:r>
              <a:rPr lang="zh-CN" altLang="en-US" sz="3200"/>
              <a:t>为姓名，</a:t>
            </a:r>
            <a:r>
              <a:rPr lang="en-US" altLang="zh-CN" sz="3200"/>
              <a:t>Sdept</a:t>
            </a:r>
            <a:r>
              <a:rPr lang="zh-CN" altLang="en-US" sz="3200"/>
              <a:t>为所在系。</a:t>
            </a:r>
            <a:endParaRPr lang="zh-CN" altLang="en-US" sz="3200"/>
          </a:p>
          <a:p>
            <a:pPr marL="0" indent="0" eaLnBrk="1" hangingPunct="1">
              <a:buNone/>
            </a:pPr>
            <a:r>
              <a:rPr lang="zh-CN" altLang="en-US" sz="3200"/>
              <a:t>选课关系</a:t>
            </a:r>
            <a:r>
              <a:rPr lang="en-US" altLang="zh-CN" sz="3200"/>
              <a:t>SC(Sno,Cno,Grade)，</a:t>
            </a:r>
            <a:r>
              <a:rPr lang="zh-CN" altLang="en-US" sz="3200"/>
              <a:t>其中</a:t>
            </a:r>
            <a:r>
              <a:rPr lang="en-US" altLang="zh-CN" sz="3200"/>
              <a:t>Sno</a:t>
            </a:r>
            <a:r>
              <a:rPr lang="zh-CN" altLang="en-US" sz="3200"/>
              <a:t>为学号，</a:t>
            </a:r>
            <a:r>
              <a:rPr lang="en-US" altLang="zh-CN" sz="3200"/>
              <a:t>Cno</a:t>
            </a:r>
            <a:r>
              <a:rPr lang="zh-CN" altLang="en-US" sz="3200"/>
              <a:t>为课程号，</a:t>
            </a:r>
            <a:r>
              <a:rPr lang="en-US" altLang="zh-CN" sz="3200"/>
              <a:t>Grade</a:t>
            </a:r>
            <a:r>
              <a:rPr lang="zh-CN" altLang="en-US" sz="3200"/>
              <a:t>为成绩。</a:t>
            </a:r>
            <a:endParaRPr lang="zh-CN" altLang="en-US" sz="3200"/>
          </a:p>
          <a:p>
            <a:pPr marL="0" indent="0" eaLnBrk="1" hangingPunct="1">
              <a:buNone/>
            </a:pPr>
            <a:r>
              <a:rPr lang="zh-CN" altLang="en-US" sz="3200"/>
              <a:t>课程关系</a:t>
            </a:r>
            <a:r>
              <a:rPr lang="en-US" altLang="zh-CN" sz="3200"/>
              <a:t>C(Cno,Cname, Teacher)，</a:t>
            </a:r>
            <a:r>
              <a:rPr lang="zh-CN" altLang="en-US" sz="3200"/>
              <a:t>其中</a:t>
            </a:r>
            <a:r>
              <a:rPr lang="en-US" altLang="zh-CN" sz="3200"/>
              <a:t>Cno</a:t>
            </a:r>
            <a:r>
              <a:rPr lang="zh-CN" altLang="en-US" sz="3200"/>
              <a:t>为课程号，</a:t>
            </a:r>
            <a:r>
              <a:rPr lang="en-US" altLang="zh-CN" sz="3200"/>
              <a:t>Cname</a:t>
            </a:r>
            <a:r>
              <a:rPr lang="zh-CN" altLang="en-US" sz="3200"/>
              <a:t>为课程名，</a:t>
            </a:r>
            <a:r>
              <a:rPr lang="en-US" altLang="zh-CN" sz="3200"/>
              <a:t>Teacher</a:t>
            </a:r>
            <a:r>
              <a:rPr lang="zh-CN" altLang="en-US" sz="3200"/>
              <a:t>为授课老师姓名。</a:t>
            </a:r>
            <a:endParaRPr lang="zh-CN" altLang="en-US" sz="3200"/>
          </a:p>
          <a:p>
            <a:pPr marL="0" indent="0" eaLnBrk="1" hangingPunct="1">
              <a:buNone/>
            </a:pPr>
            <a:r>
              <a:rPr lang="zh-CN" altLang="en-US" sz="3200">
                <a:solidFill>
                  <a:schemeClr val="tx1"/>
                </a:solidFill>
              </a:rPr>
              <a:t>查询</a:t>
            </a:r>
            <a:r>
              <a:rPr lang="zh-CN" altLang="en-US" sz="3200" u="sng">
                <a:solidFill>
                  <a:schemeClr val="tx1"/>
                </a:solidFill>
              </a:rPr>
              <a:t>选修‘</a:t>
            </a:r>
            <a:r>
              <a:rPr lang="zh-CN" altLang="en-US" sz="3200" u="sng">
                <a:solidFill>
                  <a:schemeClr val="tx1"/>
                </a:solidFill>
              </a:rPr>
              <a:t>数据结构’课程</a:t>
            </a:r>
            <a:r>
              <a:rPr lang="zh-CN" altLang="en-US" sz="3200">
                <a:solidFill>
                  <a:srgbClr val="FF0000"/>
                </a:solidFill>
              </a:rPr>
              <a:t>的最</a:t>
            </a:r>
            <a:r>
              <a:rPr lang="zh-CN" altLang="en-US" sz="3200">
                <a:solidFill>
                  <a:srgbClr val="FF0000"/>
                </a:solidFill>
              </a:rPr>
              <a:t>低分；</a:t>
            </a:r>
            <a:endParaRPr lang="zh-CN" altLang="en-US" sz="320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97685" y="4638040"/>
            <a:ext cx="1116203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>
              <a:buNone/>
            </a:pPr>
            <a:r>
              <a:rPr lang="en-US" altLang="zh-CN" sz="36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select min(grade)</a:t>
            </a:r>
            <a:endParaRPr lang="en-US" altLang="zh-CN" sz="3600" b="1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marL="0" indent="0" algn="just">
              <a:buNone/>
            </a:pPr>
            <a:r>
              <a:rPr lang="en-US" altLang="zh-CN" sz="36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from sc,c</a:t>
            </a:r>
            <a:endParaRPr lang="en-US" altLang="zh-CN" sz="3600" b="1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marL="0" indent="0" algn="just">
              <a:buNone/>
            </a:pPr>
            <a:r>
              <a:rPr lang="en-US" altLang="zh-CN" sz="36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where sc.cno = c.cno and cname = '</a:t>
            </a:r>
            <a:r>
              <a:rPr lang="zh-CN" altLang="en-US" sz="36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数据库';</a:t>
            </a:r>
            <a:endParaRPr lang="zh-CN" altLang="en-US" sz="3600" b="1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600"/>
              <a:t>9</a:t>
            </a:r>
            <a:endParaRPr lang="en-US" sz="3600"/>
          </a:p>
        </p:txBody>
      </p:sp>
      <p:sp>
        <p:nvSpPr>
          <p:cNvPr id="99331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247650" y="908685"/>
            <a:ext cx="11696700" cy="431101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3200"/>
              <a:t>学生关系</a:t>
            </a:r>
            <a:r>
              <a:rPr lang="en-US" altLang="zh-CN" sz="3200"/>
              <a:t>S(Sno,Sname,Sdept)，</a:t>
            </a:r>
            <a:r>
              <a:rPr lang="zh-CN" altLang="en-US" sz="3200"/>
              <a:t>其中</a:t>
            </a:r>
            <a:r>
              <a:rPr lang="en-US" altLang="zh-CN" sz="3200"/>
              <a:t>Sno</a:t>
            </a:r>
            <a:r>
              <a:rPr lang="zh-CN" altLang="en-US" sz="3200"/>
              <a:t>为学号，</a:t>
            </a:r>
            <a:r>
              <a:rPr lang="en-US" altLang="zh-CN" sz="3200"/>
              <a:t>Sname</a:t>
            </a:r>
            <a:r>
              <a:rPr lang="zh-CN" altLang="en-US" sz="3200"/>
              <a:t>为姓名，</a:t>
            </a:r>
            <a:r>
              <a:rPr lang="en-US" altLang="zh-CN" sz="3200"/>
              <a:t>Sdept</a:t>
            </a:r>
            <a:r>
              <a:rPr lang="zh-CN" altLang="en-US" sz="3200"/>
              <a:t>为所在系。</a:t>
            </a:r>
            <a:endParaRPr lang="zh-CN" altLang="en-US" sz="3200"/>
          </a:p>
          <a:p>
            <a:pPr marL="0" indent="0" eaLnBrk="1" hangingPunct="1">
              <a:buNone/>
            </a:pPr>
            <a:r>
              <a:rPr lang="zh-CN" altLang="en-US" sz="3200"/>
              <a:t>选课关系</a:t>
            </a:r>
            <a:r>
              <a:rPr lang="en-US" altLang="zh-CN" sz="3200"/>
              <a:t>SC(Sno,Cno,Grade)，</a:t>
            </a:r>
            <a:r>
              <a:rPr lang="zh-CN" altLang="en-US" sz="3200"/>
              <a:t>其中</a:t>
            </a:r>
            <a:r>
              <a:rPr lang="en-US" altLang="zh-CN" sz="3200"/>
              <a:t>Sno</a:t>
            </a:r>
            <a:r>
              <a:rPr lang="zh-CN" altLang="en-US" sz="3200"/>
              <a:t>为学号，</a:t>
            </a:r>
            <a:r>
              <a:rPr lang="en-US" altLang="zh-CN" sz="3200"/>
              <a:t>Cno</a:t>
            </a:r>
            <a:r>
              <a:rPr lang="zh-CN" altLang="en-US" sz="3200"/>
              <a:t>为课程号，</a:t>
            </a:r>
            <a:r>
              <a:rPr lang="en-US" altLang="zh-CN" sz="3200"/>
              <a:t>Grade</a:t>
            </a:r>
            <a:r>
              <a:rPr lang="zh-CN" altLang="en-US" sz="3200"/>
              <a:t>为成绩。</a:t>
            </a:r>
            <a:endParaRPr lang="zh-CN" altLang="en-US" sz="3200"/>
          </a:p>
          <a:p>
            <a:pPr marL="0" indent="0" eaLnBrk="1" hangingPunct="1">
              <a:buNone/>
            </a:pPr>
            <a:r>
              <a:rPr lang="zh-CN" altLang="en-US" sz="3200"/>
              <a:t>课程关系</a:t>
            </a:r>
            <a:r>
              <a:rPr lang="en-US" altLang="zh-CN" sz="3200"/>
              <a:t>C(Cno,Cname, Teacher)，</a:t>
            </a:r>
            <a:r>
              <a:rPr lang="zh-CN" altLang="en-US" sz="3200"/>
              <a:t>其中</a:t>
            </a:r>
            <a:r>
              <a:rPr lang="en-US" altLang="zh-CN" sz="3200"/>
              <a:t>Cno</a:t>
            </a:r>
            <a:r>
              <a:rPr lang="zh-CN" altLang="en-US" sz="3200"/>
              <a:t>为课程号，</a:t>
            </a:r>
            <a:r>
              <a:rPr lang="en-US" altLang="zh-CN" sz="3200"/>
              <a:t>Cname</a:t>
            </a:r>
            <a:r>
              <a:rPr lang="zh-CN" altLang="en-US" sz="3200"/>
              <a:t>为课程名，</a:t>
            </a:r>
            <a:r>
              <a:rPr lang="en-US" altLang="zh-CN" sz="3200"/>
              <a:t>Teacher</a:t>
            </a:r>
            <a:r>
              <a:rPr lang="zh-CN" altLang="en-US" sz="3200"/>
              <a:t>为授课老师姓名。</a:t>
            </a:r>
            <a:endParaRPr lang="zh-CN" altLang="en-US" sz="3200"/>
          </a:p>
          <a:p>
            <a:pPr marL="0" indent="0" eaLnBrk="1" hangingPunct="1">
              <a:buNone/>
            </a:pPr>
            <a:r>
              <a:rPr lang="zh-CN" altLang="en-US" sz="3200">
                <a:solidFill>
                  <a:schemeClr val="tx1"/>
                </a:solidFill>
              </a:rPr>
              <a:t>查询体育系学生</a:t>
            </a:r>
            <a:r>
              <a:rPr lang="zh-CN" altLang="en-US" sz="3200">
                <a:solidFill>
                  <a:srgbClr val="FF0000"/>
                </a:solidFill>
              </a:rPr>
              <a:t>的学号及选修课程的平均成绩。</a:t>
            </a:r>
            <a:endParaRPr lang="zh-CN" altLang="en-US" sz="320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endParaRPr lang="en-US" altLang="zh-CN" sz="240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76135" y="4797425"/>
            <a:ext cx="496316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>
              <a:buNone/>
            </a:pPr>
            <a:r>
              <a:rPr lang="zh-CN" altLang="en-US" sz="32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提示：平均成绩肯定要分组。</a:t>
            </a:r>
            <a:r>
              <a:rPr lang="zh-CN" altLang="en-US" sz="32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算学生的平均成绩，那就对学生</a:t>
            </a:r>
            <a:r>
              <a:rPr lang="zh-CN" altLang="en-US" sz="32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分组</a:t>
            </a:r>
            <a:endParaRPr lang="zh-CN" altLang="en-US" sz="3200" b="1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600"/>
              <a:t>9</a:t>
            </a:r>
            <a:endParaRPr lang="en-US" sz="3600"/>
          </a:p>
        </p:txBody>
      </p:sp>
      <p:sp>
        <p:nvSpPr>
          <p:cNvPr id="99331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247650" y="908685"/>
            <a:ext cx="11696700" cy="431101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3200"/>
              <a:t>学生关系</a:t>
            </a:r>
            <a:r>
              <a:rPr lang="en-US" altLang="zh-CN" sz="3200"/>
              <a:t>S(Sno,Sname,Sdept)，</a:t>
            </a:r>
            <a:r>
              <a:rPr lang="zh-CN" altLang="en-US" sz="3200"/>
              <a:t>其中</a:t>
            </a:r>
            <a:r>
              <a:rPr lang="en-US" altLang="zh-CN" sz="3200"/>
              <a:t>Sno</a:t>
            </a:r>
            <a:r>
              <a:rPr lang="zh-CN" altLang="en-US" sz="3200"/>
              <a:t>为学号，</a:t>
            </a:r>
            <a:r>
              <a:rPr lang="en-US" altLang="zh-CN" sz="3200"/>
              <a:t>Sname</a:t>
            </a:r>
            <a:r>
              <a:rPr lang="zh-CN" altLang="en-US" sz="3200"/>
              <a:t>为姓名，</a:t>
            </a:r>
            <a:r>
              <a:rPr lang="en-US" altLang="zh-CN" sz="3200"/>
              <a:t>Sdept</a:t>
            </a:r>
            <a:r>
              <a:rPr lang="zh-CN" altLang="en-US" sz="3200"/>
              <a:t>为所在系。</a:t>
            </a:r>
            <a:endParaRPr lang="zh-CN" altLang="en-US" sz="3200"/>
          </a:p>
          <a:p>
            <a:pPr marL="0" indent="0" eaLnBrk="1" hangingPunct="1">
              <a:buNone/>
            </a:pPr>
            <a:r>
              <a:rPr lang="zh-CN" altLang="en-US" sz="3200"/>
              <a:t>选课关系</a:t>
            </a:r>
            <a:r>
              <a:rPr lang="en-US" altLang="zh-CN" sz="3200"/>
              <a:t>SC(Sno,Cno,Grade)，</a:t>
            </a:r>
            <a:r>
              <a:rPr lang="zh-CN" altLang="en-US" sz="3200"/>
              <a:t>其中</a:t>
            </a:r>
            <a:r>
              <a:rPr lang="en-US" altLang="zh-CN" sz="3200"/>
              <a:t>Sno</a:t>
            </a:r>
            <a:r>
              <a:rPr lang="zh-CN" altLang="en-US" sz="3200"/>
              <a:t>为学号，</a:t>
            </a:r>
            <a:r>
              <a:rPr lang="en-US" altLang="zh-CN" sz="3200"/>
              <a:t>Cno</a:t>
            </a:r>
            <a:r>
              <a:rPr lang="zh-CN" altLang="en-US" sz="3200"/>
              <a:t>为课程号，</a:t>
            </a:r>
            <a:r>
              <a:rPr lang="en-US" altLang="zh-CN" sz="3200"/>
              <a:t>Grade</a:t>
            </a:r>
            <a:r>
              <a:rPr lang="zh-CN" altLang="en-US" sz="3200"/>
              <a:t>为成绩。</a:t>
            </a:r>
            <a:endParaRPr lang="zh-CN" altLang="en-US" sz="3200"/>
          </a:p>
          <a:p>
            <a:pPr marL="0" indent="0" eaLnBrk="1" hangingPunct="1">
              <a:buNone/>
            </a:pPr>
            <a:r>
              <a:rPr lang="zh-CN" altLang="en-US" sz="3200"/>
              <a:t>课程关系</a:t>
            </a:r>
            <a:r>
              <a:rPr lang="en-US" altLang="zh-CN" sz="3200"/>
              <a:t>C(Cno,Cname, Teacher)，</a:t>
            </a:r>
            <a:r>
              <a:rPr lang="zh-CN" altLang="en-US" sz="3200"/>
              <a:t>其中</a:t>
            </a:r>
            <a:r>
              <a:rPr lang="en-US" altLang="zh-CN" sz="3200"/>
              <a:t>Cno</a:t>
            </a:r>
            <a:r>
              <a:rPr lang="zh-CN" altLang="en-US" sz="3200"/>
              <a:t>为课程号，</a:t>
            </a:r>
            <a:r>
              <a:rPr lang="en-US" altLang="zh-CN" sz="3200"/>
              <a:t>Cname</a:t>
            </a:r>
            <a:r>
              <a:rPr lang="zh-CN" altLang="en-US" sz="3200"/>
              <a:t>为课程名，</a:t>
            </a:r>
            <a:r>
              <a:rPr lang="en-US" altLang="zh-CN" sz="3200"/>
              <a:t>Teacher</a:t>
            </a:r>
            <a:r>
              <a:rPr lang="zh-CN" altLang="en-US" sz="3200"/>
              <a:t>为授课老师姓名。</a:t>
            </a:r>
            <a:endParaRPr lang="zh-CN" altLang="en-US" sz="3200"/>
          </a:p>
          <a:p>
            <a:pPr marL="0" indent="0" eaLnBrk="1" hangingPunct="1">
              <a:buNone/>
            </a:pPr>
            <a:r>
              <a:rPr lang="zh-CN" altLang="en-US" sz="3200">
                <a:solidFill>
                  <a:schemeClr val="tx1"/>
                </a:solidFill>
              </a:rPr>
              <a:t>查询</a:t>
            </a:r>
            <a:r>
              <a:rPr lang="zh-CN" altLang="en-US" sz="3200" u="sng">
                <a:solidFill>
                  <a:schemeClr val="tx1"/>
                </a:solidFill>
              </a:rPr>
              <a:t>体育系学生</a:t>
            </a:r>
            <a:r>
              <a:rPr lang="zh-CN" altLang="en-US" sz="3200">
                <a:solidFill>
                  <a:srgbClr val="FF0000"/>
                </a:solidFill>
              </a:rPr>
              <a:t>的学号及选修课程的平均成绩。</a:t>
            </a:r>
            <a:endParaRPr lang="zh-CN" altLang="en-US" sz="320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endParaRPr lang="en-US" altLang="zh-CN" sz="240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7670" y="4725035"/>
            <a:ext cx="779081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eaLnBrk="1" hangingPunct="1">
              <a:buNone/>
            </a:pP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 ....</a:t>
            </a:r>
            <a:endParaRPr lang="en-US" altLang="zh-CN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eaLnBrk="1" hangingPunct="1">
              <a:buNone/>
            </a:pP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from ....</a:t>
            </a:r>
            <a:endParaRPr lang="en-US" altLang="zh-CN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hangingPunct="1">
              <a:buNone/>
            </a:pP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where </a:t>
            </a:r>
            <a:r>
              <a:rPr 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.....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hangingPunct="1">
              <a:buNone/>
            </a:pP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group by ......</a:t>
            </a:r>
            <a:endParaRPr lang="en-US" altLang="zh-CN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37765" y="4725035"/>
            <a:ext cx="9754235" cy="1567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just">
              <a:buNone/>
            </a:pPr>
            <a:r>
              <a:rPr lang="zh-CN" altLang="en-US" sz="32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疑问：</a:t>
            </a:r>
            <a:r>
              <a:rPr lang="zh-CN" altLang="en-US" sz="32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体育系学生是一个条件：sdept = ‘</a:t>
            </a:r>
            <a:r>
              <a:rPr lang="zh-CN" altLang="en-US" sz="32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体育系</a:t>
            </a:r>
            <a:r>
              <a:rPr lang="zh-CN" altLang="en-US" sz="32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’</a:t>
            </a:r>
            <a:endParaRPr lang="zh-CN" altLang="en-US" sz="3200" b="1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just">
              <a:buNone/>
            </a:pPr>
            <a:r>
              <a:rPr lang="zh-CN" altLang="en-US" sz="32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这里又有group by，那这个条件放在where后面还是having后面</a:t>
            </a:r>
            <a:endParaRPr lang="zh-CN" altLang="en-US" sz="3200" b="1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5400"/>
              <a:t>一秒判断</a:t>
            </a:r>
            <a:endParaRPr lang="zh-CN" altLang="en-US" sz="5400"/>
          </a:p>
        </p:txBody>
      </p:sp>
      <p:sp>
        <p:nvSpPr>
          <p:cNvPr id="4" name="文本框 3"/>
          <p:cNvSpPr txBox="1"/>
          <p:nvPr/>
        </p:nvSpPr>
        <p:spPr>
          <a:xfrm>
            <a:off x="153035" y="908685"/>
            <a:ext cx="12038965" cy="2664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just">
              <a:buNone/>
            </a:pPr>
            <a:r>
              <a:rPr lang="zh-CN" altLang="en-US" sz="32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条件为：sdept = ‘</a:t>
            </a:r>
            <a:r>
              <a:rPr lang="zh-CN" altLang="en-US" sz="32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体育系’</a:t>
            </a:r>
            <a:endParaRPr lang="zh-CN" altLang="en-US" sz="3200" b="1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just">
              <a:buNone/>
            </a:pPr>
            <a:r>
              <a:rPr lang="zh-CN" altLang="en-US" sz="32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那就放where后面</a:t>
            </a:r>
            <a:r>
              <a:rPr lang="zh-CN" altLang="en-US" sz="32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条件里面</a:t>
            </a:r>
            <a:r>
              <a:rPr lang="zh-CN" altLang="en-US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没有</a:t>
            </a:r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聚集函数</a:t>
            </a:r>
            <a:r>
              <a:rPr lang="zh-CN" altLang="en-US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endParaRPr lang="zh-CN" altLang="en-US" sz="3200" b="1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just">
              <a:buNone/>
            </a:pPr>
            <a:endParaRPr lang="zh-CN" altLang="en-US" sz="3200" b="1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just">
              <a:buNone/>
            </a:pPr>
            <a:r>
              <a:rPr lang="zh-CN" altLang="en-US" sz="32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条件为：avg(grade) &gt;= 90或者</a:t>
            </a:r>
            <a:r>
              <a:rPr lang="zh-CN" altLang="en-US" sz="32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count(*) &gt; 2</a:t>
            </a:r>
            <a:endParaRPr lang="zh-CN" altLang="en-US" sz="3200" b="1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just">
              <a:buNone/>
            </a:pPr>
            <a:r>
              <a:rPr lang="zh-CN" altLang="en-US" sz="32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那就放having后面</a:t>
            </a:r>
            <a:r>
              <a:rPr lang="zh-CN" altLang="en-US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条件里面</a:t>
            </a:r>
            <a:r>
              <a:rPr lang="zh-CN" altLang="en-US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含有</a:t>
            </a:r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聚集函数</a:t>
            </a:r>
            <a:r>
              <a:rPr lang="zh-CN" altLang="en-US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endParaRPr lang="zh-CN" altLang="en-US" sz="32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" y="3644900"/>
            <a:ext cx="9343390" cy="6921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5" y="4364990"/>
            <a:ext cx="9936480" cy="7905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t="28595" b="-9866"/>
          <a:stretch>
            <a:fillRect/>
          </a:stretch>
        </p:blipFill>
        <p:spPr>
          <a:xfrm>
            <a:off x="335280" y="5372735"/>
            <a:ext cx="10768330" cy="680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GROUP BY</a:t>
            </a:r>
            <a:r>
              <a:rPr lang="zh-CN" altLang="en-US" sz="3600"/>
              <a:t>子句（续）</a:t>
            </a:r>
            <a:endParaRPr lang="zh-CN" altLang="en-US" sz="3600"/>
          </a:p>
        </p:txBody>
      </p:sp>
      <p:sp>
        <p:nvSpPr>
          <p:cNvPr id="2" name="文本框 1"/>
          <p:cNvSpPr txBox="1"/>
          <p:nvPr/>
        </p:nvSpPr>
        <p:spPr>
          <a:xfrm>
            <a:off x="263525" y="765175"/>
            <a:ext cx="11734165" cy="56311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后面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可以放什么？</a:t>
            </a:r>
            <a:endParaRPr lang="zh-CN" altLang="en-US" sz="3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原来表里就有的列名（比如</a:t>
            </a: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Sno, Sname, Grade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3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对列做运算</a:t>
            </a: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聚合出来的</a:t>
            </a: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“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新东西</a:t>
            </a: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（比如</a:t>
            </a: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AVG(Grade), MAX(Grade)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sz="3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00" b="1" strike="sng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</a:t>
            </a:r>
            <a:r>
              <a:rPr lang="en-US" altLang="zh-CN" sz="3600" b="1" strike="sng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extract(year from current_date)-extract(year from Sbirthdate) 等等</a:t>
            </a:r>
            <a:r>
              <a:rPr lang="zh-CN" altLang="en-US" sz="3600" b="1" strike="sng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式子</a:t>
            </a:r>
            <a:endParaRPr lang="zh-CN" altLang="en-US" sz="3600" b="1" strike="sngStrike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分组是怎么分的？</a:t>
            </a: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GROUP BY 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谁，就按谁的值分组，值一样的放一组。</a:t>
            </a:r>
            <a:endParaRPr lang="zh-CN" altLang="en-US" sz="3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按学号分组：学号一样</a:t>
            </a: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同一组</a:t>
            </a:r>
            <a:endParaRPr lang="zh-CN" altLang="en-US" sz="3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3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GROUP BY</a:t>
            </a:r>
            <a:r>
              <a:rPr lang="zh-CN" altLang="en-US" sz="3600"/>
              <a:t>子句（续）</a:t>
            </a:r>
            <a:endParaRPr lang="zh-CN" altLang="en-US" sz="3600"/>
          </a:p>
        </p:txBody>
      </p:sp>
      <p:sp>
        <p:nvSpPr>
          <p:cNvPr id="99331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1981201" y="835660"/>
            <a:ext cx="8582025" cy="564515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/>
              <a:t>[</a:t>
            </a:r>
            <a:r>
              <a:rPr lang="zh-CN" altLang="en-US"/>
              <a:t>例</a:t>
            </a:r>
            <a:r>
              <a:rPr lang="en-US" altLang="zh-CN"/>
              <a:t>3.48 ]</a:t>
            </a:r>
            <a:r>
              <a:rPr lang="zh-CN" altLang="en-US"/>
              <a:t>查询平均成绩大于等于</a:t>
            </a:r>
            <a:r>
              <a:rPr lang="en-US" altLang="zh-CN"/>
              <a:t>90</a:t>
            </a:r>
            <a:r>
              <a:rPr lang="zh-CN" altLang="en-US"/>
              <a:t>分的学生学号和平均成绩</a:t>
            </a:r>
            <a:endParaRPr lang="zh-CN" altLang="en-US"/>
          </a:p>
          <a:p>
            <a:pPr marL="0" indent="0" algn="just">
              <a:buNone/>
            </a:pPr>
            <a:r>
              <a:rPr lang="en-US" altLang="zh-CN"/>
              <a:t>SELECT Sno,AVG(Grade)</a:t>
            </a:r>
            <a:endParaRPr lang="zh-CN" altLang="zh-CN"/>
          </a:p>
          <a:p>
            <a:pPr marL="0" indent="0" algn="just">
              <a:buNone/>
            </a:pPr>
            <a:r>
              <a:rPr lang="en-US" altLang="zh-CN"/>
              <a:t>FROM SC</a:t>
            </a:r>
            <a:endParaRPr lang="zh-CN" altLang="zh-CN"/>
          </a:p>
          <a:p>
            <a:pPr marL="0" indent="0" algn="just">
              <a:buNone/>
            </a:pPr>
            <a:r>
              <a:rPr lang="en-US" altLang="zh-CN"/>
              <a:t>GROUP BY Sno</a:t>
            </a:r>
            <a:endParaRPr lang="zh-CN" altLang="zh-CN"/>
          </a:p>
          <a:p>
            <a:pPr marL="0" indent="0" algn="just">
              <a:buNone/>
            </a:pPr>
            <a:r>
              <a:rPr lang="en-US" altLang="zh-CN">
                <a:solidFill>
                  <a:srgbClr val="000000"/>
                </a:solidFill>
              </a:rPr>
              <a:t>HAVING AVG(Grade)&gt;=90;</a:t>
            </a:r>
            <a:endParaRPr lang="zh-CN" altLang="zh-CN"/>
          </a:p>
          <a:p>
            <a:pPr marL="0" indent="0" algn="just">
              <a:buNone/>
            </a:pPr>
            <a:r>
              <a:rPr lang="zh-CN" altLang="zh-CN">
                <a:solidFill>
                  <a:srgbClr val="7030A0"/>
                </a:solidFill>
              </a:rPr>
              <a:t>下面的语句是错误的：</a:t>
            </a:r>
            <a:endParaRPr lang="zh-CN" altLang="zh-CN">
              <a:solidFill>
                <a:srgbClr val="7030A0"/>
              </a:solidFill>
            </a:endParaRPr>
          </a:p>
          <a:p>
            <a:pPr marL="0" indent="0" algn="just">
              <a:buNone/>
            </a:pPr>
            <a:r>
              <a:rPr lang="en-US" altLang="zh-CN"/>
              <a:t>SELECT Sno,AVG(Grade)</a:t>
            </a:r>
            <a:endParaRPr lang="zh-CN" altLang="zh-CN"/>
          </a:p>
          <a:p>
            <a:pPr marL="0" indent="0" algn="just">
              <a:buNone/>
            </a:pPr>
            <a:r>
              <a:rPr lang="en-US" altLang="zh-CN"/>
              <a:t>FROM SC</a:t>
            </a:r>
            <a:endParaRPr lang="zh-CN" altLang="zh-CN"/>
          </a:p>
          <a:p>
            <a:pPr marL="0" indent="0" algn="just">
              <a:buNone/>
            </a:pPr>
            <a:r>
              <a:rPr lang="en-US" altLang="zh-CN">
                <a:solidFill>
                  <a:srgbClr val="FF0000"/>
                </a:solidFill>
              </a:rPr>
              <a:t>WHERE AVG(Grade)&gt;=90</a:t>
            </a:r>
            <a:endParaRPr lang="zh-CN" altLang="zh-CN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altLang="zh-CN"/>
              <a:t>GROUP BY Sno;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5" name="内容占位符 2"/>
          <p:cNvSpPr>
            <a:spLocks noGrp="1" noChangeArrowheads="1"/>
          </p:cNvSpPr>
          <p:nvPr/>
        </p:nvSpPr>
        <p:spPr>
          <a:xfrm>
            <a:off x="335915" y="836930"/>
            <a:ext cx="11603355" cy="39230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 fontScale="8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4400" dirty="0"/>
              <a:t>学生表：</a:t>
            </a:r>
            <a:r>
              <a:rPr lang="en-US" altLang="zh-CN" sz="4400" dirty="0"/>
              <a:t>Student(Sno, </a:t>
            </a:r>
            <a:r>
              <a:rPr lang="en-US" altLang="zh-CN" sz="4400" dirty="0">
                <a:solidFill>
                  <a:srgbClr val="7030A0"/>
                </a:solidFill>
              </a:rPr>
              <a:t>Sname</a:t>
            </a:r>
            <a:r>
              <a:rPr lang="en-US" altLang="zh-CN" sz="4400" dirty="0"/>
              <a:t>, Sdept)       </a:t>
            </a:r>
            <a:r>
              <a:rPr lang="en-US" altLang="zh-CN" sz="4400" dirty="0">
                <a:sym typeface="+mn-ea"/>
              </a:rPr>
              <a:t>/*Sdept</a:t>
            </a:r>
            <a:r>
              <a:rPr lang="zh-CN" altLang="en-US" sz="4400" dirty="0">
                <a:sym typeface="+mn-ea"/>
              </a:rPr>
              <a:t>所在系</a:t>
            </a:r>
            <a:r>
              <a:rPr lang="en-US" altLang="zh-CN" sz="4400" dirty="0">
                <a:sym typeface="+mn-ea"/>
              </a:rPr>
              <a:t>*/</a:t>
            </a:r>
            <a:endParaRPr lang="en-US" altLang="zh-CN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选课表：</a:t>
            </a:r>
            <a:r>
              <a:rPr lang="en-US" altLang="zh-CN" sz="4400" dirty="0"/>
              <a:t>SC(Sno, </a:t>
            </a:r>
            <a:r>
              <a:rPr lang="en-US" altLang="zh-CN" sz="4400" dirty="0">
                <a:solidFill>
                  <a:srgbClr val="7030A0"/>
                </a:solidFill>
              </a:rPr>
              <a:t>Cno</a:t>
            </a:r>
            <a:r>
              <a:rPr lang="en-US" altLang="zh-CN" sz="4400" dirty="0"/>
              <a:t>, </a:t>
            </a:r>
            <a:r>
              <a:rPr lang="en-US" altLang="zh-CN" sz="4400" dirty="0">
                <a:solidFill>
                  <a:srgbClr val="7030A0"/>
                </a:solidFill>
              </a:rPr>
              <a:t>Grade</a:t>
            </a:r>
            <a:r>
              <a:rPr lang="en-US" altLang="zh-CN" sz="4400" dirty="0"/>
              <a:t>)    /*Cno</a:t>
            </a:r>
            <a:r>
              <a:rPr lang="zh-CN" altLang="en-US" sz="4400" dirty="0"/>
              <a:t>课程号</a:t>
            </a:r>
            <a:r>
              <a:rPr lang="en-US" altLang="zh-CN" sz="4400" dirty="0"/>
              <a:t>*/</a:t>
            </a:r>
            <a:endParaRPr lang="en-US" altLang="zh-CN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建立信息管理与信息系统专业选修81001号课程且成绩在90分以上的学生的视图，包括学号、姓名、成绩属性。</a:t>
            </a:r>
            <a:endParaRPr lang="en-US" altLang="zh-CN" sz="4400" dirty="0"/>
          </a:p>
          <a:p>
            <a:pPr marL="0" indent="0" eaLnBrk="1" hangingPunct="1">
              <a:buNone/>
            </a:pPr>
            <a:endParaRPr lang="zh-CN" altLang="en-US" sz="4400" dirty="0"/>
          </a:p>
          <a:p>
            <a:pPr marL="0" indent="0" eaLnBrk="1" hangingPunct="1">
              <a:buNone/>
            </a:pPr>
            <a:endParaRPr lang="en-US" altLang="zh-CN" sz="2000" dirty="0"/>
          </a:p>
          <a:p>
            <a:pPr marL="0" indent="0" eaLnBrk="1" hangingPunct="1">
              <a:buNone/>
            </a:pPr>
            <a:r>
              <a:rPr lang="en-US" altLang="zh-CN" sz="2000" dirty="0">
                <a:sym typeface="+mn-ea"/>
              </a:rPr>
              <a:t>   </a:t>
            </a:r>
            <a:r>
              <a:rPr lang="en-US" altLang="zh-CN" sz="2000" dirty="0">
                <a:solidFill>
                  <a:srgbClr val="7030A0"/>
                </a:solidFill>
                <a:sym typeface="+mn-ea"/>
              </a:rPr>
              <a:t>         </a:t>
            </a:r>
            <a:endParaRPr lang="en-US" altLang="zh-CN" sz="2000" dirty="0"/>
          </a:p>
          <a:p>
            <a:pPr marL="0" indent="0" eaLnBrk="1" hangingPunct="1">
              <a:buNone/>
            </a:pPr>
            <a:endParaRPr lang="en-US" altLang="zh-CN" sz="2000" dirty="0"/>
          </a:p>
          <a:p>
            <a:pPr marL="0" indent="0" eaLnBrk="1" hangingPunct="1">
              <a:buNone/>
            </a:pPr>
            <a:endParaRPr lang="en-US" altLang="zh-CN" sz="2000" dirty="0"/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视图</a:t>
            </a:r>
            <a:endParaRPr lang="zh-CN" altLang="en-US" sz="3600"/>
          </a:p>
        </p:txBody>
      </p:sp>
      <p:sp>
        <p:nvSpPr>
          <p:cNvPr id="4" name="文本框 3"/>
          <p:cNvSpPr txBox="1"/>
          <p:nvPr/>
        </p:nvSpPr>
        <p:spPr>
          <a:xfrm>
            <a:off x="335915" y="3285490"/>
            <a:ext cx="11228705" cy="294259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CREATE VIEW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v_90score 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 </a:t>
            </a:r>
            <a:endParaRPr lang="en-US" altLang="zh-CN" sz="2800" b="1" i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Student.Sno, Student.Sname, SC.Grade 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FROM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Student, SC 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WHERE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Student.Sno = SC.Sno </a:t>
            </a:r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 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Sdept = '</a:t>
            </a:r>
            <a:r>
              <a:rPr lang="zh-CN" altLang="en-US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信息管理与信息系统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 </a:t>
            </a:r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 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Cno = '81001' AND Grade &gt; 90;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7625" y="621030"/>
            <a:ext cx="12072620" cy="56927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运动员用</a:t>
            </a:r>
            <a:r>
              <a:rPr lang="en-US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Sno</a:t>
            </a: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描述，所在系用</a:t>
            </a:r>
            <a:r>
              <a:rPr lang="en-US" altLang="zh-CN" sz="2800" b="1" kern="100" noProof="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Sdept</a:t>
            </a: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来描述，比赛项目用</a:t>
            </a:r>
            <a:r>
              <a:rPr lang="en-US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Event</a:t>
            </a: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描述，成绩用</a:t>
            </a:r>
            <a:r>
              <a:rPr lang="en-US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Grade</a:t>
            </a: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描述，比赛主管用</a:t>
            </a:r>
            <a:r>
              <a:rPr lang="en-US" altLang="zh-CN" sz="2800" b="1" kern="100" noProof="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Tname</a:t>
            </a: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描述。现用一个单一的关系模式</a:t>
            </a:r>
            <a:r>
              <a:rPr lang="en-US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Sports( Sno</a:t>
            </a: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2800" b="1" kern="100" noProof="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Sdept</a:t>
            </a: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Event</a:t>
            </a: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Grade</a:t>
            </a: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800" b="1" kern="100" noProof="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Tname</a:t>
            </a:r>
            <a:r>
              <a:rPr lang="en-US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来表示。</a:t>
            </a:r>
            <a:endParaRPr kumimoji="0" lang="zh-CN" altLang="zh-CN" sz="2800" b="1" kern="100" cap="none" spc="0" normalizeH="0" baseline="0" noProof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lang="zh-CN" altLang="zh-CN" sz="2800" b="1" kern="100" noProof="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其语义为：</a:t>
            </a:r>
            <a:endParaRPr kumimoji="0" lang="zh-CN" altLang="zh-CN" sz="2800" b="1" kern="100" cap="none" spc="0" normalizeH="0" baseline="0" noProof="0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每名运动员只属于一个系，每个系有多名运动员；</a:t>
            </a:r>
            <a:endParaRPr kumimoji="0" lang="zh-CN" altLang="zh-CN" sz="2800" b="1" kern="100" cap="none" spc="0" normalizeH="0" baseline="0" noProof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每个运动员可以参加多个比赛项目，每个比赛项目也可有多名运动员参加</a:t>
            </a:r>
            <a:endParaRPr kumimoji="0" lang="zh-CN" altLang="zh-CN" sz="2800" b="1" kern="100" cap="none" spc="0" normalizeH="0" baseline="0" noProof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每个运动员参加某一个比赛项目，有唯一的成绩；</a:t>
            </a:r>
            <a:endParaRPr kumimoji="0" lang="zh-CN" altLang="zh-CN" sz="2800" b="1" kern="100" cap="none" spc="0" normalizeH="0" baseline="0" noProof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每个比赛项目只有一名比赛主管，一名比赛主管可以负责多个比赛项目。</a:t>
            </a:r>
            <a:endParaRPr kumimoji="0" lang="zh-CN" altLang="zh-CN" sz="2800" b="1" kern="100" cap="none" spc="0" normalizeH="0" baseline="0" noProof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800"/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题目</a:t>
            </a:r>
            <a:endParaRPr lang="zh-CN" altLang="en-US" sz="3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11225" y="1052830"/>
            <a:ext cx="10927080" cy="5214620"/>
          </a:xfrm>
          <a:prstGeom prst="rect">
            <a:avLst/>
          </a:prstGeom>
        </p:spPr>
        <p:txBody>
          <a:bodyPr>
            <a:noAutofit/>
          </a:bodyPr>
          <a:p>
            <a:pPr marL="0" indent="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Sno → Sdept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：每名运动员只属于一个系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Event → Tname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：每个比赛项目只有一名主管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(Sno, Event) → Grade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：运动员参加某项目，成绩唯一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1NF：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属性都是原子项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题目中所有属性都是不可再分的原子值，满足 1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NF。</a:t>
            </a:r>
            <a:endParaRPr lang="en-US" altLang="zh-CN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2NF：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存在非主属性对主键的部分函数依赖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2NF 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要求：消除非主属性对主键的部分函数依赖。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答案</a:t>
            </a:r>
            <a:endParaRPr lang="zh-CN" altLang="en-US" sz="3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9470" y="1196975"/>
            <a:ext cx="11228705" cy="294259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设有关系模式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F(A, B, C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D),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其函数依赖集为：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= {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→ B,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B → 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C,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C → 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}。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主码？最高达到第几范式？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题目</a:t>
            </a:r>
            <a:endParaRPr lang="zh-CN" altLang="en-US" sz="3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9470" y="1196975"/>
            <a:ext cx="11228705" cy="478472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将学生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2018001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的出生日期改为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2001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2020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年第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学期选修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81002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课程所有学生的成绩减少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删除学号为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20180007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的学生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/>
              <a:t>SQL</a:t>
            </a:r>
            <a:r>
              <a:rPr lang="zh-CN" altLang="en-US" sz="3600"/>
              <a:t>改，</a:t>
            </a:r>
            <a:r>
              <a:rPr lang="zh-CN" altLang="en-US" sz="3600"/>
              <a:t>删数据</a:t>
            </a:r>
            <a:r>
              <a:rPr lang="en-US" altLang="zh-CN" sz="3600"/>
              <a:t>-------</a:t>
            </a:r>
            <a:r>
              <a:rPr lang="zh-CN" altLang="en-US" sz="3600"/>
              <a:t>打开课本</a:t>
            </a:r>
            <a:r>
              <a:rPr lang="en-US" altLang="zh-CN" sz="3600"/>
              <a:t>40</a:t>
            </a:r>
            <a:endParaRPr lang="en-US" altLang="zh-CN" sz="3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5" name="内容占位符 2"/>
          <p:cNvSpPr>
            <a:spLocks noGrp="1" noChangeArrowheads="1"/>
          </p:cNvSpPr>
          <p:nvPr/>
        </p:nvSpPr>
        <p:spPr>
          <a:xfrm>
            <a:off x="150495" y="836930"/>
            <a:ext cx="12038965" cy="37261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3555" dirty="0"/>
              <a:t>员工表：</a:t>
            </a:r>
            <a:r>
              <a:rPr lang="en-US" altLang="zh-CN" sz="3555" dirty="0"/>
              <a:t>Employee(EmpId, EmpName, Dept, Salary)</a:t>
            </a:r>
            <a:endParaRPr lang="en-US" altLang="zh-CN" sz="3555" dirty="0"/>
          </a:p>
          <a:p>
            <a:pPr marL="0" indent="0" eaLnBrk="1" hangingPunct="1">
              <a:buNone/>
            </a:pPr>
            <a:r>
              <a:rPr lang="zh-CN" altLang="en-US" sz="3555" dirty="0"/>
              <a:t>部门表：</a:t>
            </a:r>
            <a:r>
              <a:rPr lang="en-US" altLang="zh-CN" sz="3555" dirty="0"/>
              <a:t>Dept(DeptId, DeptName, Manager)</a:t>
            </a:r>
            <a:endParaRPr lang="en-US" altLang="zh-CN" sz="3555" dirty="0"/>
          </a:p>
          <a:p>
            <a:pPr marL="0" indent="0" eaLnBrk="1" hangingPunct="1">
              <a:buNone/>
            </a:pPr>
            <a:r>
              <a:rPr lang="zh-CN" altLang="en-US" sz="3555" dirty="0"/>
              <a:t>题目要求：建立部门名称为 '市场部'、部门经理为 '张总监' 且员工薪资大于 8000 的员工视图，包含员工编号、姓名、薪资三个属性。</a:t>
            </a:r>
            <a:endParaRPr lang="zh-CN" altLang="en-US" sz="3555" dirty="0"/>
          </a:p>
          <a:p>
            <a:pPr marL="0" indent="0" eaLnBrk="1" hangingPunct="1">
              <a:buNone/>
            </a:pPr>
            <a:endParaRPr lang="en-US" altLang="zh-CN" sz="3555" dirty="0"/>
          </a:p>
          <a:p>
            <a:pPr marL="0" indent="0" eaLnBrk="1" hangingPunct="1">
              <a:buNone/>
            </a:pPr>
            <a:r>
              <a:rPr lang="en-US" altLang="zh-CN" sz="3555" dirty="0">
                <a:sym typeface="+mn-ea"/>
              </a:rPr>
              <a:t>   </a:t>
            </a:r>
            <a:r>
              <a:rPr lang="en-US" altLang="zh-CN" sz="3555" dirty="0">
                <a:solidFill>
                  <a:srgbClr val="7030A0"/>
                </a:solidFill>
                <a:sym typeface="+mn-ea"/>
              </a:rPr>
              <a:t>         </a:t>
            </a:r>
            <a:endParaRPr lang="en-US" altLang="zh-CN" sz="3555" dirty="0"/>
          </a:p>
          <a:p>
            <a:pPr marL="0" indent="0" eaLnBrk="1" hangingPunct="1">
              <a:buNone/>
            </a:pPr>
            <a:endParaRPr lang="en-US" altLang="zh-CN" sz="3555" dirty="0"/>
          </a:p>
          <a:p>
            <a:pPr marL="0" indent="0" eaLnBrk="1" hangingPunct="1">
              <a:buNone/>
            </a:pPr>
            <a:endParaRPr lang="en-US" altLang="zh-CN" sz="3555" dirty="0"/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视图</a:t>
            </a:r>
            <a:endParaRPr lang="zh-CN" altLang="en-US" sz="3600"/>
          </a:p>
        </p:txBody>
      </p:sp>
      <p:sp>
        <p:nvSpPr>
          <p:cNvPr id="4" name="文本框 3"/>
          <p:cNvSpPr txBox="1"/>
          <p:nvPr/>
        </p:nvSpPr>
        <p:spPr>
          <a:xfrm>
            <a:off x="263525" y="2925445"/>
            <a:ext cx="13374370" cy="294259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CREATE VIEW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v_market_highsalary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</a:t>
            </a:r>
            <a:endParaRPr lang="en-US" altLang="zh-CN" sz="2800" b="1" i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Employee.EmpId, Employee.EmpName, Employee.Salary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FROM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Employee, Dept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WHERE 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Employee.Dept = Dept.DeptId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AND Dept.DeptName = '</a:t>
            </a:r>
            <a:r>
              <a:rPr lang="zh-CN" altLang="en-US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市场部'</a:t>
            </a:r>
            <a:endParaRPr lang="zh-CN" altLang="en-US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AND Dept.Manager = '</a:t>
            </a:r>
            <a:r>
              <a:rPr lang="zh-CN" altLang="en-US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张总监'</a:t>
            </a:r>
            <a:endParaRPr lang="zh-CN" altLang="en-US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AND Employee.Salary &gt; 8000;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5" name="内容占位符 2"/>
          <p:cNvSpPr>
            <a:spLocks noGrp="1" noChangeArrowheads="1"/>
          </p:cNvSpPr>
          <p:nvPr/>
        </p:nvSpPr>
        <p:spPr>
          <a:xfrm>
            <a:off x="335915" y="836930"/>
            <a:ext cx="13797280" cy="6935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 fontScale="6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4400" dirty="0"/>
              <a:t>员工 </a:t>
            </a:r>
            <a:r>
              <a:rPr lang="en-US" altLang="zh-CN" sz="4400" dirty="0"/>
              <a:t>E (Eno,Ename,Edept)Eno </a:t>
            </a:r>
            <a:r>
              <a:rPr lang="zh-CN" altLang="en-US" sz="4400" dirty="0"/>
              <a:t>员工号，</a:t>
            </a:r>
            <a:r>
              <a:rPr lang="en-US" altLang="zh-CN" sz="4400" dirty="0"/>
              <a:t>Ename </a:t>
            </a:r>
            <a:r>
              <a:rPr lang="zh-CN" altLang="en-US" sz="4400" dirty="0"/>
              <a:t>姓名，</a:t>
            </a:r>
            <a:r>
              <a:rPr lang="en-US" altLang="zh-CN" sz="4400" dirty="0"/>
              <a:t>Edept </a:t>
            </a:r>
            <a:r>
              <a:rPr lang="zh-CN" altLang="en-US" sz="4400" dirty="0"/>
              <a:t>所属部门</a:t>
            </a:r>
            <a:endParaRPr lang="zh-CN" altLang="en-US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工作记录 </a:t>
            </a:r>
            <a:r>
              <a:rPr lang="en-US" altLang="zh-CN" sz="4400" dirty="0"/>
              <a:t>W (Eno,Jno,Wage)Eno </a:t>
            </a:r>
            <a:r>
              <a:rPr lang="zh-CN" altLang="en-US" sz="4400" dirty="0"/>
              <a:t>员工号，</a:t>
            </a:r>
            <a:r>
              <a:rPr lang="en-US" altLang="zh-CN" sz="4400" dirty="0"/>
              <a:t>Jno </a:t>
            </a:r>
            <a:r>
              <a:rPr lang="zh-CN" altLang="en-US" sz="4400" dirty="0"/>
              <a:t>岗位编号，</a:t>
            </a:r>
            <a:r>
              <a:rPr lang="en-US" altLang="zh-CN" sz="4400" dirty="0"/>
              <a:t>Wage </a:t>
            </a:r>
            <a:r>
              <a:rPr lang="zh-CN" altLang="en-US" sz="4400" dirty="0"/>
              <a:t>岗位薪资</a:t>
            </a:r>
            <a:endParaRPr lang="zh-CN" altLang="en-US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岗位 </a:t>
            </a:r>
            <a:r>
              <a:rPr lang="en-US" altLang="zh-CN" sz="4400" dirty="0"/>
              <a:t>J (Jno,Jname,Leader)Jno </a:t>
            </a:r>
            <a:r>
              <a:rPr lang="zh-CN" altLang="en-US" sz="4400" dirty="0"/>
              <a:t>岗位编号，</a:t>
            </a:r>
            <a:r>
              <a:rPr lang="en-US" altLang="zh-CN" sz="4400" dirty="0"/>
              <a:t>Jname </a:t>
            </a:r>
            <a:r>
              <a:rPr lang="zh-CN" altLang="en-US" sz="4400" dirty="0"/>
              <a:t>岗位名称，</a:t>
            </a:r>
            <a:r>
              <a:rPr lang="en-US" altLang="zh-CN" sz="4400" dirty="0"/>
              <a:t>Leader </a:t>
            </a:r>
            <a:r>
              <a:rPr lang="zh-CN" altLang="en-US" sz="4400" dirty="0"/>
              <a:t>岗位负责人</a:t>
            </a:r>
            <a:endParaRPr lang="zh-CN" altLang="en-US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1. 用关系代数表达式写出下列查询（每题 3 分，共 6 分）</a:t>
            </a:r>
            <a:endParaRPr lang="zh-CN" altLang="en-US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(1) </a:t>
            </a:r>
            <a:r>
              <a:rPr lang="zh-CN" altLang="en-US" sz="4400" dirty="0">
                <a:solidFill>
                  <a:srgbClr val="FF0000"/>
                </a:solidFill>
              </a:rPr>
              <a:t>查询</a:t>
            </a:r>
            <a:r>
              <a:rPr lang="zh-CN" altLang="en-US" sz="4400" dirty="0"/>
              <a:t>王主管负责</a:t>
            </a:r>
            <a:r>
              <a:rPr lang="zh-CN" altLang="en-US" sz="4400" dirty="0">
                <a:solidFill>
                  <a:srgbClr val="FF0000"/>
                </a:solidFill>
              </a:rPr>
              <a:t>的岗位编号与岗位名称</a:t>
            </a:r>
            <a:endParaRPr lang="zh-CN" altLang="en-US" sz="4400" dirty="0"/>
          </a:p>
          <a:p>
            <a:pPr marL="0" indent="0" eaLnBrk="1" hangingPunct="1">
              <a:buNone/>
            </a:pPr>
            <a:r>
              <a:rPr lang="en-US" altLang="zh-CN" sz="4400" dirty="0"/>
              <a:t>1 </a:t>
            </a:r>
            <a:r>
              <a:rPr lang="zh-CN" altLang="en-US" sz="4400" dirty="0"/>
              <a:t>把【查询】变为</a:t>
            </a:r>
            <a:r>
              <a:rPr lang="en-US" altLang="zh-CN" sz="4400" dirty="0"/>
              <a:t> </a:t>
            </a:r>
            <a:r>
              <a:rPr lang="en-US" altLang="zh-CN" sz="6665" dirty="0"/>
              <a:t>π </a:t>
            </a:r>
            <a:r>
              <a:rPr lang="zh-CN" altLang="en-US" sz="4400" dirty="0">
                <a:sym typeface="+mn-ea"/>
              </a:rPr>
              <a:t>，把【的】字后面的内容写到</a:t>
            </a:r>
            <a:r>
              <a:rPr lang="en-US" altLang="zh-CN" sz="4400" dirty="0">
                <a:sym typeface="+mn-ea"/>
              </a:rPr>
              <a:t> </a:t>
            </a:r>
            <a:r>
              <a:rPr lang="en-US" altLang="zh-CN" sz="6665" dirty="0">
                <a:sym typeface="+mn-ea"/>
              </a:rPr>
              <a:t>π </a:t>
            </a:r>
            <a:r>
              <a:rPr lang="zh-CN" altLang="en-US" sz="4400" dirty="0">
                <a:sym typeface="+mn-ea"/>
              </a:rPr>
              <a:t>后面。</a:t>
            </a:r>
            <a:r>
              <a:rPr lang="en-US" altLang="zh-CN" sz="8000" dirty="0">
                <a:solidFill>
                  <a:srgbClr val="FF0000"/>
                </a:solidFill>
                <a:sym typeface="+mn-ea"/>
              </a:rPr>
              <a:t>π</a:t>
            </a:r>
            <a:r>
              <a:rPr lang="en-US" altLang="zh-CN" sz="3335" dirty="0">
                <a:solidFill>
                  <a:srgbClr val="FF0000"/>
                </a:solidFill>
                <a:sym typeface="+mn-ea"/>
              </a:rPr>
              <a:t>Jno, Jname</a:t>
            </a:r>
            <a:endParaRPr lang="en-US" altLang="zh-CN" sz="4400" dirty="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4400" dirty="0">
                <a:sym typeface="+mn-ea"/>
              </a:rPr>
              <a:t>2 </a:t>
            </a:r>
            <a:r>
              <a:rPr lang="zh-CN" altLang="en-US" sz="4400" dirty="0">
                <a:sym typeface="+mn-ea"/>
              </a:rPr>
              <a:t>看题目中出现的属性涉及到哪些表。</a:t>
            </a:r>
            <a:r>
              <a:rPr lang="en-US" altLang="zh-CN" sz="4400" dirty="0">
                <a:sym typeface="+mn-ea"/>
              </a:rPr>
              <a:t>   </a:t>
            </a:r>
            <a:r>
              <a:rPr lang="en-US" altLang="zh-CN" sz="4400" dirty="0">
                <a:solidFill>
                  <a:srgbClr val="FF0000"/>
                </a:solidFill>
                <a:sym typeface="+mn-ea"/>
              </a:rPr>
              <a:t> J</a:t>
            </a:r>
            <a:endParaRPr lang="zh-CN" altLang="en-US" sz="4400" dirty="0">
              <a:solidFill>
                <a:srgbClr val="FF0000"/>
              </a:solidFill>
              <a:sym typeface="+mn-ea"/>
            </a:endParaRPr>
          </a:p>
          <a:p>
            <a:pPr marL="0" indent="0" eaLnBrk="1" latinLnBrk="0" hangingPunct="1">
              <a:lnSpc>
                <a:spcPts val="3300"/>
              </a:lnSpc>
              <a:spcBef>
                <a:spcPts val="0"/>
              </a:spcBef>
              <a:buNone/>
            </a:pPr>
            <a:r>
              <a:rPr lang="en-US" altLang="zh-CN" sz="4400" dirty="0">
                <a:sym typeface="+mn-ea"/>
              </a:rPr>
              <a:t>3 </a:t>
            </a:r>
            <a:r>
              <a:rPr lang="zh-CN" altLang="en-US" sz="4400" dirty="0">
                <a:sym typeface="+mn-ea"/>
              </a:rPr>
              <a:t>把【查询】和【的】字之间的内容放到</a:t>
            </a:r>
            <a:r>
              <a:rPr lang="en-US" altLang="zh-CN" sz="6665" dirty="0">
                <a:sym typeface="+mn-ea"/>
              </a:rPr>
              <a:t>σ</a:t>
            </a:r>
            <a:r>
              <a:rPr lang="zh-CN" altLang="en-US" sz="4400" dirty="0">
                <a:sym typeface="+mn-ea"/>
              </a:rPr>
              <a:t>后面。</a:t>
            </a:r>
            <a:r>
              <a:rPr lang="en-US" altLang="zh-CN" sz="8000" dirty="0">
                <a:solidFill>
                  <a:srgbClr val="FF0000"/>
                </a:solidFill>
                <a:sym typeface="+mn-ea"/>
              </a:rPr>
              <a:t>σ</a:t>
            </a:r>
            <a:r>
              <a:rPr lang="zh-CN" altLang="en-US" sz="3335" dirty="0">
                <a:solidFill>
                  <a:srgbClr val="FF0000"/>
                </a:solidFill>
                <a:sym typeface="+mn-ea"/>
              </a:rPr>
              <a:t>Leader =’王主管’</a:t>
            </a:r>
            <a:endParaRPr lang="zh-CN" altLang="en-US" sz="4400" dirty="0">
              <a:sym typeface="+mn-ea"/>
            </a:endParaRPr>
          </a:p>
          <a:p>
            <a:pPr marL="0" indent="0" eaLnBrk="1" latinLnBrk="0" hangingPunct="1">
              <a:lnSpc>
                <a:spcPts val="3300"/>
              </a:lnSpc>
              <a:spcBef>
                <a:spcPts val="0"/>
              </a:spcBef>
              <a:buNone/>
            </a:pPr>
            <a:r>
              <a:rPr lang="en-US" altLang="zh-CN" sz="4400" dirty="0">
                <a:sym typeface="+mn-ea"/>
              </a:rPr>
              <a:t>4 </a:t>
            </a:r>
            <a:r>
              <a:rPr lang="zh-CN" altLang="en-US" sz="4400" dirty="0">
                <a:sym typeface="+mn-ea"/>
              </a:rPr>
              <a:t>按顺序拼接。</a:t>
            </a:r>
            <a:r>
              <a:rPr lang="en-US" altLang="zh-CN" sz="8000" dirty="0">
                <a:solidFill>
                  <a:srgbClr val="FF0000"/>
                </a:solidFill>
                <a:sym typeface="+mn-ea"/>
              </a:rPr>
              <a:t>π</a:t>
            </a:r>
            <a:r>
              <a:rPr lang="en-US" altLang="zh-CN" sz="3335" dirty="0">
                <a:solidFill>
                  <a:srgbClr val="FF0000"/>
                </a:solidFill>
                <a:sym typeface="+mn-ea"/>
              </a:rPr>
              <a:t>Jno, Jname</a:t>
            </a:r>
            <a:r>
              <a:rPr lang="en-US" altLang="zh-CN" sz="4400" dirty="0">
                <a:solidFill>
                  <a:srgbClr val="FF0000"/>
                </a:solidFill>
                <a:sym typeface="+mn-ea"/>
              </a:rPr>
              <a:t> (</a:t>
            </a:r>
            <a:r>
              <a:rPr lang="en-US" altLang="zh-CN" sz="7335" dirty="0">
                <a:solidFill>
                  <a:srgbClr val="FF0000"/>
                </a:solidFill>
                <a:sym typeface="+mn-ea"/>
              </a:rPr>
              <a:t>σ</a:t>
            </a:r>
            <a:r>
              <a:rPr lang="zh-CN" altLang="en-US" sz="3335" dirty="0">
                <a:solidFill>
                  <a:srgbClr val="FF0000"/>
                </a:solidFill>
                <a:sym typeface="+mn-ea"/>
              </a:rPr>
              <a:t>Leader =’王主管’</a:t>
            </a:r>
            <a:r>
              <a:rPr lang="en-US" altLang="zh-CN" sz="4400" dirty="0">
                <a:solidFill>
                  <a:srgbClr val="FF0000"/>
                </a:solidFill>
                <a:sym typeface="+mn-ea"/>
              </a:rPr>
              <a:t>(J) )</a:t>
            </a:r>
            <a:endParaRPr lang="zh-CN" altLang="en-US" sz="4400" dirty="0">
              <a:solidFill>
                <a:srgbClr val="FF0000"/>
              </a:solidFill>
              <a:sym typeface="+mn-ea"/>
            </a:endParaRPr>
          </a:p>
          <a:p>
            <a:pPr marL="0" indent="0" eaLnBrk="1" hangingPunct="1">
              <a:buNone/>
            </a:pPr>
            <a:r>
              <a:rPr lang="zh-CN" altLang="en-US" sz="4400" u="sng" dirty="0">
                <a:solidFill>
                  <a:srgbClr val="FF0000"/>
                </a:solidFill>
                <a:sym typeface="+mn-ea"/>
              </a:rPr>
              <a:t>解释：</a:t>
            </a:r>
            <a:r>
              <a:rPr lang="en-US" altLang="zh-CN" sz="7335" u="sng" dirty="0">
                <a:solidFill>
                  <a:srgbClr val="FF0000"/>
                </a:solidFill>
                <a:sym typeface="+mn-ea"/>
              </a:rPr>
              <a:t>σ</a:t>
            </a:r>
            <a:r>
              <a:rPr lang="zh-CN" altLang="en-US" sz="4400" u="sng" dirty="0">
                <a:solidFill>
                  <a:srgbClr val="FF0000"/>
                </a:solidFill>
                <a:sym typeface="+mn-ea"/>
              </a:rPr>
              <a:t>Leader =’王主管’属于哪个表就放哪个表前面</a:t>
            </a:r>
            <a:endParaRPr lang="en-US" altLang="zh-CN" sz="4400" u="sng" dirty="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endParaRPr lang="en-US" altLang="zh-CN" sz="4400" dirty="0">
              <a:sym typeface="+mn-ea"/>
            </a:endParaRPr>
          </a:p>
          <a:p>
            <a:pPr marL="0" indent="0" eaLnBrk="1" hangingPunct="1">
              <a:buNone/>
            </a:pPr>
            <a:r>
              <a:rPr lang="en-US" altLang="zh-CN" sz="2000" dirty="0">
                <a:sym typeface="+mn-ea"/>
              </a:rPr>
              <a:t>   </a:t>
            </a:r>
            <a:r>
              <a:rPr lang="en-US" altLang="zh-CN" sz="2000" dirty="0">
                <a:solidFill>
                  <a:srgbClr val="7030A0"/>
                </a:solidFill>
                <a:sym typeface="+mn-ea"/>
              </a:rPr>
              <a:t>         </a:t>
            </a:r>
            <a:endParaRPr lang="en-US" altLang="zh-CN" sz="2000" dirty="0"/>
          </a:p>
          <a:p>
            <a:pPr marL="0" indent="0" eaLnBrk="1" hangingPunct="1">
              <a:buNone/>
            </a:pPr>
            <a:endParaRPr lang="en-US" altLang="zh-CN" sz="2000" dirty="0"/>
          </a:p>
          <a:p>
            <a:pPr marL="0" indent="0" eaLnBrk="1" hangingPunct="1">
              <a:buNone/>
            </a:pPr>
            <a:endParaRPr lang="en-US" altLang="zh-CN" sz="2000" dirty="0"/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600"/>
          </a:p>
        </p:txBody>
      </p:sp>
      <p:sp>
        <p:nvSpPr>
          <p:cNvPr id="2" name="标题 1"/>
          <p:cNvSpPr>
            <a:spLocks noGrp="1" noChangeArrowheads="1"/>
          </p:cNvSpPr>
          <p:nvPr/>
        </p:nvSpPr>
        <p:spPr>
          <a:xfrm>
            <a:off x="736600" y="-4984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关系代数</a:t>
            </a:r>
            <a:endParaRPr lang="zh-CN" altLang="en-US" sz="3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5" name="内容占位符 2"/>
          <p:cNvSpPr>
            <a:spLocks noGrp="1" noChangeArrowheads="1"/>
          </p:cNvSpPr>
          <p:nvPr/>
        </p:nvSpPr>
        <p:spPr>
          <a:xfrm>
            <a:off x="335915" y="836930"/>
            <a:ext cx="14821535" cy="77165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 fontScale="6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4400" dirty="0"/>
              <a:t>员工 </a:t>
            </a:r>
            <a:r>
              <a:rPr lang="en-US" altLang="zh-CN" sz="4400" dirty="0"/>
              <a:t>E (Eno,Ename,Edept)Eno </a:t>
            </a:r>
            <a:r>
              <a:rPr lang="zh-CN" altLang="en-US" sz="4400" dirty="0"/>
              <a:t>员工号，</a:t>
            </a:r>
            <a:r>
              <a:rPr lang="en-US" altLang="zh-CN" sz="4400" dirty="0"/>
              <a:t>Ename </a:t>
            </a:r>
            <a:r>
              <a:rPr lang="zh-CN" altLang="en-US" sz="4400" dirty="0"/>
              <a:t>姓名，</a:t>
            </a:r>
            <a:r>
              <a:rPr lang="en-US" altLang="zh-CN" sz="4400" dirty="0"/>
              <a:t>Edept </a:t>
            </a:r>
            <a:r>
              <a:rPr lang="zh-CN" altLang="en-US" sz="4400" dirty="0"/>
              <a:t>所属部门</a:t>
            </a:r>
            <a:endParaRPr lang="zh-CN" altLang="en-US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工作记录 </a:t>
            </a:r>
            <a:r>
              <a:rPr lang="en-US" altLang="zh-CN" sz="4400" dirty="0"/>
              <a:t>W (Eno,Jno,Wage)Eno </a:t>
            </a:r>
            <a:r>
              <a:rPr lang="zh-CN" altLang="en-US" sz="4400" dirty="0"/>
              <a:t>员工号，</a:t>
            </a:r>
            <a:r>
              <a:rPr lang="en-US" altLang="zh-CN" sz="4400" dirty="0"/>
              <a:t>Jno </a:t>
            </a:r>
            <a:r>
              <a:rPr lang="zh-CN" altLang="en-US" sz="4400" dirty="0"/>
              <a:t>岗位编号，</a:t>
            </a:r>
            <a:r>
              <a:rPr lang="en-US" altLang="zh-CN" sz="4400" dirty="0"/>
              <a:t>Wage </a:t>
            </a:r>
            <a:r>
              <a:rPr lang="zh-CN" altLang="en-US" sz="4400" dirty="0"/>
              <a:t>岗位薪资</a:t>
            </a:r>
            <a:endParaRPr lang="zh-CN" altLang="en-US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岗位 </a:t>
            </a:r>
            <a:r>
              <a:rPr lang="en-US" altLang="zh-CN" sz="4400" dirty="0"/>
              <a:t>J (Jno,Jname,Leader)Jno </a:t>
            </a:r>
            <a:r>
              <a:rPr lang="zh-CN" altLang="en-US" sz="4400" dirty="0"/>
              <a:t>岗位编号，</a:t>
            </a:r>
            <a:r>
              <a:rPr lang="en-US" altLang="zh-CN" sz="4400" dirty="0"/>
              <a:t>Jname </a:t>
            </a:r>
            <a:r>
              <a:rPr lang="zh-CN" altLang="en-US" sz="4400" dirty="0"/>
              <a:t>岗位名称，</a:t>
            </a:r>
            <a:r>
              <a:rPr lang="en-US" altLang="zh-CN" sz="4400" dirty="0"/>
              <a:t>Leader </a:t>
            </a:r>
            <a:r>
              <a:rPr lang="zh-CN" altLang="en-US" sz="4400" dirty="0"/>
              <a:t>岗位负责人</a:t>
            </a:r>
            <a:endParaRPr lang="zh-CN" altLang="en-US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1. 用关系代数表达式写出下列查询（每题 3 分，共 6 分）</a:t>
            </a:r>
            <a:endParaRPr lang="zh-CN" altLang="en-US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(2) </a:t>
            </a:r>
            <a:r>
              <a:rPr lang="zh-CN" altLang="en-US" sz="4400" dirty="0">
                <a:solidFill>
                  <a:srgbClr val="FF0000"/>
                </a:solidFill>
              </a:rPr>
              <a:t>查询</a:t>
            </a:r>
            <a:r>
              <a:rPr lang="zh-CN" altLang="en-US" sz="4400" dirty="0"/>
              <a:t>选择了王主管所负责岗位</a:t>
            </a:r>
            <a:r>
              <a:rPr lang="zh-CN" altLang="en-US" sz="4400" dirty="0">
                <a:solidFill>
                  <a:srgbClr val="FF0000"/>
                </a:solidFill>
              </a:rPr>
              <a:t>的所有员工姓名</a:t>
            </a:r>
            <a:endParaRPr lang="zh-CN" altLang="en-US" sz="4400" dirty="0"/>
          </a:p>
          <a:p>
            <a:pPr marL="0" indent="0" eaLnBrk="1" hangingPunct="1">
              <a:buNone/>
            </a:pPr>
            <a:r>
              <a:rPr lang="en-US" altLang="zh-CN" sz="4400" dirty="0"/>
              <a:t>1 </a:t>
            </a:r>
            <a:r>
              <a:rPr lang="zh-CN" altLang="en-US" sz="4400" dirty="0"/>
              <a:t>把【查询】变为</a:t>
            </a:r>
            <a:r>
              <a:rPr lang="en-US" altLang="zh-CN" sz="4400" dirty="0"/>
              <a:t> </a:t>
            </a:r>
            <a:r>
              <a:rPr lang="en-US" altLang="zh-CN" sz="6665" dirty="0"/>
              <a:t>π </a:t>
            </a:r>
            <a:r>
              <a:rPr lang="zh-CN" altLang="en-US" sz="4400" dirty="0">
                <a:sym typeface="+mn-ea"/>
              </a:rPr>
              <a:t>，把【的】字后面的内容写到</a:t>
            </a:r>
            <a:r>
              <a:rPr lang="en-US" altLang="zh-CN" sz="4400" dirty="0">
                <a:sym typeface="+mn-ea"/>
              </a:rPr>
              <a:t> </a:t>
            </a:r>
            <a:r>
              <a:rPr lang="en-US" altLang="zh-CN" sz="6665" dirty="0">
                <a:sym typeface="+mn-ea"/>
              </a:rPr>
              <a:t>π </a:t>
            </a:r>
            <a:r>
              <a:rPr lang="zh-CN" altLang="en-US" sz="4400" dirty="0">
                <a:sym typeface="+mn-ea"/>
              </a:rPr>
              <a:t>后面。</a:t>
            </a:r>
            <a:r>
              <a:rPr lang="en-US" altLang="zh-CN" sz="6665" dirty="0">
                <a:solidFill>
                  <a:srgbClr val="FF0000"/>
                </a:solidFill>
                <a:sym typeface="+mn-ea"/>
              </a:rPr>
              <a:t>π</a:t>
            </a:r>
            <a:r>
              <a:rPr lang="en-US" altLang="zh-CN" sz="3000" dirty="0">
                <a:solidFill>
                  <a:srgbClr val="FF0000"/>
                </a:solidFill>
                <a:sym typeface="+mn-ea"/>
              </a:rPr>
              <a:t>Ename</a:t>
            </a:r>
            <a:endParaRPr lang="en-US" altLang="zh-CN" sz="4400" dirty="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4400" dirty="0">
                <a:sym typeface="+mn-ea"/>
              </a:rPr>
              <a:t>2 </a:t>
            </a:r>
            <a:r>
              <a:rPr lang="zh-CN" altLang="en-US" sz="4400" dirty="0">
                <a:sym typeface="+mn-ea"/>
              </a:rPr>
              <a:t>看题目中出现的属性涉及到哪些表。</a:t>
            </a:r>
            <a:r>
              <a:rPr lang="en-US" altLang="zh-CN" sz="4400" dirty="0">
                <a:sym typeface="+mn-ea"/>
              </a:rPr>
              <a:t>   </a:t>
            </a:r>
            <a:r>
              <a:rPr lang="en-US" altLang="zh-CN" sz="4400" dirty="0">
                <a:solidFill>
                  <a:srgbClr val="FF0000"/>
                </a:solidFill>
                <a:sym typeface="+mn-ea"/>
              </a:rPr>
              <a:t> E, W, J</a:t>
            </a:r>
            <a:endParaRPr lang="zh-CN" altLang="en-US" sz="4400" dirty="0">
              <a:solidFill>
                <a:srgbClr val="FF0000"/>
              </a:solidFill>
              <a:sym typeface="+mn-ea"/>
            </a:endParaRPr>
          </a:p>
          <a:p>
            <a:pPr marL="0" indent="0" eaLnBrk="1" hangingPunct="1">
              <a:buNone/>
            </a:pPr>
            <a:r>
              <a:rPr lang="en-US" altLang="zh-CN" sz="4400" dirty="0">
                <a:sym typeface="+mn-ea"/>
              </a:rPr>
              <a:t>3 </a:t>
            </a:r>
            <a:r>
              <a:rPr lang="zh-CN" altLang="en-US" sz="4400" dirty="0">
                <a:sym typeface="+mn-ea"/>
              </a:rPr>
              <a:t>把【查询】和【的】字之间的内容放到</a:t>
            </a:r>
            <a:r>
              <a:rPr lang="en-US" altLang="zh-CN" sz="6665" dirty="0">
                <a:sym typeface="+mn-ea"/>
              </a:rPr>
              <a:t>σ</a:t>
            </a:r>
            <a:r>
              <a:rPr lang="zh-CN" altLang="en-US" sz="4400" dirty="0">
                <a:sym typeface="+mn-ea"/>
              </a:rPr>
              <a:t>后面。</a:t>
            </a:r>
            <a:r>
              <a:rPr lang="en-US" altLang="zh-CN" sz="6665" dirty="0">
                <a:solidFill>
                  <a:srgbClr val="FF0000"/>
                </a:solidFill>
                <a:sym typeface="+mn-ea"/>
              </a:rPr>
              <a:t>σ</a:t>
            </a:r>
            <a:r>
              <a:rPr lang="zh-CN" altLang="en-US" sz="3335" dirty="0">
                <a:solidFill>
                  <a:srgbClr val="FF0000"/>
                </a:solidFill>
                <a:sym typeface="+mn-ea"/>
              </a:rPr>
              <a:t>Leader =’王主管’</a:t>
            </a:r>
            <a:endParaRPr lang="zh-CN" altLang="en-US" sz="4400" dirty="0">
              <a:sym typeface="+mn-ea"/>
            </a:endParaRPr>
          </a:p>
          <a:p>
            <a:pPr marL="0" indent="0" eaLnBrk="1" hangingPunct="1">
              <a:buNone/>
            </a:pPr>
            <a:r>
              <a:rPr lang="en-US" altLang="zh-CN" sz="4400" dirty="0">
                <a:sym typeface="+mn-ea"/>
              </a:rPr>
              <a:t>4 </a:t>
            </a:r>
            <a:r>
              <a:rPr lang="zh-CN" altLang="en-US" sz="4400" dirty="0">
                <a:sym typeface="+mn-ea"/>
              </a:rPr>
              <a:t>按顺序拼接。</a:t>
            </a:r>
            <a:r>
              <a:rPr lang="en-US" altLang="zh-CN" sz="7335" dirty="0">
                <a:solidFill>
                  <a:srgbClr val="FF0000"/>
                </a:solidFill>
                <a:sym typeface="+mn-ea"/>
              </a:rPr>
              <a:t>π</a:t>
            </a:r>
            <a:r>
              <a:rPr lang="en-US" altLang="zh-CN" sz="3335" dirty="0">
                <a:solidFill>
                  <a:srgbClr val="FF0000"/>
                </a:solidFill>
                <a:sym typeface="+mn-ea"/>
              </a:rPr>
              <a:t>Ename</a:t>
            </a:r>
            <a:r>
              <a:rPr lang="en-US" altLang="zh-CN" sz="4400" dirty="0">
                <a:solidFill>
                  <a:srgbClr val="FF0000"/>
                </a:solidFill>
                <a:sym typeface="+mn-ea"/>
              </a:rPr>
              <a:t>(E    W     </a:t>
            </a:r>
            <a:r>
              <a:rPr lang="en-US" altLang="zh-CN" sz="6665" dirty="0">
                <a:solidFill>
                  <a:srgbClr val="FF0000"/>
                </a:solidFill>
                <a:sym typeface="+mn-ea"/>
              </a:rPr>
              <a:t>σ</a:t>
            </a:r>
            <a:r>
              <a:rPr lang="zh-CN" altLang="en-US" sz="2665" dirty="0">
                <a:solidFill>
                  <a:srgbClr val="FF0000"/>
                </a:solidFill>
                <a:sym typeface="+mn-ea"/>
              </a:rPr>
              <a:t>Leader =’王主管’</a:t>
            </a:r>
            <a:r>
              <a:rPr lang="en-US" altLang="zh-CN" sz="4400" dirty="0">
                <a:solidFill>
                  <a:srgbClr val="FF0000"/>
                </a:solidFill>
                <a:sym typeface="+mn-ea"/>
              </a:rPr>
              <a:t>(J))</a:t>
            </a:r>
            <a:endParaRPr lang="en-US" altLang="zh-CN" sz="4400" dirty="0">
              <a:solidFill>
                <a:srgbClr val="FF0000"/>
              </a:solidFill>
              <a:sym typeface="+mn-ea"/>
            </a:endParaRPr>
          </a:p>
          <a:p>
            <a:pPr marL="0" indent="0" eaLnBrk="1" hangingPunct="1">
              <a:buNone/>
            </a:pPr>
            <a:endParaRPr lang="en-US" altLang="zh-CN" sz="4400" dirty="0">
              <a:solidFill>
                <a:srgbClr val="FF0000"/>
              </a:solidFill>
              <a:sym typeface="+mn-ea"/>
            </a:endParaRPr>
          </a:p>
          <a:p>
            <a:pPr marL="0" indent="0" eaLnBrk="1" hangingPunct="1">
              <a:buNone/>
            </a:pPr>
            <a:endParaRPr lang="zh-CN" altLang="en-US" sz="4400" dirty="0">
              <a:solidFill>
                <a:srgbClr val="FF0000"/>
              </a:solidFill>
              <a:sym typeface="+mn-ea"/>
            </a:endParaRPr>
          </a:p>
          <a:p>
            <a:pPr marL="0" indent="0" eaLnBrk="1" hangingPunct="1">
              <a:buNone/>
            </a:pPr>
            <a:endParaRPr lang="en-US" altLang="zh-CN" sz="4400" dirty="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endParaRPr lang="en-US" altLang="zh-CN" sz="4400" dirty="0">
              <a:sym typeface="+mn-ea"/>
            </a:endParaRPr>
          </a:p>
          <a:p>
            <a:pPr marL="0" indent="0" eaLnBrk="1" hangingPunct="1">
              <a:buNone/>
            </a:pPr>
            <a:r>
              <a:rPr lang="en-US" altLang="zh-CN" sz="2000" dirty="0">
                <a:sym typeface="+mn-ea"/>
              </a:rPr>
              <a:t>   </a:t>
            </a:r>
            <a:r>
              <a:rPr lang="en-US" altLang="zh-CN" sz="2000" dirty="0">
                <a:solidFill>
                  <a:srgbClr val="7030A0"/>
                </a:solidFill>
                <a:sym typeface="+mn-ea"/>
              </a:rPr>
              <a:t>         </a:t>
            </a:r>
            <a:endParaRPr lang="en-US" altLang="zh-CN" sz="2000" dirty="0"/>
          </a:p>
          <a:p>
            <a:pPr marL="0" indent="0" eaLnBrk="1" hangingPunct="1">
              <a:buNone/>
            </a:pPr>
            <a:endParaRPr lang="en-US" altLang="zh-CN" sz="2000" dirty="0"/>
          </a:p>
          <a:p>
            <a:pPr marL="0" indent="0" eaLnBrk="1" hangingPunct="1">
              <a:buNone/>
            </a:pPr>
            <a:endParaRPr lang="en-US" altLang="zh-CN" sz="2000" dirty="0"/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关系代数</a:t>
            </a:r>
            <a:endParaRPr lang="zh-CN" altLang="en-US" sz="3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8120" y="5516880"/>
            <a:ext cx="355600" cy="273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6460" y="5516880"/>
            <a:ext cx="355600" cy="273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" y="908685"/>
            <a:ext cx="12016105" cy="5287645"/>
          </a:xfrm>
          <a:prstGeom prst="rect">
            <a:avLst/>
          </a:prstGeom>
        </p:spPr>
        <p:txBody>
          <a:bodyPr wrap="square">
            <a:noAutofit/>
          </a:bodyPr>
          <a:p>
            <a:pPr marL="339725" indent="3810" algn="l" defTabSz="26670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学生关系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S(Sno,Sname,Sdept)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，其中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Sno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为学号，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Sname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为姓名，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Sdept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为所在系。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39725" indent="3810" algn="l" defTabSz="26670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选课关系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SC(Sno,Cno,Grade)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，其中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Sno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为学号，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Cno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为课程号，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Grade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为成绩。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39725" indent="3810" algn="l" defTabSz="26670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课程关系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C(Cno,Cname, Teacher)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，其中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Cno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为课程号，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Cname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为课程名，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Teacher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为授课老师姓名。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39725" indent="3810" algn="l" defTabSz="26670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一名学生可以选修多门课，一门课也可以被多名学生选修。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39725" indent="3810" algn="l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试用</a:t>
            </a:r>
            <a:r>
              <a:rPr lang="zh-CN" altLang="en-US" sz="2800" b="1" u="sng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关系代数表达式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表示下列查询语句：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39725" indent="3810" algn="l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）查询“小明”同学所上的学号和所在系（假设不允许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学生有重名）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39725" indent="3810" algn="l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）查询选修了“李四”老师授课课程的所有学生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学号；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4065" y="6092825"/>
            <a:ext cx="7334250" cy="7842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065" y="5207635"/>
            <a:ext cx="5617845" cy="741680"/>
          </a:xfrm>
          <a:prstGeom prst="rect">
            <a:avLst/>
          </a:prstGeom>
        </p:spPr>
      </p:pic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关系代数</a:t>
            </a:r>
            <a:endParaRPr lang="zh-CN" altLang="en-US"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5" name="内容占位符 2"/>
          <p:cNvSpPr>
            <a:spLocks noGrp="1" noChangeArrowheads="1"/>
          </p:cNvSpPr>
          <p:nvPr/>
        </p:nvSpPr>
        <p:spPr>
          <a:xfrm>
            <a:off x="335915" y="836930"/>
            <a:ext cx="11603355" cy="39230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 fontScale="8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4400" dirty="0"/>
              <a:t>学生表：</a:t>
            </a:r>
            <a:r>
              <a:rPr lang="en-US" altLang="zh-CN" sz="4400" dirty="0"/>
              <a:t>Student(Sno, </a:t>
            </a:r>
            <a:r>
              <a:rPr lang="en-US" altLang="zh-CN" sz="4400" dirty="0">
                <a:solidFill>
                  <a:srgbClr val="7030A0"/>
                </a:solidFill>
              </a:rPr>
              <a:t>Sname</a:t>
            </a:r>
            <a:r>
              <a:rPr lang="en-US" altLang="zh-CN" sz="4400" dirty="0"/>
              <a:t>, Sdept)       </a:t>
            </a:r>
            <a:r>
              <a:rPr lang="en-US" altLang="zh-CN" sz="4400" dirty="0">
                <a:sym typeface="+mn-ea"/>
              </a:rPr>
              <a:t>/*Sdept</a:t>
            </a:r>
            <a:r>
              <a:rPr lang="zh-CN" altLang="en-US" sz="4400" dirty="0">
                <a:sym typeface="+mn-ea"/>
              </a:rPr>
              <a:t>所在系</a:t>
            </a:r>
            <a:r>
              <a:rPr lang="en-US" altLang="zh-CN" sz="4400" dirty="0">
                <a:sym typeface="+mn-ea"/>
              </a:rPr>
              <a:t>*/</a:t>
            </a:r>
            <a:endParaRPr lang="en-US" altLang="zh-CN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选课表：</a:t>
            </a:r>
            <a:r>
              <a:rPr lang="en-US" altLang="zh-CN" sz="4400" dirty="0"/>
              <a:t>SC(Sno, </a:t>
            </a:r>
            <a:r>
              <a:rPr lang="en-US" altLang="zh-CN" sz="4400" dirty="0">
                <a:solidFill>
                  <a:srgbClr val="7030A0"/>
                </a:solidFill>
              </a:rPr>
              <a:t>Cno</a:t>
            </a:r>
            <a:r>
              <a:rPr lang="en-US" altLang="zh-CN" sz="4400" dirty="0"/>
              <a:t>, </a:t>
            </a:r>
            <a:r>
              <a:rPr lang="en-US" altLang="zh-CN" sz="4400" dirty="0">
                <a:solidFill>
                  <a:srgbClr val="7030A0"/>
                </a:solidFill>
              </a:rPr>
              <a:t>Grade</a:t>
            </a:r>
            <a:r>
              <a:rPr lang="en-US" altLang="zh-CN" sz="4400" dirty="0"/>
              <a:t>)    /*Cno</a:t>
            </a:r>
            <a:r>
              <a:rPr lang="zh-CN" altLang="en-US" sz="4400" dirty="0"/>
              <a:t>课程号</a:t>
            </a:r>
            <a:r>
              <a:rPr lang="en-US" altLang="zh-CN" sz="4400" dirty="0"/>
              <a:t>*/</a:t>
            </a:r>
            <a:endParaRPr lang="en-US" altLang="zh-CN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建立计算机</a:t>
            </a:r>
            <a:r>
              <a:rPr lang="zh-CN" altLang="en-US" sz="4400" dirty="0"/>
              <a:t>科学与技术专业选修</a:t>
            </a:r>
            <a:r>
              <a:rPr lang="en-US" altLang="zh-CN" sz="4400" dirty="0"/>
              <a:t>2001</a:t>
            </a:r>
            <a:r>
              <a:rPr lang="zh-CN" altLang="en-US" sz="4400" dirty="0"/>
              <a:t>号课程且成绩在</a:t>
            </a:r>
            <a:r>
              <a:rPr lang="en-US" altLang="zh-CN" sz="4400" dirty="0"/>
              <a:t>60</a:t>
            </a:r>
            <a:r>
              <a:rPr lang="zh-CN" altLang="en-US" sz="4400" dirty="0"/>
              <a:t>分以上的学生的视图，包括学号、姓名、成绩属性。</a:t>
            </a:r>
            <a:endParaRPr lang="en-US" altLang="zh-CN" sz="4400" dirty="0"/>
          </a:p>
          <a:p>
            <a:pPr marL="0" indent="0" eaLnBrk="1" hangingPunct="1">
              <a:buNone/>
            </a:pPr>
            <a:endParaRPr lang="zh-CN" altLang="en-US" sz="4400" dirty="0"/>
          </a:p>
          <a:p>
            <a:pPr marL="0" indent="0" eaLnBrk="1" hangingPunct="1">
              <a:buNone/>
            </a:pPr>
            <a:endParaRPr lang="en-US" altLang="zh-CN" sz="2000" dirty="0"/>
          </a:p>
          <a:p>
            <a:pPr marL="0" indent="0" eaLnBrk="1" hangingPunct="1">
              <a:buNone/>
            </a:pPr>
            <a:r>
              <a:rPr lang="en-US" altLang="zh-CN" sz="2000" dirty="0">
                <a:sym typeface="+mn-ea"/>
              </a:rPr>
              <a:t>   </a:t>
            </a:r>
            <a:r>
              <a:rPr lang="en-US" altLang="zh-CN" sz="2000" dirty="0">
                <a:solidFill>
                  <a:srgbClr val="7030A0"/>
                </a:solidFill>
                <a:sym typeface="+mn-ea"/>
              </a:rPr>
              <a:t>         </a:t>
            </a:r>
            <a:endParaRPr lang="en-US" altLang="zh-CN" sz="2000" dirty="0"/>
          </a:p>
          <a:p>
            <a:pPr marL="0" indent="0" eaLnBrk="1" hangingPunct="1">
              <a:buNone/>
            </a:pPr>
            <a:endParaRPr lang="en-US" altLang="zh-CN" sz="2000" dirty="0"/>
          </a:p>
          <a:p>
            <a:pPr marL="0" indent="0" eaLnBrk="1" hangingPunct="1">
              <a:buNone/>
            </a:pPr>
            <a:endParaRPr lang="en-US" altLang="zh-CN" sz="2000" dirty="0"/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视图</a:t>
            </a:r>
            <a:endParaRPr lang="zh-CN" altLang="en-US" sz="3600"/>
          </a:p>
        </p:txBody>
      </p:sp>
      <p:sp>
        <p:nvSpPr>
          <p:cNvPr id="4" name="文本框 3"/>
          <p:cNvSpPr txBox="1"/>
          <p:nvPr/>
        </p:nvSpPr>
        <p:spPr>
          <a:xfrm>
            <a:off x="335915" y="3285490"/>
            <a:ext cx="11228705" cy="294259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CREATE VIEW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v_90score 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 </a:t>
            </a:r>
            <a:endParaRPr lang="en-US" altLang="zh-CN" sz="2800" b="1" i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Student.Sno, Student.Sname, SC.Grade 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FROM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Student, SC 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WHERE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Student.Sno = SC.Sno </a:t>
            </a:r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 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Sdept = '</a:t>
            </a:r>
            <a:r>
              <a:rPr lang="zh-CN" altLang="en-US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信息管理与信息系统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 </a:t>
            </a:r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 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Cno = '81001' AND Grade &gt; 90;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theme/theme1.xml><?xml version="1.0" encoding="utf-8"?>
<a:theme xmlns:a="http://schemas.openxmlformats.org/drawingml/2006/main" name="数据库系统概论">
  <a:themeElements>
    <a:clrScheme name="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数据库系统概论">
  <a:themeElements>
    <a:clrScheme name="1_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数据库系统概论">
  <a:themeElements>
    <a:clrScheme name="2_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数据库系统概论">
  <a:themeElements>
    <a:clrScheme name="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5280</Words>
  <Application>WPS 演示</Application>
  <PresentationFormat>宽屏</PresentationFormat>
  <Paragraphs>290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Arial</vt:lpstr>
      <vt:lpstr>宋体</vt:lpstr>
      <vt:lpstr>Wingdings</vt:lpstr>
      <vt:lpstr>华文琥珀</vt:lpstr>
      <vt:lpstr>微软雅黑</vt:lpstr>
      <vt:lpstr>Calibri</vt:lpstr>
      <vt:lpstr>Arial Unicode MS</vt:lpstr>
      <vt:lpstr>Franklin Gothic Medium</vt:lpstr>
      <vt:lpstr>数据库系统概论</vt:lpstr>
      <vt:lpstr>1_数据库系统概论</vt:lpstr>
      <vt:lpstr>2_数据库系统概论</vt:lpstr>
      <vt:lpstr>3_数据库系统概论</vt:lpstr>
      <vt:lpstr>PowerPoint 演示文稿</vt:lpstr>
      <vt:lpstr>1</vt:lpstr>
      <vt:lpstr>2</vt:lpstr>
      <vt:lpstr>3</vt:lpstr>
      <vt:lpstr>4</vt:lpstr>
      <vt:lpstr>5</vt:lpstr>
      <vt:lpstr>6</vt:lpstr>
      <vt:lpstr>7</vt:lpstr>
      <vt:lpstr>8</vt:lpstr>
      <vt:lpstr>9</vt:lpstr>
      <vt:lpstr>9</vt:lpstr>
      <vt:lpstr>PowerPoint 演示文稿</vt:lpstr>
      <vt:lpstr>GROUP BY子句（续）</vt:lpstr>
      <vt:lpstr>GROUP BY子句（续）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guixiang</dc:creator>
  <cp:lastModifiedBy>茗</cp:lastModifiedBy>
  <cp:revision>400</cp:revision>
  <dcterms:created xsi:type="dcterms:W3CDTF">2014-10-23T04:37:00Z</dcterms:created>
  <dcterms:modified xsi:type="dcterms:W3CDTF">2026-05-25T04:22:05Z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641152CE318A4F8A8066D53ECC2E7705_12</vt:lpwstr>
  </property>
</Properties>
</file>