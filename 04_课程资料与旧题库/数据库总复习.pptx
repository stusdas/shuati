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6"/>
  </p:notesMasterIdLst>
  <p:sldIdLst>
    <p:sldId id="256" r:id="rId5"/>
    <p:sldId id="529" r:id="rId7"/>
    <p:sldId id="471" r:id="rId8"/>
    <p:sldId id="473" r:id="rId9"/>
    <p:sldId id="531" r:id="rId10"/>
    <p:sldId id="270" r:id="rId11"/>
    <p:sldId id="530" r:id="rId12"/>
    <p:sldId id="299" r:id="rId13"/>
    <p:sldId id="300" r:id="rId14"/>
    <p:sldId id="301" r:id="rId15"/>
    <p:sldId id="538" r:id="rId16"/>
    <p:sldId id="539" r:id="rId17"/>
    <p:sldId id="540" r:id="rId18"/>
    <p:sldId id="544" r:id="rId19"/>
    <p:sldId id="271" r:id="rId20"/>
    <p:sldId id="564" r:id="rId21"/>
    <p:sldId id="565" r:id="rId22"/>
    <p:sldId id="345" r:id="rId23"/>
    <p:sldId id="525" r:id="rId24"/>
    <p:sldId id="526" r:id="rId25"/>
    <p:sldId id="322" r:id="rId26"/>
    <p:sldId id="341" r:id="rId27"/>
    <p:sldId id="342" r:id="rId28"/>
    <p:sldId id="343" r:id="rId29"/>
    <p:sldId id="344" r:id="rId30"/>
    <p:sldId id="482" r:id="rId31"/>
    <p:sldId id="363" r:id="rId32"/>
    <p:sldId id="497" r:id="rId33"/>
    <p:sldId id="498" r:id="rId34"/>
    <p:sldId id="567" r:id="rId35"/>
    <p:sldId id="568" r:id="rId36"/>
    <p:sldId id="569" r:id="rId37"/>
    <p:sldId id="570" r:id="rId38"/>
    <p:sldId id="571" r:id="rId39"/>
    <p:sldId id="572" r:id="rId40"/>
    <p:sldId id="557" r:id="rId41"/>
    <p:sldId id="558" r:id="rId42"/>
    <p:sldId id="559" r:id="rId43"/>
    <p:sldId id="560" r:id="rId44"/>
    <p:sldId id="561" r:id="rId45"/>
    <p:sldId id="562" r:id="rId46"/>
    <p:sldId id="563" r:id="rId47"/>
    <p:sldId id="521" r:id="rId48"/>
    <p:sldId id="528" r:id="rId49"/>
    <p:sldId id="504" r:id="rId50"/>
    <p:sldId id="516" r:id="rId51"/>
    <p:sldId id="505" r:id="rId52"/>
    <p:sldId id="506" r:id="rId53"/>
    <p:sldId id="507" r:id="rId54"/>
    <p:sldId id="508" r:id="rId55"/>
    <p:sldId id="487" r:id="rId56"/>
    <p:sldId id="488" r:id="rId57"/>
    <p:sldId id="489" r:id="rId58"/>
    <p:sldId id="490" r:id="rId59"/>
    <p:sldId id="573" r:id="rId60"/>
    <p:sldId id="396" r:id="rId61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0" clrIdx="0"/>
  <p:cmAuthor id="2" name=". NightDeer" initials=".N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87"/>
    <p:restoredTop sz="94659"/>
  </p:normalViewPr>
  <p:slideViewPr>
    <p:cSldViewPr showGuides="1">
      <p:cViewPr varScale="1">
        <p:scale>
          <a:sx n="54" d="100"/>
          <a:sy n="54" d="100"/>
        </p:scale>
        <p:origin x="33" y="738"/>
      </p:cViewPr>
      <p:guideLst>
        <p:guide orient="horz" pos="2160"/>
        <p:guide pos="2902"/>
      </p:guideLst>
    </p:cSldViewPr>
  </p:slideViewPr>
  <p:outlineViewPr>
    <p:cViewPr>
      <p:scale>
        <a:sx n="33" d="100"/>
        <a:sy n="33" d="100"/>
      </p:scale>
      <p:origin x="0" y="43038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41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5" Type="http://schemas.openxmlformats.org/officeDocument/2006/relationships/commentAuthors" Target="commentAuthors.xml"/><Relationship Id="rId64" Type="http://schemas.openxmlformats.org/officeDocument/2006/relationships/tableStyles" Target="tableStyles.xml"/><Relationship Id="rId63" Type="http://schemas.openxmlformats.org/officeDocument/2006/relationships/viewProps" Target="viewProps.xml"/><Relationship Id="rId62" Type="http://schemas.openxmlformats.org/officeDocument/2006/relationships/presProps" Target="presProps.xml"/><Relationship Id="rId61" Type="http://schemas.openxmlformats.org/officeDocument/2006/relationships/slide" Target="slides/slide56.xml"/><Relationship Id="rId60" Type="http://schemas.openxmlformats.org/officeDocument/2006/relationships/slide" Target="slides/slide55.xml"/><Relationship Id="rId6" Type="http://schemas.openxmlformats.org/officeDocument/2006/relationships/notesMaster" Target="notesMasters/notesMaster1.xml"/><Relationship Id="rId59" Type="http://schemas.openxmlformats.org/officeDocument/2006/relationships/slide" Target="slides/slide54.xml"/><Relationship Id="rId58" Type="http://schemas.openxmlformats.org/officeDocument/2006/relationships/slide" Target="slides/slide53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" Type="http://schemas.openxmlformats.org/officeDocument/2006/relationships/slide" Target="slides/slide1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Ro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72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72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72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51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1741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7412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1945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9460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2253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2532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2662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6628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2867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8676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3072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0724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3277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2772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4403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4608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6084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4813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8132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1200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Freeform 4"/>
          <p:cNvSpPr/>
          <p:nvPr userDrawn="1"/>
        </p:nvSpPr>
        <p:spPr>
          <a:xfrm>
            <a:off x="-20637" y="533400"/>
            <a:ext cx="9161462" cy="1006475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2052" name="Group 8"/>
          <p:cNvGrpSpPr/>
          <p:nvPr userDrawn="1"/>
        </p:nvGrpSpPr>
        <p:grpSpPr>
          <a:xfrm>
            <a:off x="8153400" y="53975"/>
            <a:ext cx="609600" cy="592138"/>
            <a:chOff x="4992" y="816"/>
            <a:chExt cx="576" cy="576"/>
          </a:xfrm>
        </p:grpSpPr>
        <p:sp>
          <p:nvSpPr>
            <p:cNvPr id="5" name="Oval 9"/>
            <p:cNvSpPr>
              <a:spLocks noChangeArrowheads="1"/>
            </p:cNvSpPr>
            <p:nvPr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Oval 10"/>
            <p:cNvSpPr>
              <a:spLocks noChangeArrowheads="1"/>
            </p:cNvSpPr>
            <p:nvPr/>
          </p:nvSpPr>
          <p:spPr bwMode="gray">
            <a:xfrm>
              <a:off x="4992" y="912"/>
              <a:ext cx="480" cy="38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053" name="Group 11"/>
          <p:cNvGrpSpPr/>
          <p:nvPr userDrawn="1"/>
        </p:nvGrpSpPr>
        <p:grpSpPr>
          <a:xfrm>
            <a:off x="171450" y="819150"/>
            <a:ext cx="720725" cy="762000"/>
            <a:chOff x="4992" y="816"/>
            <a:chExt cx="576" cy="576"/>
          </a:xfrm>
        </p:grpSpPr>
        <p:sp>
          <p:nvSpPr>
            <p:cNvPr id="8" name="Oval 12"/>
            <p:cNvSpPr>
              <a:spLocks noChangeArrowheads="1"/>
            </p:cNvSpPr>
            <p:nvPr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Oval 13"/>
            <p:cNvSpPr>
              <a:spLocks noChangeArrowheads="1"/>
            </p:cNvSpPr>
            <p:nvPr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054" name="Group 5"/>
          <p:cNvGrpSpPr/>
          <p:nvPr userDrawn="1"/>
        </p:nvGrpSpPr>
        <p:grpSpPr>
          <a:xfrm>
            <a:off x="7740650" y="347663"/>
            <a:ext cx="387350" cy="366712"/>
            <a:chOff x="4752" y="1200"/>
            <a:chExt cx="288" cy="288"/>
          </a:xfrm>
        </p:grpSpPr>
        <p:sp>
          <p:nvSpPr>
            <p:cNvPr id="11" name="Oval 6"/>
            <p:cNvSpPr>
              <a:spLocks noChangeArrowheads="1"/>
            </p:cNvSpPr>
            <p:nvPr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Oval 7"/>
            <p:cNvSpPr>
              <a:spLocks noChangeArrowheads="1"/>
            </p:cNvSpPr>
            <p:nvPr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055" name="Freeform 3"/>
          <p:cNvSpPr/>
          <p:nvPr userDrawn="1"/>
        </p:nvSpPr>
        <p:spPr>
          <a:xfrm>
            <a:off x="-11112" y="280988"/>
            <a:ext cx="9155112" cy="1620837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42088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2088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4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</a:fld>
            <a:endParaRPr lang="en-US" altLang="zh-CN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24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20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8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800">
                <a:latin typeface="微软雅黑" panose="020B0503020204020204" charset="-122"/>
                <a:ea typeface="微软雅黑" panose="020B050302020402020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24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20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8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800">
                <a:latin typeface="微软雅黑" panose="020B0503020204020204" charset="-122"/>
                <a:ea typeface="微软雅黑" panose="020B050302020402020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1200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Freeform 4"/>
          <p:cNvSpPr/>
          <p:nvPr userDrawn="1"/>
        </p:nvSpPr>
        <p:spPr>
          <a:xfrm>
            <a:off x="-20637" y="533400"/>
            <a:ext cx="9161462" cy="1006475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 sz="1800"/>
          </a:p>
        </p:txBody>
      </p:sp>
      <p:grpSp>
        <p:nvGrpSpPr>
          <p:cNvPr id="2052" name="Group 8"/>
          <p:cNvGrpSpPr/>
          <p:nvPr userDrawn="1"/>
        </p:nvGrpSpPr>
        <p:grpSpPr>
          <a:xfrm>
            <a:off x="8153400" y="53975"/>
            <a:ext cx="609600" cy="592138"/>
            <a:chOff x="4992" y="816"/>
            <a:chExt cx="576" cy="576"/>
          </a:xfrm>
        </p:grpSpPr>
        <p:sp>
          <p:nvSpPr>
            <p:cNvPr id="5" name="Oval 9"/>
            <p:cNvSpPr>
              <a:spLocks noChangeArrowheads="1"/>
            </p:cNvSpPr>
            <p:nvPr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Oval 10"/>
            <p:cNvSpPr>
              <a:spLocks noChangeArrowheads="1"/>
            </p:cNvSpPr>
            <p:nvPr/>
          </p:nvSpPr>
          <p:spPr bwMode="gray">
            <a:xfrm>
              <a:off x="4992" y="912"/>
              <a:ext cx="480" cy="38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053" name="Group 11"/>
          <p:cNvGrpSpPr/>
          <p:nvPr userDrawn="1"/>
        </p:nvGrpSpPr>
        <p:grpSpPr>
          <a:xfrm>
            <a:off x="171450" y="819150"/>
            <a:ext cx="720725" cy="762000"/>
            <a:chOff x="4992" y="816"/>
            <a:chExt cx="576" cy="576"/>
          </a:xfrm>
        </p:grpSpPr>
        <p:sp>
          <p:nvSpPr>
            <p:cNvPr id="8" name="Oval 12"/>
            <p:cNvSpPr>
              <a:spLocks noChangeArrowheads="1"/>
            </p:cNvSpPr>
            <p:nvPr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Oval 13"/>
            <p:cNvSpPr>
              <a:spLocks noChangeArrowheads="1"/>
            </p:cNvSpPr>
            <p:nvPr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054" name="Group 5"/>
          <p:cNvGrpSpPr/>
          <p:nvPr userDrawn="1"/>
        </p:nvGrpSpPr>
        <p:grpSpPr>
          <a:xfrm>
            <a:off x="7740650" y="347663"/>
            <a:ext cx="387350" cy="366712"/>
            <a:chOff x="4752" y="1200"/>
            <a:chExt cx="288" cy="288"/>
          </a:xfrm>
        </p:grpSpPr>
        <p:sp>
          <p:nvSpPr>
            <p:cNvPr id="11" name="Oval 6"/>
            <p:cNvSpPr>
              <a:spLocks noChangeArrowheads="1"/>
            </p:cNvSpPr>
            <p:nvPr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Oval 7"/>
            <p:cNvSpPr>
              <a:spLocks noChangeArrowheads="1"/>
            </p:cNvSpPr>
            <p:nvPr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055" name="Freeform 3"/>
          <p:cNvSpPr/>
          <p:nvPr userDrawn="1"/>
        </p:nvSpPr>
        <p:spPr>
          <a:xfrm>
            <a:off x="-11112" y="280988"/>
            <a:ext cx="9155112" cy="1620837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 w="9525">
            <a:noFill/>
          </a:ln>
        </p:spPr>
        <p:txBody>
          <a:bodyPr/>
          <a:p>
            <a:endParaRPr lang="zh-CN" altLang="en-US" sz="1800"/>
          </a:p>
        </p:txBody>
      </p:sp>
      <p:sp>
        <p:nvSpPr>
          <p:cNvPr id="42088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2088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4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</a:fld>
            <a:endParaRPr lang="en-US" altLang="zh-CN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24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20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8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800">
                <a:latin typeface="微软雅黑" panose="020B0503020204020204" charset="-122"/>
                <a:ea typeface="微软雅黑" panose="020B050302020402020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24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20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8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800">
                <a:latin typeface="微软雅黑" panose="020B0503020204020204" charset="-122"/>
                <a:ea typeface="微软雅黑" panose="020B050302020402020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0034" y="1071552"/>
            <a:ext cx="7772400" cy="1102519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14414" y="2643188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>
    <p:wipe dir="d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5720" y="-29766"/>
            <a:ext cx="8401080" cy="853679"/>
          </a:xfrm>
        </p:spPr>
        <p:txBody>
          <a:bodyPr/>
          <a:lstStyle>
            <a:lvl1pPr>
              <a:defRPr sz="3600" baseline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20" y="1004888"/>
            <a:ext cx="8401080" cy="364093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transition spd="slow">
    <p:wipe dir="d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slow">
    <p:wipe dir="d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004888"/>
            <a:ext cx="4038600" cy="364093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004888"/>
            <a:ext cx="4038600" cy="364093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wipe dir="d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wipe dir="d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wipe dir="d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 dir="d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slow">
    <p:wipe dir="d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slow">
    <p:wipe dir="d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wipe dir="d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-29766"/>
            <a:ext cx="2057400" cy="467558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-29766"/>
            <a:ext cx="6019800" cy="467558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wipe dir="d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514351"/>
            <a:ext cx="7391400" cy="4226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371600"/>
            <a:ext cx="4038600" cy="3371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371600"/>
            <a:ext cx="4038600" cy="16287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114675"/>
            <a:ext cx="4038600" cy="16287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800600"/>
            <a:ext cx="2133600" cy="2413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ftr" sz="quarter" idx="11"/>
          </p:nvPr>
        </p:nvSpPr>
        <p:spPr>
          <a:xfrm>
            <a:off x="5219700" y="4786313"/>
            <a:ext cx="3600450" cy="2413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4" Type="http://schemas.openxmlformats.org/officeDocument/2006/relationships/theme" Target="../theme/theme3.xml"/><Relationship Id="rId13" Type="http://schemas.openxmlformats.org/officeDocument/2006/relationships/image" Target="../media/image2.png"/><Relationship Id="rId12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1984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84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 Black" panose="020B0A0402010202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grpSp>
        <p:nvGrpSpPr>
          <p:cNvPr id="1028" name="Group 4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44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5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6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7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8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9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0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1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2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29" name="Rectangle 1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0" name="Rectangle 15"/>
          <p:cNvSpPr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1985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32" name="Picture 2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0"/>
            <a:ext cx="9144000" cy="1200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3" name="Freeform 4"/>
          <p:cNvSpPr/>
          <p:nvPr userDrawn="1"/>
        </p:nvSpPr>
        <p:spPr>
          <a:xfrm>
            <a:off x="-20637" y="533400"/>
            <a:ext cx="9161462" cy="1006475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1034" name="Group 8"/>
          <p:cNvGrpSpPr/>
          <p:nvPr userDrawn="1"/>
        </p:nvGrpSpPr>
        <p:grpSpPr>
          <a:xfrm>
            <a:off x="8153400" y="53975"/>
            <a:ext cx="609600" cy="592138"/>
            <a:chOff x="4992" y="816"/>
            <a:chExt cx="576" cy="576"/>
          </a:xfrm>
        </p:grpSpPr>
        <p:sp>
          <p:nvSpPr>
            <p:cNvPr id="1042" name="Oval 9"/>
            <p:cNvSpPr>
              <a:spLocks noChangeArrowheads="1"/>
            </p:cNvSpPr>
            <p:nvPr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06" name="Oval 10"/>
            <p:cNvSpPr>
              <a:spLocks noChangeArrowheads="1"/>
            </p:cNvSpPr>
            <p:nvPr/>
          </p:nvSpPr>
          <p:spPr bwMode="gray">
            <a:xfrm>
              <a:off x="4992" y="912"/>
              <a:ext cx="480" cy="38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35" name="Group 11"/>
          <p:cNvGrpSpPr/>
          <p:nvPr userDrawn="1"/>
        </p:nvGrpSpPr>
        <p:grpSpPr>
          <a:xfrm>
            <a:off x="171450" y="819150"/>
            <a:ext cx="720725" cy="762000"/>
            <a:chOff x="4992" y="816"/>
            <a:chExt cx="576" cy="576"/>
          </a:xfrm>
        </p:grpSpPr>
        <p:sp>
          <p:nvSpPr>
            <p:cNvPr id="1040" name="Oval 12"/>
            <p:cNvSpPr>
              <a:spLocks noChangeArrowheads="1"/>
            </p:cNvSpPr>
            <p:nvPr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09" name="Oval 13"/>
            <p:cNvSpPr>
              <a:spLocks noChangeArrowheads="1"/>
            </p:cNvSpPr>
            <p:nvPr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36" name="Group 5"/>
          <p:cNvGrpSpPr/>
          <p:nvPr userDrawn="1"/>
        </p:nvGrpSpPr>
        <p:grpSpPr>
          <a:xfrm>
            <a:off x="7740650" y="347663"/>
            <a:ext cx="387350" cy="366712"/>
            <a:chOff x="4752" y="1200"/>
            <a:chExt cx="288" cy="288"/>
          </a:xfrm>
        </p:grpSpPr>
        <p:sp>
          <p:nvSpPr>
            <p:cNvPr id="4102" name="Oval 6"/>
            <p:cNvSpPr>
              <a:spLocks noChangeArrowheads="1"/>
            </p:cNvSpPr>
            <p:nvPr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03" name="Oval 7"/>
            <p:cNvSpPr>
              <a:spLocks noChangeArrowheads="1"/>
            </p:cNvSpPr>
            <p:nvPr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37" name="Freeform 3"/>
          <p:cNvSpPr/>
          <p:nvPr userDrawn="1"/>
        </p:nvSpPr>
        <p:spPr>
          <a:xfrm>
            <a:off x="-11112" y="280988"/>
            <a:ext cx="9155112" cy="1620837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 w="9525">
            <a:noFill/>
          </a:ln>
        </p:spPr>
        <p:txBody>
          <a:bodyPr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1984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84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 Black" panose="020B0A0402010202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grpSp>
        <p:nvGrpSpPr>
          <p:cNvPr id="1028" name="Group 4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44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5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6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7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8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9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0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1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2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29" name="Rectangle 1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0" name="Rectangle 15"/>
          <p:cNvSpPr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1985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32" name="Picture 2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0"/>
            <a:ext cx="9144000" cy="1200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3" name="Freeform 4"/>
          <p:cNvSpPr/>
          <p:nvPr userDrawn="1"/>
        </p:nvSpPr>
        <p:spPr>
          <a:xfrm>
            <a:off x="-20637" y="533400"/>
            <a:ext cx="9161462" cy="1006475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 sz="1800"/>
          </a:p>
        </p:txBody>
      </p:sp>
      <p:grpSp>
        <p:nvGrpSpPr>
          <p:cNvPr id="1034" name="Group 8"/>
          <p:cNvGrpSpPr/>
          <p:nvPr userDrawn="1"/>
        </p:nvGrpSpPr>
        <p:grpSpPr>
          <a:xfrm>
            <a:off x="8153400" y="53975"/>
            <a:ext cx="609600" cy="592138"/>
            <a:chOff x="4992" y="816"/>
            <a:chExt cx="576" cy="576"/>
          </a:xfrm>
        </p:grpSpPr>
        <p:sp>
          <p:nvSpPr>
            <p:cNvPr id="1042" name="Oval 9"/>
            <p:cNvSpPr>
              <a:spLocks noChangeArrowheads="1"/>
            </p:cNvSpPr>
            <p:nvPr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06" name="Oval 10"/>
            <p:cNvSpPr>
              <a:spLocks noChangeArrowheads="1"/>
            </p:cNvSpPr>
            <p:nvPr/>
          </p:nvSpPr>
          <p:spPr bwMode="gray">
            <a:xfrm>
              <a:off x="4992" y="912"/>
              <a:ext cx="480" cy="38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35" name="Group 11"/>
          <p:cNvGrpSpPr/>
          <p:nvPr userDrawn="1"/>
        </p:nvGrpSpPr>
        <p:grpSpPr>
          <a:xfrm>
            <a:off x="171450" y="819150"/>
            <a:ext cx="720725" cy="762000"/>
            <a:chOff x="4992" y="816"/>
            <a:chExt cx="576" cy="576"/>
          </a:xfrm>
        </p:grpSpPr>
        <p:sp>
          <p:nvSpPr>
            <p:cNvPr id="1040" name="Oval 12"/>
            <p:cNvSpPr>
              <a:spLocks noChangeArrowheads="1"/>
            </p:cNvSpPr>
            <p:nvPr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09" name="Oval 13"/>
            <p:cNvSpPr>
              <a:spLocks noChangeArrowheads="1"/>
            </p:cNvSpPr>
            <p:nvPr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36" name="Group 5"/>
          <p:cNvGrpSpPr/>
          <p:nvPr userDrawn="1"/>
        </p:nvGrpSpPr>
        <p:grpSpPr>
          <a:xfrm>
            <a:off x="7740650" y="347663"/>
            <a:ext cx="387350" cy="366712"/>
            <a:chOff x="4752" y="1200"/>
            <a:chExt cx="288" cy="288"/>
          </a:xfrm>
        </p:grpSpPr>
        <p:sp>
          <p:nvSpPr>
            <p:cNvPr id="4102" name="Oval 6"/>
            <p:cNvSpPr>
              <a:spLocks noChangeArrowheads="1"/>
            </p:cNvSpPr>
            <p:nvPr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03" name="Oval 7"/>
            <p:cNvSpPr>
              <a:spLocks noChangeArrowheads="1"/>
            </p:cNvSpPr>
            <p:nvPr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37" name="Freeform 3"/>
          <p:cNvSpPr/>
          <p:nvPr userDrawn="1"/>
        </p:nvSpPr>
        <p:spPr>
          <a:xfrm>
            <a:off x="-11112" y="280988"/>
            <a:ext cx="9155112" cy="1620837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 w="9525">
            <a:noFill/>
          </a:ln>
        </p:spPr>
        <p:txBody>
          <a:bodyPr/>
          <a:p>
            <a:endParaRPr lang="zh-CN" altLang="en-US" sz="18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-30163"/>
            <a:ext cx="8229600" cy="85407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205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04888"/>
            <a:ext cx="8229600" cy="3641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  <p:sp>
        <p:nvSpPr>
          <p:cNvPr id="2" name="WordArt 8"/>
          <p:cNvSpPr/>
          <p:nvPr userDrawn="1"/>
        </p:nvSpPr>
        <p:spPr>
          <a:xfrm rot="20636009">
            <a:off x="1100689" y="1420924"/>
            <a:ext cx="6096126" cy="236976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1328"/>
              </a:avLst>
            </a:prstTxWarp>
            <a:norm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0" i="0" u="none" strike="noStrike" kern="1200" cap="none" spc="0" normalizeH="0" baseline="0" noProof="1">
                <a:ln w="9525" cap="flat" cmpd="sng">
                  <a:solidFill>
                    <a:schemeClr val="bg1">
                      <a:alpha val="50000"/>
                    </a:schemeClr>
                  </a:solidFill>
                  <a:prstDash val="solid"/>
                  <a:headEnd type="none" w="med" len="med"/>
                  <a:tailEnd type="none" w="med" len="med"/>
                </a:ln>
                <a:noFill/>
                <a:latin typeface="华文琥珀" panose="02010800040101010101" charset="-122"/>
                <a:ea typeface="华文琥珀" panose="02010800040101010101" charset="-122"/>
                <a:cs typeface="+mn-cs"/>
              </a:rPr>
              <a:t>中国人民大学信息学院</a:t>
            </a:r>
            <a:endParaRPr kumimoji="0" lang="zh-CN" altLang="en-US" sz="3600" b="0" i="0" u="none" strike="noStrike" kern="1200" cap="none" spc="0" normalizeH="0" baseline="0" noProof="1">
              <a:ln w="9525" cap="flat" cmpd="sng">
                <a:solidFill>
                  <a:schemeClr val="bg1"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noFill/>
              <a:latin typeface="华文琥珀" panose="02010800040101010101" charset="-122"/>
              <a:ea typeface="华文琥珀" panose="02010800040101010101" charset="-122"/>
              <a:cs typeface="+mn-cs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3600" b="0" i="0" u="none" strike="noStrike" kern="1200" cap="none" spc="0" normalizeH="0" baseline="0" noProof="1">
              <a:ln w="9525" cap="flat" cmpd="sng">
                <a:solidFill>
                  <a:schemeClr val="bg1"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noFill/>
              <a:latin typeface="华文琥珀" panose="02010800040101010101" charset="-122"/>
              <a:ea typeface="华文琥珀" panose="02010800040101010101" charset="-122"/>
              <a:cs typeface="+mn-cs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3600" b="0" i="0" u="none" strike="noStrike" kern="1200" cap="none" spc="0" normalizeH="0" baseline="0" noProof="1">
              <a:ln w="9525" cap="flat" cmpd="sng">
                <a:solidFill>
                  <a:schemeClr val="bg1"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noFill/>
              <a:latin typeface="华文琥珀" panose="02010800040101010101" charset="-122"/>
              <a:ea typeface="华文琥珀" panose="02010800040101010101" charset="-122"/>
              <a:cs typeface="+mn-cs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0" i="0" u="none" strike="noStrike" kern="1200" cap="none" spc="0" normalizeH="0" baseline="0" noProof="1">
                <a:ln w="9525" cap="flat" cmpd="sng">
                  <a:solidFill>
                    <a:schemeClr val="bg1">
                      <a:alpha val="50000"/>
                    </a:schemeClr>
                  </a:solidFill>
                  <a:prstDash val="solid"/>
                  <a:headEnd type="none" w="med" len="med"/>
                  <a:tailEnd type="none" w="med" len="med"/>
                </a:ln>
                <a:noFill/>
                <a:latin typeface="华文琥珀" panose="02010800040101010101" charset="-122"/>
                <a:ea typeface="华文琥珀" panose="02010800040101010101" charset="-122"/>
                <a:cs typeface="+mn-cs"/>
              </a:rPr>
              <a:t>数据库系统概论</a:t>
            </a:r>
            <a:endParaRPr kumimoji="0" lang="zh-CN" altLang="en-US" sz="3600" b="0" i="0" u="none" strike="noStrike" kern="1200" cap="none" spc="0" normalizeH="0" baseline="0" noProof="1">
              <a:ln w="9525" cap="flat" cmpd="sng">
                <a:solidFill>
                  <a:schemeClr val="bg1"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noFill/>
              <a:latin typeface="华文琥珀" panose="02010800040101010101" charset="-122"/>
              <a:ea typeface="华文琥珀" panose="02010800040101010101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ransition spd="slow">
    <p:wipe dir="d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>
            <p:ph type="ctrTitle"/>
          </p:nvPr>
        </p:nvSpPr>
        <p:spPr>
          <a:xfrm>
            <a:off x="1116013" y="2205038"/>
            <a:ext cx="6842125" cy="1150937"/>
          </a:xfrm>
        </p:spPr>
        <p:txBody>
          <a:bodyPr vert="horz" wrap="square" lIns="91440" tIns="45720" rIns="91440" bIns="45720" anchor="ctr" anchorCtr="0"/>
          <a:p>
            <a:pPr algn="ctr" eaLnBrk="1" hangingPunct="1">
              <a:buClrTx/>
              <a:buSzTx/>
              <a:buFontTx/>
            </a:pPr>
            <a:r>
              <a:rPr lang="zh-CN" altLang="en-US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回顾</a:t>
            </a:r>
            <a:endParaRPr lang="zh-CN" altLang="en-US" b="1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3"/>
          <p:cNvSpPr>
            <a:spLocks noGrp="1"/>
          </p:cNvSpPr>
          <p:nvPr>
            <p:ph idx="1"/>
          </p:nvPr>
        </p:nvSpPr>
        <p:spPr>
          <a:xfrm>
            <a:off x="395605" y="1556385"/>
            <a:ext cx="8208645" cy="5094605"/>
          </a:xfrm>
        </p:spPr>
        <p:txBody>
          <a:bodyPr vert="horz" wrap="square" lIns="91440" tIns="45720" rIns="91440" bIns="45720" anchor="t" anchorCtr="0"/>
          <a:p>
            <a:pPr marL="0" indent="719455" algn="just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FF0000"/>
                </a:solidFill>
              </a:rPr>
              <a:t>1.1.1 </a:t>
            </a:r>
            <a:r>
              <a:rPr lang="zh-CN" altLang="en-US" b="1" dirty="0">
                <a:solidFill>
                  <a:srgbClr val="FF0000"/>
                </a:solidFill>
              </a:rPr>
              <a:t>数据库的四个基本概念</a:t>
            </a:r>
            <a:endParaRPr lang="en-US" b="1" dirty="0">
              <a:solidFill>
                <a:srgbClr val="FF0000"/>
              </a:solidFill>
            </a:endParaRPr>
          </a:p>
          <a:p>
            <a:pPr marL="0" indent="719455" algn="just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数据库</a:t>
            </a:r>
            <a:r>
              <a:rPr lang="zh-CN" altLang="en-US" b="1" dirty="0"/>
              <a:t>：计算机内</a:t>
            </a:r>
            <a:r>
              <a:rPr lang="en-US" altLang="zh-CN" b="1" u="sng" dirty="0"/>
              <a:t>1</a:t>
            </a:r>
            <a:r>
              <a:rPr lang="zh-CN" altLang="en-US" b="1" u="sng" dirty="0"/>
              <a:t>，</a:t>
            </a:r>
            <a:r>
              <a:rPr lang="en-US" altLang="zh-CN" b="1" u="sng" dirty="0"/>
              <a:t>2</a:t>
            </a:r>
            <a:r>
              <a:rPr lang="zh-CN" altLang="en-US" b="1" u="sng" dirty="0"/>
              <a:t>，</a:t>
            </a:r>
            <a:r>
              <a:rPr lang="en-US" altLang="zh-CN" b="1" u="sng" dirty="0"/>
              <a:t>3</a:t>
            </a:r>
            <a:r>
              <a:rPr lang="zh-CN" altLang="en-US" b="1" dirty="0"/>
              <a:t>大量数据的集合</a:t>
            </a:r>
            <a:endParaRPr lang="zh-CN" altLang="en-US" b="1" dirty="0"/>
          </a:p>
          <a:p>
            <a:pPr marL="0" indent="719455" algn="just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数据库数据</a:t>
            </a:r>
            <a:r>
              <a:rPr lang="zh-CN" altLang="en-US" b="1" dirty="0"/>
              <a:t>具有：</a:t>
            </a:r>
            <a:r>
              <a:rPr lang="zh-CN" altLang="en-US" b="1" u="sng" dirty="0"/>
              <a:t>长期存储、有组织和可共享</a:t>
            </a:r>
            <a:r>
              <a:rPr lang="zh-CN" altLang="en-US" b="1" dirty="0"/>
              <a:t>三个特点。</a:t>
            </a:r>
            <a:endParaRPr lang="zh-CN" altLang="en-US" b="1" dirty="0"/>
          </a:p>
          <a:p>
            <a:pPr marL="0" indent="719455" algn="just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1.1.2   3</a:t>
            </a:r>
            <a:r>
              <a:rPr lang="zh-CN" altLang="en-US" b="1" dirty="0">
                <a:solidFill>
                  <a:srgbClr val="FF0000"/>
                </a:solidFill>
              </a:rPr>
              <a:t>数据库系统阶段</a:t>
            </a:r>
            <a:r>
              <a:rPr lang="en-US" altLang="zh-CN" b="1" dirty="0">
                <a:solidFill>
                  <a:srgbClr val="FF0000"/>
                </a:solidFill>
              </a:rPr>
              <a:t> P10</a:t>
            </a:r>
            <a:endParaRPr lang="zh-CN" altLang="en-US" b="1" dirty="0">
              <a:solidFill>
                <a:srgbClr val="FF0000"/>
              </a:solidFill>
            </a:endParaRPr>
          </a:p>
          <a:p>
            <a:pPr marL="0" indent="719455" algn="just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1" dirty="0">
                <a:sym typeface="+mn-ea"/>
              </a:rPr>
              <a:t>数据库系统阶段具有如下特点</a:t>
            </a:r>
            <a:r>
              <a:rPr lang="en-US" altLang="zh-CN" b="1" dirty="0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 b="1" dirty="0">
                <a:sym typeface="+mn-ea"/>
              </a:rPr>
              <a:t>，</a:t>
            </a:r>
            <a:r>
              <a:rPr lang="en-US" altLang="zh-CN" b="1" dirty="0">
                <a:sym typeface="+mn-ea"/>
              </a:rPr>
              <a:t>2</a:t>
            </a:r>
            <a:r>
              <a:rPr lang="zh-CN" altLang="en-US" b="1" dirty="0">
                <a:sym typeface="+mn-ea"/>
              </a:rPr>
              <a:t>，</a:t>
            </a:r>
            <a:r>
              <a:rPr lang="en-US" altLang="zh-CN" b="1" dirty="0">
                <a:solidFill>
                  <a:srgbClr val="FF0000"/>
                </a:solidFill>
                <a:sym typeface="+mn-ea"/>
              </a:rPr>
              <a:t>3</a:t>
            </a:r>
            <a:endParaRPr lang="zh-CN" altLang="en-US" b="1" dirty="0">
              <a:solidFill>
                <a:srgbClr val="FF0000"/>
              </a:solidFill>
            </a:endParaRPr>
          </a:p>
          <a:p>
            <a:pPr marL="0" indent="719455" algn="just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什么是指数据库独立性？数据的物理独立性与逻辑独</a:t>
            </a:r>
            <a:r>
              <a:rPr lang="en-US" altLang="zh-CN" b="1" dirty="0">
                <a:solidFill>
                  <a:srgbClr val="FF0000"/>
                </a:solidFill>
              </a:rPr>
              <a:t>	</a:t>
            </a:r>
            <a:r>
              <a:rPr lang="zh-CN" altLang="en-US" b="1" dirty="0">
                <a:solidFill>
                  <a:srgbClr val="FF0000"/>
                </a:solidFill>
              </a:rPr>
              <a:t>立性含义？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0" indent="719455" algn="just" eaLnBrk="1" hangingPunct="1">
              <a:lnSpc>
                <a:spcPct val="150000"/>
              </a:lnSpc>
              <a:spcAft>
                <a:spcPct val="35000"/>
              </a:spcAft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        </a:t>
            </a:r>
            <a:r>
              <a:rPr lang="en-US" altLang="zh-CN" sz="2400" b="1" dirty="0">
                <a:solidFill>
                  <a:srgbClr val="FF0000"/>
                </a:solidFill>
              </a:rPr>
              <a:t> </a:t>
            </a:r>
            <a:endParaRPr lang="zh-CN" altLang="en-US" sz="2400" b="1" dirty="0"/>
          </a:p>
        </p:txBody>
      </p:sp>
      <p:sp>
        <p:nvSpPr>
          <p:cNvPr id="6147" name="Rectangle 4"/>
          <p:cNvSpPr/>
          <p:nvPr/>
        </p:nvSpPr>
        <p:spPr>
          <a:xfrm>
            <a:off x="971550" y="549275"/>
            <a:ext cx="5976938" cy="863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/>
              <a:t>第</a:t>
            </a:r>
            <a:r>
              <a:rPr lang="en-US" altLang="zh-CN" sz="3600" b="1" dirty="0"/>
              <a:t>1</a:t>
            </a:r>
            <a:r>
              <a:rPr lang="zh-CN" altLang="en-US" sz="3600" b="1" dirty="0"/>
              <a:t>章 数据库概述</a:t>
            </a:r>
            <a:endParaRPr lang="zh-CN" altLang="en-US" sz="36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3"/>
          <p:cNvSpPr>
            <a:spLocks noGrp="1"/>
          </p:cNvSpPr>
          <p:nvPr>
            <p:ph idx="1"/>
          </p:nvPr>
        </p:nvSpPr>
        <p:spPr>
          <a:xfrm>
            <a:off x="395605" y="1556385"/>
            <a:ext cx="8208645" cy="5094605"/>
          </a:xfrm>
        </p:spPr>
        <p:txBody>
          <a:bodyPr vert="horz" wrap="square" lIns="91440" tIns="45720" rIns="91440" bIns="45720" anchor="t" anchorCtr="0"/>
          <a:p>
            <a:pPr marL="0" indent="719455" algn="just" eaLnBrk="1" hangingPunct="1">
              <a:lnSpc>
                <a:spcPct val="150000"/>
              </a:lnSpc>
              <a:spcAft>
                <a:spcPct val="35000"/>
              </a:spcAft>
              <a:buNone/>
            </a:pPr>
            <a:r>
              <a:rPr lang="zh-CN" altLang="en-US" sz="3600" b="1" dirty="0">
                <a:latin typeface="宋体" panose="02010600030101010101" pitchFamily="2" charset="-122"/>
                <a:sym typeface="+mn-ea"/>
              </a:rPr>
              <a:t>数据模型的三个要素</a:t>
            </a:r>
            <a:r>
              <a:rPr lang="en-US" altLang="zh-CN" sz="3600" b="1" dirty="0">
                <a:sym typeface="+mn-ea"/>
              </a:rPr>
              <a:t>——</a:t>
            </a:r>
            <a:r>
              <a:rPr lang="zh-CN" altLang="en-US" sz="3600" b="1" dirty="0">
                <a:sym typeface="+mn-ea"/>
              </a:rPr>
              <a:t>数据结构、数据操作、数据的完整性约束条件</a:t>
            </a:r>
            <a:r>
              <a:rPr lang="zh-CN" altLang="en-US" sz="3600" b="1" dirty="0">
                <a:latin typeface="宋体" panose="02010600030101010101" pitchFamily="2" charset="-122"/>
                <a:sym typeface="+mn-ea"/>
              </a:rPr>
              <a:t>。</a:t>
            </a:r>
            <a:endParaRPr lang="zh-CN" altLang="en-US" sz="3600" b="1" dirty="0">
              <a:latin typeface="宋体" panose="02010600030101010101" pitchFamily="2" charset="-122"/>
              <a:sym typeface="+mn-ea"/>
            </a:endParaRPr>
          </a:p>
          <a:p>
            <a:pPr marL="0" indent="719455" algn="just" eaLnBrk="1" hangingPunct="1">
              <a:lnSpc>
                <a:spcPct val="150000"/>
              </a:lnSpc>
              <a:spcAft>
                <a:spcPct val="35000"/>
              </a:spcAft>
              <a:buNone/>
            </a:pPr>
            <a:r>
              <a:rPr lang="zh-CN" altLang="en-US" sz="3600" b="1" dirty="0">
                <a:sym typeface="+mn-ea"/>
              </a:rPr>
              <a:t>数据模型应满足的三方面要求</a:t>
            </a:r>
            <a:r>
              <a:rPr lang="en-US" altLang="zh-CN" sz="3600" b="1" dirty="0">
                <a:solidFill>
                  <a:srgbClr val="FF0000"/>
                </a:solidFill>
                <a:sym typeface="+mn-ea"/>
              </a:rPr>
              <a:t>  </a:t>
            </a:r>
            <a:endParaRPr lang="zh-CN" altLang="en-US" sz="3600" b="1" dirty="0">
              <a:latin typeface="宋体" panose="02010600030101010101" pitchFamily="2" charset="-122"/>
              <a:sym typeface="+mn-ea"/>
            </a:endParaRPr>
          </a:p>
          <a:p>
            <a:pPr marL="0" indent="719455" algn="just" eaLnBrk="1" hangingPunct="1">
              <a:lnSpc>
                <a:spcPct val="150000"/>
              </a:lnSpc>
              <a:spcAft>
                <a:spcPct val="35000"/>
              </a:spcAft>
              <a:buNone/>
            </a:pPr>
            <a:endParaRPr lang="zh-CN" altLang="en-US" sz="2400" b="1" dirty="0">
              <a:latin typeface="宋体" panose="02010600030101010101" pitchFamily="2" charset="-122"/>
              <a:sym typeface="+mn-ea"/>
            </a:endParaRPr>
          </a:p>
          <a:p>
            <a:pPr marL="0" indent="719455" algn="just" eaLnBrk="1" hangingPunct="1">
              <a:lnSpc>
                <a:spcPct val="150000"/>
              </a:lnSpc>
              <a:spcAft>
                <a:spcPct val="35000"/>
              </a:spcAft>
              <a:buNone/>
            </a:pPr>
            <a:endParaRPr lang="en-US" altLang="zh-CN" sz="2400" b="1" dirty="0"/>
          </a:p>
          <a:p>
            <a:pPr marL="0" indent="719455" algn="just" eaLnBrk="1" hangingPunct="1">
              <a:lnSpc>
                <a:spcPct val="150000"/>
              </a:lnSpc>
              <a:spcAft>
                <a:spcPct val="35000"/>
              </a:spcAft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        </a:t>
            </a:r>
            <a:endParaRPr lang="zh-CN" altLang="en-US" sz="2400" b="1" dirty="0"/>
          </a:p>
        </p:txBody>
      </p:sp>
      <p:sp>
        <p:nvSpPr>
          <p:cNvPr id="6147" name="Rectangle 4"/>
          <p:cNvSpPr/>
          <p:nvPr/>
        </p:nvSpPr>
        <p:spPr>
          <a:xfrm>
            <a:off x="971550" y="549275"/>
            <a:ext cx="5976938" cy="863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/>
              <a:t>第</a:t>
            </a:r>
            <a:r>
              <a:rPr lang="en-US" altLang="zh-CN" sz="3600" b="1" dirty="0"/>
              <a:t>1</a:t>
            </a:r>
            <a:r>
              <a:rPr lang="zh-CN" altLang="en-US" sz="3600" b="1" dirty="0"/>
              <a:t>章 数据库概述</a:t>
            </a:r>
            <a:endParaRPr lang="zh-CN" altLang="en-US" sz="36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3"/>
          <p:cNvSpPr>
            <a:spLocks noGrp="1"/>
          </p:cNvSpPr>
          <p:nvPr>
            <p:ph idx="1"/>
          </p:nvPr>
        </p:nvSpPr>
        <p:spPr>
          <a:xfrm>
            <a:off x="468313" y="1340168"/>
            <a:ext cx="8229600" cy="4876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5000"/>
              </a:lnSpc>
            </a:pPr>
            <a:r>
              <a:rPr lang="zh-CN" altLang="en-US" sz="3600" b="1" dirty="0"/>
              <a:t>概念模型特点：独立于具体的机器和</a:t>
            </a:r>
            <a:r>
              <a:rPr lang="en-US" altLang="zh-CN" sz="3600" b="1" dirty="0"/>
              <a:t>DBMS</a:t>
            </a:r>
            <a:endParaRPr lang="en-US" altLang="zh-CN" sz="3600" b="1" dirty="0"/>
          </a:p>
          <a:p>
            <a:pPr eaLnBrk="1" hangingPunct="1">
              <a:lnSpc>
                <a:spcPct val="135000"/>
              </a:lnSpc>
            </a:pPr>
            <a:r>
              <a:rPr lang="zh-CN" altLang="en-US" sz="3600" b="1" dirty="0">
                <a:latin typeface="宋体" panose="02010600030101010101" pitchFamily="2" charset="-122"/>
              </a:rPr>
              <a:t>数据库系统三级模式结构及特点（</a:t>
            </a:r>
            <a:r>
              <a:rPr lang="zh-CN" altLang="en-US" sz="3600" b="1" dirty="0">
                <a:solidFill>
                  <a:srgbClr val="FF0000"/>
                </a:solidFill>
              </a:rPr>
              <a:t>模式</a:t>
            </a:r>
            <a:r>
              <a:rPr lang="en-US" altLang="zh-CN" sz="3600" b="1" dirty="0">
                <a:solidFill>
                  <a:srgbClr val="FF0000"/>
                </a:solidFill>
              </a:rPr>
              <a:t>1</a:t>
            </a:r>
            <a:r>
              <a:rPr lang="zh-CN" altLang="en-US" sz="3600" b="1" dirty="0">
                <a:solidFill>
                  <a:srgbClr val="FF0000"/>
                </a:solidFill>
              </a:rPr>
              <a:t> ，外模式 </a:t>
            </a:r>
            <a:r>
              <a:rPr lang="en-US" altLang="zh-CN" sz="3600" b="1" dirty="0">
                <a:solidFill>
                  <a:srgbClr val="FF0000"/>
                </a:solidFill>
              </a:rPr>
              <a:t>n</a:t>
            </a:r>
            <a:r>
              <a:rPr lang="zh-CN" altLang="en-US" sz="3600" b="1" dirty="0">
                <a:solidFill>
                  <a:srgbClr val="FF0000"/>
                </a:solidFill>
              </a:rPr>
              <a:t>，内模式</a:t>
            </a:r>
            <a:r>
              <a:rPr lang="en-US" altLang="zh-CN" sz="3600" b="1" dirty="0">
                <a:solidFill>
                  <a:srgbClr val="FF0000"/>
                </a:solidFill>
              </a:rPr>
              <a:t>1  </a:t>
            </a:r>
            <a:r>
              <a:rPr lang="zh-CN" altLang="en-US" sz="3600" b="1" dirty="0">
                <a:solidFill>
                  <a:srgbClr val="FF0000"/>
                </a:solidFill>
              </a:rPr>
              <a:t> 定义 </a:t>
            </a:r>
            <a:r>
              <a:rPr lang="zh-CN" altLang="en-US" sz="3600" b="1" dirty="0">
                <a:latin typeface="宋体" panose="02010600030101010101" pitchFamily="2" charset="-122"/>
              </a:rPr>
              <a:t>）</a:t>
            </a:r>
            <a:endParaRPr lang="en-US" altLang="zh-CN" sz="36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35000"/>
              </a:lnSpc>
            </a:pPr>
            <a:r>
              <a:rPr lang="zh-CN" altLang="en-US" sz="3600" b="1" dirty="0">
                <a:latin typeface="宋体" panose="02010600030101010101" pitchFamily="2" charset="-122"/>
              </a:rPr>
              <a:t>数据库的两级映像功能：</a:t>
            </a: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</a:rPr>
              <a:t>外模式</a:t>
            </a:r>
            <a:r>
              <a:rPr lang="en-US" altLang="zh-CN" sz="3600" b="1" dirty="0">
                <a:solidFill>
                  <a:srgbClr val="FF0000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</a:rPr>
              <a:t>模式映像（逻辑独立性）</a:t>
            </a:r>
            <a:r>
              <a:rPr lang="zh-CN" altLang="en-US" sz="3600" b="1" dirty="0">
                <a:latin typeface="宋体" panose="02010600030101010101" pitchFamily="2" charset="-122"/>
              </a:rPr>
              <a:t>、</a:t>
            </a: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</a:rPr>
              <a:t>模式</a:t>
            </a:r>
            <a:r>
              <a:rPr lang="en-US" altLang="zh-CN" sz="3600" b="1" dirty="0">
                <a:solidFill>
                  <a:srgbClr val="FF0000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3600" b="1" dirty="0">
                <a:solidFill>
                  <a:srgbClr val="FF0000"/>
                </a:solidFill>
                <a:latin typeface="宋体" panose="02010600030101010101" pitchFamily="2" charset="-122"/>
              </a:rPr>
              <a:t>内模式映像（物理独立性）</a:t>
            </a:r>
            <a:endParaRPr lang="zh-CN" altLang="en-US" sz="3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35000"/>
              </a:lnSpc>
            </a:pPr>
            <a:endParaRPr lang="en-US" altLang="zh-CN" sz="36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2"/>
          <p:cNvSpPr>
            <a:spLocks noGrp="1"/>
          </p:cNvSpPr>
          <p:nvPr>
            <p:ph type="title"/>
          </p:nvPr>
        </p:nvSpPr>
        <p:spPr>
          <a:xfrm>
            <a:off x="971550" y="549275"/>
            <a:ext cx="4906963" cy="8636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b="1" dirty="0">
                <a:latin typeface="宋体" panose="02010600030101010101" pitchFamily="2" charset="-122"/>
              </a:rPr>
              <a:t>第</a:t>
            </a:r>
            <a:r>
              <a:rPr lang="en-US" altLang="zh-CN" sz="3600" b="1" dirty="0">
                <a:latin typeface="宋体" panose="02010600030101010101" pitchFamily="2" charset="-122"/>
              </a:rPr>
              <a:t>2</a:t>
            </a:r>
            <a:r>
              <a:rPr lang="zh-CN" altLang="en-US" sz="3600" b="1" dirty="0">
                <a:latin typeface="宋体" panose="02010600030101010101" pitchFamily="2" charset="-122"/>
              </a:rPr>
              <a:t>章 关系数据库</a:t>
            </a:r>
            <a:endParaRPr lang="zh-CN" altLang="en-US" sz="3600" b="1" dirty="0">
              <a:latin typeface="宋体" panose="02010600030101010101" pitchFamily="2" charset="-122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0" y="1438275"/>
            <a:ext cx="8815705" cy="4967605"/>
          </a:xfrm>
        </p:spPr>
        <p:txBody>
          <a:bodyPr vert="horz" wrap="square" lIns="91440" tIns="45720" rIns="91440" bIns="45720" numCol="1" anchor="t" anchorCtr="0" compatLnSpc="1"/>
          <a:lstStyle/>
          <a:p>
            <a:pPr marL="990600" marR="0" lvl="1" indent="-5334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1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、基本术语：笛卡儿积、属性、候选码、主码、外码、主属性等。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微软雅黑" panose="020B0503020204020204" charset="-122"/>
            </a:endParaRPr>
          </a:p>
          <a:p>
            <a:pPr marL="990600" marR="0" lvl="1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</a:endParaRPr>
          </a:p>
          <a:p>
            <a:pPr marL="990600" marR="0" lvl="1" indent="-5334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2"/>
          <p:cNvSpPr>
            <a:spLocks noGrp="1"/>
          </p:cNvSpPr>
          <p:nvPr>
            <p:ph type="title"/>
          </p:nvPr>
        </p:nvSpPr>
        <p:spPr>
          <a:xfrm>
            <a:off x="971550" y="549275"/>
            <a:ext cx="4906963" cy="8636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b="1" dirty="0">
                <a:latin typeface="宋体" panose="02010600030101010101" pitchFamily="2" charset="-122"/>
              </a:rPr>
              <a:t>第</a:t>
            </a:r>
            <a:r>
              <a:rPr lang="en-US" altLang="zh-CN" sz="3600" b="1" dirty="0">
                <a:latin typeface="宋体" panose="02010600030101010101" pitchFamily="2" charset="-122"/>
              </a:rPr>
              <a:t>2</a:t>
            </a:r>
            <a:r>
              <a:rPr lang="zh-CN" altLang="en-US" sz="3600" b="1" dirty="0">
                <a:latin typeface="宋体" panose="02010600030101010101" pitchFamily="2" charset="-122"/>
              </a:rPr>
              <a:t>章 关系数据库</a:t>
            </a:r>
            <a:endParaRPr lang="zh-CN" altLang="en-US" sz="3600" b="1" dirty="0">
              <a:latin typeface="宋体" panose="02010600030101010101" pitchFamily="2" charset="-122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0" y="1438275"/>
            <a:ext cx="8815705" cy="4967605"/>
          </a:xfrm>
        </p:spPr>
        <p:txBody>
          <a:bodyPr vert="horz" wrap="square" lIns="91440" tIns="45720" rIns="91440" bIns="45720" numCol="1" anchor="t" anchorCtr="0" compatLnSpc="1"/>
          <a:lstStyle/>
          <a:p>
            <a:pPr marL="990600" marR="0" lvl="1" indent="-5334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微软雅黑" panose="020B0503020204020204" charset="-122"/>
              </a:rPr>
              <a:t>2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微软雅黑" panose="020B0503020204020204" charset="-122"/>
              </a:rPr>
              <a:t>、关系的三类完整性约束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微软雅黑" panose="020B0503020204020204" charset="-122"/>
              </a:rPr>
              <a:t>*****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cs typeface="微软雅黑" panose="020B0503020204020204" charset="-122"/>
            </a:endParaRPr>
          </a:p>
          <a:p>
            <a:pPr marL="457200" marR="0" lvl="1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 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微软雅黑" panose="020B0503020204020204" charset="-122"/>
              </a:rPr>
              <a:t>实体完整性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——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规定关系中的所有主属性不能为空   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微软雅黑" panose="020B0503020204020204" charset="-122"/>
            </a:endParaRPr>
          </a:p>
          <a:p>
            <a:pPr marL="457200" marR="0" lvl="1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微软雅黑" panose="020B0503020204020204" charset="-122"/>
              </a:rPr>
              <a:t>参照完整性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——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外码、参照关系、被参照关系外码取值规则：要么为空，要么等于对应参照关系的某个主码值。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微软雅黑" panose="020B0503020204020204" charset="-122"/>
            </a:endParaRPr>
          </a:p>
          <a:p>
            <a:pPr marL="457200" marR="0" lvl="1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微软雅黑" panose="020B0503020204020204" charset="-122"/>
              </a:rPr>
              <a:t>用户定义完整性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——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反映某一具体应用所涉及的数据必须满足的语义要求。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微软雅黑" panose="020B0503020204020204" charset="-122"/>
            </a:endParaRPr>
          </a:p>
          <a:p>
            <a:pPr marL="990600" marR="0" lvl="1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微软雅黑" panose="020B0503020204020204" charset="-122"/>
            </a:endParaRPr>
          </a:p>
          <a:p>
            <a:pPr marL="990600" marR="0" lvl="1" indent="-5334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2"/>
          <p:cNvSpPr>
            <a:spLocks noGrp="1"/>
          </p:cNvSpPr>
          <p:nvPr>
            <p:ph type="title"/>
          </p:nvPr>
        </p:nvSpPr>
        <p:spPr>
          <a:xfrm>
            <a:off x="971550" y="549275"/>
            <a:ext cx="7432040" cy="8636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b="1" dirty="0">
                <a:cs typeface="微软雅黑" panose="020B0503020204020204" charset="-122"/>
              </a:rPr>
              <a:t>第</a:t>
            </a:r>
            <a:r>
              <a:rPr lang="en-US" altLang="zh-CN" sz="3600" b="1" dirty="0">
                <a:cs typeface="微软雅黑" panose="020B0503020204020204" charset="-122"/>
              </a:rPr>
              <a:t>2</a:t>
            </a:r>
            <a:r>
              <a:rPr lang="zh-CN" altLang="en-US" sz="3600" b="1" dirty="0">
                <a:cs typeface="微软雅黑" panose="020B0503020204020204" charset="-122"/>
              </a:rPr>
              <a:t>章 关系数据库</a:t>
            </a:r>
            <a:r>
              <a:rPr lang="en-US" altLang="zh-CN" sz="3600" b="1" dirty="0">
                <a:cs typeface="微软雅黑" panose="020B0503020204020204" charset="-122"/>
              </a:rPr>
              <a:t> P45</a:t>
            </a:r>
            <a:r>
              <a:rPr lang="zh-CN" altLang="en-US" sz="3600" b="1" dirty="0">
                <a:cs typeface="微软雅黑" panose="020B0503020204020204" charset="-122"/>
              </a:rPr>
              <a:t>图</a:t>
            </a:r>
            <a:r>
              <a:rPr lang="en-US" altLang="zh-CN" sz="3600" b="1" dirty="0">
                <a:cs typeface="微软雅黑" panose="020B0503020204020204" charset="-122"/>
              </a:rPr>
              <a:t>2.4 </a:t>
            </a:r>
            <a:endParaRPr lang="en-US" altLang="zh-CN" sz="3600" b="1" dirty="0">
              <a:cs typeface="微软雅黑" panose="020B0503020204020204" charset="-122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438275"/>
            <a:ext cx="8208963" cy="49672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990600" marR="0" lvl="1" indent="-5334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3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、关系代数：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 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微软雅黑" panose="020B0503020204020204" charset="-122"/>
            </a:endParaRPr>
          </a:p>
          <a:p>
            <a:pPr marL="990600" marR="0" lvl="1" indent="-5334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P46----2.4.1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，图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2.4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微软雅黑" panose="020B0503020204020204" charset="-122"/>
            </a:endParaRPr>
          </a:p>
          <a:p>
            <a:pPr marL="990600" marR="0" lvl="1" indent="-5334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传统的集合运算（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微软雅黑" panose="020B0503020204020204" charset="-122"/>
              </a:rPr>
              <a:t>并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 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微软雅黑" panose="020B0503020204020204" charset="-122"/>
              </a:rPr>
              <a:t>差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 交 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微软雅黑" panose="020B0503020204020204" charset="-122"/>
              </a:rPr>
              <a:t>笛卡尔积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）      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微软雅黑" panose="020B0503020204020204" charset="-122"/>
            </a:endParaRPr>
          </a:p>
          <a:p>
            <a:pPr marL="457200" marR="0" lvl="2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3600" b="1" noProof="0" dirty="0">
                <a:ln>
                  <a:noFill/>
                </a:ln>
                <a:effectLst/>
                <a:uLnTx/>
                <a:uFillTx/>
                <a:cs typeface="微软雅黑" panose="020B0503020204020204" charset="-122"/>
                <a:sym typeface="+mn-ea"/>
              </a:rPr>
              <a:t>P46</a:t>
            </a:r>
            <a:r>
              <a:rPr lang="en-US" altLang="zh-CN" sz="3600" b="1" noProof="0" dirty="0">
                <a:ln>
                  <a:noFill/>
                </a:ln>
                <a:effectLst/>
                <a:uLnTx/>
                <a:uFillTx/>
                <a:cs typeface="微软雅黑" panose="020B0503020204020204" charset="-122"/>
                <a:sym typeface="+mn-ea"/>
              </a:rPr>
              <a:t>----</a:t>
            </a:r>
            <a:r>
              <a:rPr lang="en-US" altLang="zh-CN" sz="3600" b="1" noProof="0" dirty="0">
                <a:ln>
                  <a:noFill/>
                </a:ln>
                <a:effectLst/>
                <a:uLnTx/>
                <a:uFillTx/>
                <a:cs typeface="微软雅黑" panose="020B0503020204020204" charset="-122"/>
                <a:sym typeface="+mn-ea"/>
              </a:rPr>
              <a:t>2.4.2</a:t>
            </a:r>
            <a:r>
              <a:rPr lang="zh-CN" altLang="en-US" sz="3600" b="1" noProof="0" dirty="0">
                <a:ln>
                  <a:noFill/>
                </a:ln>
                <a:effectLst/>
                <a:uLnTx/>
                <a:uFillTx/>
                <a:cs typeface="微软雅黑" panose="020B0503020204020204" charset="-122"/>
                <a:sym typeface="+mn-ea"/>
              </a:rPr>
              <a:t>，图</a:t>
            </a:r>
            <a:r>
              <a:rPr lang="en-US" altLang="zh-CN" sz="3600" b="1" noProof="0" dirty="0">
                <a:ln>
                  <a:noFill/>
                </a:ln>
                <a:effectLst/>
                <a:uLnTx/>
                <a:uFillTx/>
                <a:cs typeface="微软雅黑" panose="020B0503020204020204" charset="-122"/>
                <a:sym typeface="+mn-ea"/>
              </a:rPr>
              <a:t>2.8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微软雅黑" panose="020B0503020204020204" charset="-122"/>
            </a:endParaRPr>
          </a:p>
          <a:p>
            <a:pPr marL="990600" marR="0" lvl="1" indent="-5334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专门的关系运算（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微软雅黑" panose="020B0503020204020204" charset="-122"/>
              </a:rPr>
              <a:t>选择 投影 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连接 除）及五种基本运算。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微软雅黑" panose="020B0503020204020204" charset="-122"/>
            </a:endParaRPr>
          </a:p>
          <a:p>
            <a:pPr marL="990600" marR="0" lvl="1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微软雅黑" panose="020B0503020204020204" charset="-122"/>
            </a:endParaRPr>
          </a:p>
          <a:p>
            <a:pPr marL="990600" marR="0" lvl="1" indent="-5334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2"/>
          <p:cNvSpPr>
            <a:spLocks noGrp="1"/>
          </p:cNvSpPr>
          <p:nvPr>
            <p:ph type="title"/>
          </p:nvPr>
        </p:nvSpPr>
        <p:spPr>
          <a:xfrm>
            <a:off x="900113" y="476250"/>
            <a:ext cx="3467100" cy="117157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b="1" dirty="0"/>
              <a:t>笛卡儿积</a:t>
            </a:r>
            <a:endParaRPr lang="zh-CN" altLang="en-US" sz="3600" b="1" dirty="0"/>
          </a:p>
        </p:txBody>
      </p:sp>
      <p:graphicFrame>
        <p:nvGraphicFramePr>
          <p:cNvPr id="75914" name="Group 138"/>
          <p:cNvGraphicFramePr>
            <a:graphicFrameLocks noGrp="1"/>
          </p:cNvGraphicFramePr>
          <p:nvPr/>
        </p:nvGraphicFramePr>
        <p:xfrm>
          <a:off x="1371600" y="3429000"/>
          <a:ext cx="1096963" cy="1828800"/>
        </p:xfrm>
        <a:graphic>
          <a:graphicData uri="http://schemas.openxmlformats.org/drawingml/2006/table">
            <a:tbl>
              <a:tblPr/>
              <a:tblGrid>
                <a:gridCol w="366713"/>
                <a:gridCol w="363537"/>
                <a:gridCol w="366713"/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5915" name="Group 139"/>
          <p:cNvGraphicFramePr>
            <a:graphicFrameLocks noGrp="1"/>
          </p:cNvGraphicFramePr>
          <p:nvPr/>
        </p:nvGraphicFramePr>
        <p:xfrm>
          <a:off x="3657600" y="3429000"/>
          <a:ext cx="1096963" cy="1828800"/>
        </p:xfrm>
        <a:graphic>
          <a:graphicData uri="http://schemas.openxmlformats.org/drawingml/2006/table">
            <a:tbl>
              <a:tblPr/>
              <a:tblGrid>
                <a:gridCol w="366713"/>
                <a:gridCol w="363537"/>
                <a:gridCol w="366713"/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B</a:t>
                      </a:r>
                      <a:endParaRPr kumimoji="1" lang="en-US" altLang="zh-CN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kumimoji="1" lang="en-US" altLang="zh-CN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5916" name="Group 140"/>
          <p:cNvGraphicFramePr>
            <a:graphicFrameLocks noGrp="1"/>
          </p:cNvGraphicFramePr>
          <p:nvPr/>
        </p:nvGraphicFramePr>
        <p:xfrm>
          <a:off x="5364163" y="2178050"/>
          <a:ext cx="2774950" cy="4419600"/>
        </p:xfrm>
        <a:graphic>
          <a:graphicData uri="http://schemas.openxmlformats.org/drawingml/2006/table">
            <a:tbl>
              <a:tblPr/>
              <a:tblGrid>
                <a:gridCol w="463550"/>
                <a:gridCol w="458787"/>
                <a:gridCol w="474980"/>
                <a:gridCol w="483870"/>
                <a:gridCol w="447675"/>
                <a:gridCol w="446088"/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RA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RB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RC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SA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SB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SC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</a:tr>
            </a:tbl>
          </a:graphicData>
        </a:graphic>
      </p:graphicFrame>
      <p:sp>
        <p:nvSpPr>
          <p:cNvPr id="75902" name="Text Box 126"/>
          <p:cNvSpPr txBox="1"/>
          <p:nvPr/>
        </p:nvSpPr>
        <p:spPr>
          <a:xfrm>
            <a:off x="1676400" y="26670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ahoma" panose="020B0604030504040204" pitchFamily="34" charset="0"/>
              </a:rPr>
              <a:t>R</a:t>
            </a:r>
            <a:endParaRPr lang="en-US" altLang="zh-CN" sz="2400" dirty="0">
              <a:latin typeface="Tahoma" panose="020B0604030504040204" pitchFamily="34" charset="0"/>
            </a:endParaRPr>
          </a:p>
        </p:txBody>
      </p:sp>
      <p:sp>
        <p:nvSpPr>
          <p:cNvPr id="75903" name="Text Box 127"/>
          <p:cNvSpPr txBox="1"/>
          <p:nvPr/>
        </p:nvSpPr>
        <p:spPr>
          <a:xfrm>
            <a:off x="3962400" y="26670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ahoma" panose="020B0604030504040204" pitchFamily="34" charset="0"/>
              </a:rPr>
              <a:t>S</a:t>
            </a:r>
            <a:endParaRPr lang="en-US" altLang="zh-CN" sz="2400" dirty="0">
              <a:latin typeface="Tahoma" panose="020B0604030504040204" pitchFamily="34" charset="0"/>
            </a:endParaRPr>
          </a:p>
        </p:txBody>
      </p:sp>
      <p:sp>
        <p:nvSpPr>
          <p:cNvPr id="75904" name="Text Box 128"/>
          <p:cNvSpPr txBox="1"/>
          <p:nvPr/>
        </p:nvSpPr>
        <p:spPr>
          <a:xfrm>
            <a:off x="6477000" y="1603375"/>
            <a:ext cx="914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ahoma" panose="020B0604030504040204" pitchFamily="34" charset="0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</a:rPr>
              <a:t>×</a:t>
            </a:r>
            <a:r>
              <a:rPr lang="en-US" altLang="zh-CN" sz="2400" dirty="0">
                <a:latin typeface="Tahoma" panose="020B0604030504040204" pitchFamily="34" charset="0"/>
              </a:rPr>
              <a:t>S</a:t>
            </a:r>
            <a:endParaRPr lang="en-US" altLang="zh-CN" sz="2400" dirty="0">
              <a:latin typeface="Tahoma" panose="020B060403050404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4970" y="1484630"/>
            <a:ext cx="5080000" cy="1753235"/>
          </a:xfrm>
          <a:prstGeom prst="rect">
            <a:avLst/>
          </a:prstGeom>
        </p:spPr>
        <p:txBody>
          <a:bodyPr>
            <a:spAutoFit/>
          </a:bodyPr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 </a:t>
            </a:r>
            <a:r>
              <a:rPr lang="zh-CN" alt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的每一行，和 </a:t>
            </a:r>
            <a:r>
              <a:rPr lang="en-US" altLang="zh-CN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</a:t>
            </a:r>
            <a:r>
              <a:rPr lang="zh-CN" alt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的每一行，做一次全排列组合</a:t>
            </a:r>
            <a:endParaRPr lang="zh-CN" altLang="en-US" sz="3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5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5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5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5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5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75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902" grpId="0"/>
      <p:bldP spid="75903" grpId="0"/>
      <p:bldP spid="7590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2"/>
          <p:cNvSpPr>
            <a:spLocks noGrp="1"/>
          </p:cNvSpPr>
          <p:nvPr>
            <p:ph type="title"/>
          </p:nvPr>
        </p:nvSpPr>
        <p:spPr>
          <a:xfrm>
            <a:off x="914400" y="476250"/>
            <a:ext cx="8229600" cy="115252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b="1" dirty="0"/>
              <a:t>选择运算</a:t>
            </a:r>
            <a:endParaRPr lang="zh-CN" altLang="en-US" sz="3600" b="1" dirty="0"/>
          </a:p>
        </p:txBody>
      </p:sp>
      <p:graphicFrame>
        <p:nvGraphicFramePr>
          <p:cNvPr id="76894" name="Group 94"/>
          <p:cNvGraphicFramePr>
            <a:graphicFrameLocks noGrp="1"/>
          </p:cNvGraphicFramePr>
          <p:nvPr/>
        </p:nvGraphicFramePr>
        <p:xfrm>
          <a:off x="1371600" y="3200400"/>
          <a:ext cx="2724150" cy="2590800"/>
        </p:xfrm>
        <a:graphic>
          <a:graphicData uri="http://schemas.openxmlformats.org/drawingml/2006/table">
            <a:tbl>
              <a:tblPr/>
              <a:tblGrid>
                <a:gridCol w="479425"/>
                <a:gridCol w="469900"/>
                <a:gridCol w="600075"/>
                <a:gridCol w="577850"/>
                <a:gridCol w="596900"/>
              </a:tblGrid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S#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AGE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SEX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DEP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21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S3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S4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CI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17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S5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S6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22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6895" name="Group 95"/>
          <p:cNvGraphicFramePr>
            <a:graphicFrameLocks noGrp="1"/>
          </p:cNvGraphicFramePr>
          <p:nvPr/>
        </p:nvGraphicFramePr>
        <p:xfrm>
          <a:off x="5486400" y="3657600"/>
          <a:ext cx="2724150" cy="1584326"/>
        </p:xfrm>
        <a:graphic>
          <a:graphicData uri="http://schemas.openxmlformats.org/drawingml/2006/table">
            <a:tbl>
              <a:tblPr/>
              <a:tblGrid>
                <a:gridCol w="479425"/>
                <a:gridCol w="469900"/>
                <a:gridCol w="600075"/>
                <a:gridCol w="577850"/>
                <a:gridCol w="596900"/>
              </a:tblGrid>
              <a:tr h="57896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S#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42" marB="4564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42" marB="456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AGE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42" marB="456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SEX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42" marB="456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DEP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42" marB="456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12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42" marB="4564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42" marB="456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42" marB="456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42" marB="456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42" marB="456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33512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42" marB="4564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42" marB="456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21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42" marB="456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42" marB="456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42" marB="456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33512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S6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42" marB="4564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42" marB="456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22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42" marB="456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42" marB="456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42" marB="456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sp>
        <p:nvSpPr>
          <p:cNvPr id="76885" name="Text Box 85"/>
          <p:cNvSpPr txBox="1"/>
          <p:nvPr/>
        </p:nvSpPr>
        <p:spPr>
          <a:xfrm>
            <a:off x="1371600" y="25908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ahoma" panose="020B0604030504040204" pitchFamily="34" charset="0"/>
              </a:rPr>
              <a:t>S</a:t>
            </a:r>
            <a:endParaRPr lang="en-US" altLang="zh-CN" sz="2400" dirty="0">
              <a:latin typeface="Tahoma" panose="020B0604030504040204" pitchFamily="34" charset="0"/>
            </a:endParaRPr>
          </a:p>
        </p:txBody>
      </p:sp>
      <p:sp>
        <p:nvSpPr>
          <p:cNvPr id="76886" name="Text Box 86"/>
          <p:cNvSpPr txBox="1"/>
          <p:nvPr/>
        </p:nvSpPr>
        <p:spPr>
          <a:xfrm>
            <a:off x="5410200" y="2971800"/>
            <a:ext cx="1752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400" b="1" baseline="-30000" dirty="0">
                <a:latin typeface="Tahoma" panose="020B0604030504040204" pitchFamily="34" charset="0"/>
              </a:rPr>
              <a:t>DEP=</a:t>
            </a:r>
            <a:r>
              <a:rPr lang="en-US" altLang="zh-CN" sz="2400" b="1" baseline="-30000" dirty="0">
                <a:latin typeface="Times New Roman" panose="02020603050405020304" pitchFamily="18" charset="0"/>
              </a:rPr>
              <a:t>‘</a:t>
            </a:r>
            <a:r>
              <a:rPr lang="en-US" altLang="zh-CN" sz="2400" b="1" baseline="-30000" dirty="0">
                <a:latin typeface="Tahoma" panose="020B0604030504040204" pitchFamily="34" charset="0"/>
              </a:rPr>
              <a:t>CS</a:t>
            </a:r>
            <a:r>
              <a:rPr lang="en-US" altLang="zh-CN" sz="2400" b="1" baseline="-30000" dirty="0">
                <a:latin typeface="Times New Roman" panose="02020603050405020304" pitchFamily="18" charset="0"/>
              </a:rPr>
              <a:t>’</a:t>
            </a:r>
            <a:r>
              <a:rPr lang="en-US" altLang="zh-CN" sz="2400" dirty="0">
                <a:latin typeface="Tahoma" panose="020B0604030504040204" pitchFamily="34" charset="0"/>
              </a:rPr>
              <a:t>(S) </a:t>
            </a:r>
            <a:endParaRPr lang="en-US" altLang="zh-CN" sz="2400" dirty="0">
              <a:latin typeface="Tahoma" panose="020B0604030504040204" pitchFamily="34" charset="0"/>
            </a:endParaRPr>
          </a:p>
        </p:txBody>
      </p:sp>
      <p:sp>
        <p:nvSpPr>
          <p:cNvPr id="76888" name="Text Box 88"/>
          <p:cNvSpPr txBox="1"/>
          <p:nvPr/>
        </p:nvSpPr>
        <p:spPr>
          <a:xfrm>
            <a:off x="3581400" y="2209800"/>
            <a:ext cx="5257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Tahoma" panose="020B0604030504040204" pitchFamily="34" charset="0"/>
              </a:rPr>
              <a:t>求计算机系</a:t>
            </a:r>
            <a:r>
              <a:rPr lang="en-US" altLang="zh-CN" sz="2400" b="1" dirty="0">
                <a:latin typeface="Tahoma" panose="020B0604030504040204" pitchFamily="34" charset="0"/>
              </a:rPr>
              <a:t>(CS)</a:t>
            </a:r>
            <a:r>
              <a:rPr lang="zh-CN" altLang="en-US" sz="2400" b="1" dirty="0">
                <a:latin typeface="Tahoma" panose="020B0604030504040204" pitchFamily="34" charset="0"/>
              </a:rPr>
              <a:t>的学生基本情况</a:t>
            </a:r>
            <a:endParaRPr lang="zh-CN" altLang="en-US" sz="2400"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6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6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68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68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6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6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85" grpId="0"/>
      <p:bldP spid="76886" grpId="0"/>
      <p:bldP spid="7688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2"/>
          <p:cNvSpPr>
            <a:spLocks noGrp="1"/>
          </p:cNvSpPr>
          <p:nvPr>
            <p:ph type="title"/>
          </p:nvPr>
        </p:nvSpPr>
        <p:spPr>
          <a:xfrm>
            <a:off x="900113" y="476250"/>
            <a:ext cx="2674937" cy="1100138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b="1" dirty="0"/>
              <a:t>投影运算</a:t>
            </a:r>
            <a:endParaRPr lang="zh-CN" altLang="en-US" sz="3600" b="1" dirty="0"/>
          </a:p>
        </p:txBody>
      </p:sp>
      <p:graphicFrame>
        <p:nvGraphicFramePr>
          <p:cNvPr id="77928" name="Group 104"/>
          <p:cNvGraphicFramePr>
            <a:graphicFrameLocks noGrp="1"/>
          </p:cNvGraphicFramePr>
          <p:nvPr/>
        </p:nvGraphicFramePr>
        <p:xfrm>
          <a:off x="1219200" y="2590800"/>
          <a:ext cx="2724150" cy="2590800"/>
        </p:xfrm>
        <a:graphic>
          <a:graphicData uri="http://schemas.openxmlformats.org/drawingml/2006/table">
            <a:tbl>
              <a:tblPr/>
              <a:tblGrid>
                <a:gridCol w="479425"/>
                <a:gridCol w="469900"/>
                <a:gridCol w="600075"/>
                <a:gridCol w="577850"/>
                <a:gridCol w="596900"/>
              </a:tblGrid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S#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AGE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SEX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DEP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21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S3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S4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CI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  <a:tr h="2317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S5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S6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22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926" name="Group 102"/>
          <p:cNvGraphicFramePr>
            <a:graphicFrameLocks noGrp="1"/>
          </p:cNvGraphicFramePr>
          <p:nvPr/>
        </p:nvGraphicFramePr>
        <p:xfrm>
          <a:off x="4876800" y="2590800"/>
          <a:ext cx="1066800" cy="2346325"/>
        </p:xfrm>
        <a:graphic>
          <a:graphicData uri="http://schemas.openxmlformats.org/drawingml/2006/table">
            <a:tbl>
              <a:tblPr/>
              <a:tblGrid>
                <a:gridCol w="469900"/>
                <a:gridCol w="596900"/>
              </a:tblGrid>
              <a:tr h="33518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6" marB="4567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DEP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6" marB="4567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18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6" marB="4567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6" marB="4567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  <a:tr h="33518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6" marB="4567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6" marB="4567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  <a:tr h="33518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6" marB="4567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6" marB="4567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  <a:tr h="33518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6" marB="4567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CI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6" marB="4567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  <a:tr h="33518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6" marB="4567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6" marB="4567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  <a:tr h="33518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6" marB="4567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6" marB="4567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927" name="Group 103"/>
          <p:cNvGraphicFramePr>
            <a:graphicFrameLocks noGrp="1"/>
          </p:cNvGraphicFramePr>
          <p:nvPr/>
        </p:nvGraphicFramePr>
        <p:xfrm>
          <a:off x="7086600" y="3657600"/>
          <a:ext cx="596900" cy="1387476"/>
        </p:xfrm>
        <a:graphic>
          <a:graphicData uri="http://schemas.openxmlformats.org/drawingml/2006/table">
            <a:tbl>
              <a:tblPr/>
              <a:tblGrid>
                <a:gridCol w="596900"/>
              </a:tblGrid>
              <a:tr h="38117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DEP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41" marB="4574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4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41" marB="4574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  <a:tr h="3354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41" marB="4574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  <a:tr h="3354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CI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41" marB="4574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</a:tbl>
          </a:graphicData>
        </a:graphic>
      </p:graphicFrame>
      <p:sp>
        <p:nvSpPr>
          <p:cNvPr id="77915" name="Text Box 91"/>
          <p:cNvSpPr txBox="1"/>
          <p:nvPr/>
        </p:nvSpPr>
        <p:spPr>
          <a:xfrm>
            <a:off x="1219200" y="21336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ahoma" panose="020B0604030504040204" pitchFamily="34" charset="0"/>
              </a:rPr>
              <a:t>S</a:t>
            </a:r>
            <a:endParaRPr lang="en-US" altLang="zh-CN" sz="2400" dirty="0">
              <a:latin typeface="Tahoma" panose="020B0604030504040204" pitchFamily="34" charset="0"/>
            </a:endParaRPr>
          </a:p>
        </p:txBody>
      </p:sp>
      <p:sp>
        <p:nvSpPr>
          <p:cNvPr id="77916" name="Text Box 92"/>
          <p:cNvSpPr txBox="1"/>
          <p:nvPr/>
        </p:nvSpPr>
        <p:spPr>
          <a:xfrm>
            <a:off x="228600" y="5334000"/>
            <a:ext cx="5029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Tahoma" panose="020B0604030504040204" pitchFamily="34" charset="0"/>
              </a:rPr>
              <a:t>对学生姓名和所在系属性取投影</a:t>
            </a:r>
            <a:endParaRPr lang="zh-CN" altLang="en-US" sz="2400" b="1" dirty="0">
              <a:latin typeface="Tahoma" panose="020B0604030504040204" pitchFamily="34" charset="0"/>
            </a:endParaRPr>
          </a:p>
        </p:txBody>
      </p:sp>
      <p:sp>
        <p:nvSpPr>
          <p:cNvPr id="77917" name="Text Box 93"/>
          <p:cNvSpPr txBox="1"/>
          <p:nvPr/>
        </p:nvSpPr>
        <p:spPr>
          <a:xfrm>
            <a:off x="4411345" y="1905635"/>
            <a:ext cx="2980055" cy="6089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</a:t>
            </a:r>
            <a:r>
              <a:rPr lang="en-US" altLang="zh-CN" sz="2400" baseline="-30000" dirty="0">
                <a:latin typeface="Tahoma" panose="020B0604030504040204" pitchFamily="34" charset="0"/>
              </a:rPr>
              <a:t>SN,DEP</a:t>
            </a:r>
            <a:r>
              <a:rPr lang="en-US" altLang="zh-CN" sz="2400" dirty="0">
                <a:latin typeface="Tahoma" panose="020B0604030504040204" pitchFamily="34" charset="0"/>
              </a:rPr>
              <a:t>(S)</a:t>
            </a:r>
            <a:endParaRPr lang="en-US" altLang="zh-CN" sz="2400" dirty="0">
              <a:latin typeface="Tahoma" panose="020B0604030504040204" pitchFamily="34" charset="0"/>
            </a:endParaRPr>
          </a:p>
        </p:txBody>
      </p:sp>
      <p:sp>
        <p:nvSpPr>
          <p:cNvPr id="77918" name="Text Box 94"/>
          <p:cNvSpPr txBox="1"/>
          <p:nvPr/>
        </p:nvSpPr>
        <p:spPr>
          <a:xfrm>
            <a:off x="2514600" y="5943600"/>
            <a:ext cx="419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Tahoma" panose="020B0604030504040204" pitchFamily="34" charset="0"/>
              </a:rPr>
              <a:t>查询学生关系中都有哪些系</a:t>
            </a:r>
            <a:endParaRPr lang="zh-CN" altLang="en-US" sz="2400" b="1" dirty="0">
              <a:latin typeface="Tahoma" panose="020B0604030504040204" pitchFamily="34" charset="0"/>
            </a:endParaRPr>
          </a:p>
        </p:txBody>
      </p:sp>
      <p:sp>
        <p:nvSpPr>
          <p:cNvPr id="77919" name="Text Box 95"/>
          <p:cNvSpPr txBox="1"/>
          <p:nvPr/>
        </p:nvSpPr>
        <p:spPr>
          <a:xfrm>
            <a:off x="6477000" y="3124200"/>
            <a:ext cx="2362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</a:t>
            </a:r>
            <a:r>
              <a:rPr lang="en-US" altLang="zh-CN" sz="2400" baseline="-30000" dirty="0">
                <a:latin typeface="Tahoma" panose="020B0604030504040204" pitchFamily="34" charset="0"/>
              </a:rPr>
              <a:t>DEP</a:t>
            </a:r>
            <a:r>
              <a:rPr lang="en-US" altLang="zh-CN" sz="2400" dirty="0">
                <a:latin typeface="Tahoma" panose="020B0604030504040204" pitchFamily="34" charset="0"/>
              </a:rPr>
              <a:t>(S)</a:t>
            </a:r>
            <a:endParaRPr lang="en-US" altLang="zh-CN" sz="2400" dirty="0">
              <a:latin typeface="Tahoma" panose="020B0604030504040204" pitchFamily="34" charset="0"/>
            </a:endParaRPr>
          </a:p>
        </p:txBody>
      </p:sp>
      <p:sp>
        <p:nvSpPr>
          <p:cNvPr id="77920" name="AutoShape 96"/>
          <p:cNvSpPr/>
          <p:nvPr/>
        </p:nvSpPr>
        <p:spPr>
          <a:xfrm>
            <a:off x="5181600" y="4876800"/>
            <a:ext cx="838200" cy="838200"/>
          </a:xfrm>
          <a:custGeom>
            <a:avLst/>
            <a:gdLst>
              <a:gd name="txL" fmla="*/ 0 w 21600"/>
              <a:gd name="txT" fmla="*/ 14400 h 21600"/>
              <a:gd name="txR" fmla="*/ 18514 w 21600"/>
              <a:gd name="txB" fmla="*/ 21600 h 21600"/>
            </a:gdLst>
            <a:ahLst/>
            <a:cxnLst>
              <a:cxn ang="17694720">
                <a:pos x="2147483646" y="0"/>
              </a:cxn>
              <a:cxn ang="11796480">
                <a:pos x="2147483646" y="2147483646"/>
              </a:cxn>
              <a:cxn ang="11796480">
                <a:pos x="0" y="2147483646"/>
              </a:cxn>
              <a:cxn ang="589824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15429" y="0"/>
                </a:moveTo>
                <a:lnTo>
                  <a:pt x="9257" y="7200"/>
                </a:lnTo>
                <a:lnTo>
                  <a:pt x="12343" y="7200"/>
                </a:lnTo>
                <a:lnTo>
                  <a:pt x="12343" y="14400"/>
                </a:lnTo>
                <a:lnTo>
                  <a:pt x="0" y="14400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lnTo>
                  <a:pt x="15429" y="0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77921" name="AutoShape 97"/>
          <p:cNvSpPr/>
          <p:nvPr/>
        </p:nvSpPr>
        <p:spPr>
          <a:xfrm>
            <a:off x="6934200" y="4953000"/>
            <a:ext cx="838200" cy="1447800"/>
          </a:xfrm>
          <a:custGeom>
            <a:avLst/>
            <a:gdLst>
              <a:gd name="txL" fmla="*/ 0 w 21600"/>
              <a:gd name="txT" fmla="*/ 14400 h 21600"/>
              <a:gd name="txR" fmla="*/ 18514 w 21600"/>
              <a:gd name="txB" fmla="*/ 21600 h 21600"/>
            </a:gdLst>
            <a:ahLst/>
            <a:cxnLst>
              <a:cxn ang="17694720">
                <a:pos x="2147483646" y="0"/>
              </a:cxn>
              <a:cxn ang="11796480">
                <a:pos x="2147483646" y="2147483646"/>
              </a:cxn>
              <a:cxn ang="11796480">
                <a:pos x="0" y="2147483646"/>
              </a:cxn>
              <a:cxn ang="589824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15429" y="0"/>
                </a:moveTo>
                <a:lnTo>
                  <a:pt x="9257" y="7200"/>
                </a:lnTo>
                <a:lnTo>
                  <a:pt x="12343" y="7200"/>
                </a:lnTo>
                <a:lnTo>
                  <a:pt x="12343" y="14400"/>
                </a:lnTo>
                <a:lnTo>
                  <a:pt x="0" y="14400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lnTo>
                  <a:pt x="15429" y="0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7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7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7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7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7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7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7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79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79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7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77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77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915" grpId="0"/>
      <p:bldP spid="77916" grpId="0"/>
      <p:bldP spid="77917" grpId="0"/>
      <p:bldP spid="77918" grpId="0"/>
      <p:bldP spid="779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b="1"/>
              <a:t>P91 </a:t>
            </a:r>
            <a:r>
              <a:rPr lang="zh-CN" altLang="en-US" b="1"/>
              <a:t>连接查询</a:t>
            </a:r>
            <a:endParaRPr lang="zh-CN" altLang="en-US" b="1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9705" y="1556385"/>
            <a:ext cx="8610600" cy="50603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b="1"/>
              <a:t>P91 </a:t>
            </a:r>
            <a:r>
              <a:rPr lang="zh-CN" altLang="en-US" b="1"/>
              <a:t>连接查询</a:t>
            </a:r>
            <a:endParaRPr lang="zh-CN" altLang="en-US" b="1"/>
          </a:p>
        </p:txBody>
      </p:sp>
      <p:sp>
        <p:nvSpPr>
          <p:cNvPr id="3" name="内容占位符 2"/>
          <p:cNvSpPr/>
          <p:nvPr>
            <p:ph idx="1"/>
          </p:nvPr>
        </p:nvSpPr>
        <p:spPr>
          <a:xfrm>
            <a:off x="457200" y="1981200"/>
            <a:ext cx="8582025" cy="4555490"/>
          </a:xfrm>
        </p:spPr>
        <p:txBody>
          <a:bodyPr/>
          <a:p>
            <a:r>
              <a:rPr lang="zh-CN" altLang="en-US" b="1"/>
              <a:t>都属于“连接查询”，核心目的都是：把两个或多个表按照某种条件连接起来。</a:t>
            </a:r>
            <a:endParaRPr lang="zh-CN" altLang="en-US" b="1"/>
          </a:p>
          <a:p>
            <a:r>
              <a:rPr lang="zh-CN" altLang="zh-CN" dirty="0">
                <a:solidFill>
                  <a:srgbClr val="7030A0"/>
                </a:solidFill>
                <a:latin typeface="Franklin Gothic Medium" panose="020B0603020102020204" charset="0"/>
                <a:cs typeface="微软雅黑" panose="020B0503020204020204" charset="-122"/>
              </a:rPr>
              <a:t>1 两个表不能莫名其妙的连接起来，靠的是</a:t>
            </a:r>
            <a:r>
              <a:rPr lang="zh-CN" altLang="zh-CN" b="1" dirty="0">
                <a:solidFill>
                  <a:srgbClr val="7030A0"/>
                </a:solidFill>
                <a:latin typeface="Franklin Gothic Medium" panose="020B0603020102020204" charset="0"/>
                <a:cs typeface="微软雅黑" panose="020B0503020204020204" charset="-122"/>
              </a:rPr>
              <a:t>相同属性</a:t>
            </a:r>
            <a:r>
              <a:rPr lang="zh-CN" altLang="zh-CN" dirty="0">
                <a:solidFill>
                  <a:srgbClr val="7030A0"/>
                </a:solidFill>
                <a:latin typeface="Franklin Gothic Medium" panose="020B0603020102020204" charset="0"/>
                <a:cs typeface="微软雅黑" panose="020B0503020204020204" charset="-122"/>
              </a:rPr>
              <a:t>。</a:t>
            </a:r>
            <a:endParaRPr lang="zh-CN" altLang="zh-CN" dirty="0">
              <a:solidFill>
                <a:srgbClr val="7030A0"/>
              </a:solidFill>
              <a:latin typeface="Franklin Gothic Medium" panose="020B0603020102020204" charset="0"/>
              <a:cs typeface="微软雅黑" panose="020B0503020204020204" charset="-122"/>
            </a:endParaRPr>
          </a:p>
          <a:p>
            <a:r>
              <a:rPr lang="en-US" altLang="zh-CN" dirty="0">
                <a:solidFill>
                  <a:srgbClr val="7030A0"/>
                </a:solidFill>
                <a:latin typeface="Franklin Gothic Medium" panose="020B0603020102020204" charset="0"/>
                <a:cs typeface="微软雅黑" panose="020B0503020204020204" charset="-122"/>
                <a:sym typeface="+mn-ea"/>
              </a:rPr>
              <a:t>2 </a:t>
            </a:r>
            <a:r>
              <a:rPr lang="zh-CN" altLang="zh-CN" dirty="0">
                <a:solidFill>
                  <a:srgbClr val="7030A0"/>
                </a:solidFill>
                <a:latin typeface="Franklin Gothic Medium" panose="020B0603020102020204" charset="0"/>
                <a:cs typeface="微软雅黑" panose="020B0503020204020204" charset="-122"/>
                <a:sym typeface="+mn-ea"/>
              </a:rPr>
              <a:t>等值连接</a:t>
            </a:r>
            <a:r>
              <a:rPr lang="en-US" altLang="zh-CN" dirty="0">
                <a:solidFill>
                  <a:srgbClr val="7030A0"/>
                </a:solidFill>
                <a:latin typeface="Franklin Gothic Medium" panose="020B0603020102020204" charset="0"/>
                <a:cs typeface="微软雅黑" panose="020B0503020204020204" charset="-122"/>
                <a:sym typeface="+mn-ea"/>
              </a:rPr>
              <a:t> </a:t>
            </a:r>
            <a:r>
              <a:rPr lang="zh-CN" altLang="zh-CN" dirty="0">
                <a:latin typeface="Franklin Gothic Medium" panose="020B0603020102020204" charset="0"/>
                <a:cs typeface="微软雅黑" panose="020B0503020204020204" charset="-122"/>
                <a:sym typeface="+mn-ea"/>
              </a:rPr>
              <a:t>包括了</a:t>
            </a:r>
            <a:r>
              <a:rPr lang="en-US" altLang="zh-CN" dirty="0">
                <a:latin typeface="Franklin Gothic Medium" panose="020B0603020102020204" charset="0"/>
                <a:cs typeface="微软雅黑" panose="020B0503020204020204" charset="-122"/>
                <a:sym typeface="+mn-ea"/>
              </a:rPr>
              <a:t> </a:t>
            </a:r>
            <a:r>
              <a:rPr lang="zh-CN" altLang="zh-CN" dirty="0">
                <a:solidFill>
                  <a:srgbClr val="7030A0"/>
                </a:solidFill>
                <a:latin typeface="Franklin Gothic Medium" panose="020B0603020102020204" charset="0"/>
                <a:cs typeface="微软雅黑" panose="020B0503020204020204" charset="-122"/>
                <a:sym typeface="+mn-ea"/>
              </a:rPr>
              <a:t>自然连接，等值连接有重复列。自然连接去</a:t>
            </a:r>
            <a:r>
              <a:rPr lang="zh-CN" altLang="zh-CN" dirty="0">
                <a:solidFill>
                  <a:srgbClr val="7030A0"/>
                </a:solidFill>
                <a:latin typeface="Franklin Gothic Medium" panose="020B0603020102020204" charset="0"/>
                <a:cs typeface="微软雅黑" panose="020B0503020204020204" charset="-122"/>
                <a:sym typeface="+mn-ea"/>
              </a:rPr>
              <a:t>重复列。</a:t>
            </a:r>
            <a:endParaRPr lang="zh-CN" altLang="zh-CN" dirty="0">
              <a:solidFill>
                <a:srgbClr val="7030A0"/>
              </a:solidFill>
              <a:latin typeface="Franklin Gothic Medium" panose="020B0603020102020204" charset="0"/>
              <a:cs typeface="微软雅黑" panose="020B0503020204020204" charset="-122"/>
              <a:sym typeface="+mn-ea"/>
            </a:endParaRPr>
          </a:p>
          <a:p>
            <a:r>
              <a:rPr lang="en-US" altLang="zh-CN" dirty="0">
                <a:solidFill>
                  <a:srgbClr val="7030A0"/>
                </a:solidFill>
                <a:latin typeface="Franklin Gothic Medium" panose="020B0603020102020204" charset="0"/>
                <a:cs typeface="微软雅黑" panose="020B0503020204020204" charset="-122"/>
                <a:sym typeface="+mn-ea"/>
              </a:rPr>
              <a:t>3 </a:t>
            </a:r>
            <a:r>
              <a:rPr lang="zh-CN" altLang="en-US" dirty="0">
                <a:solidFill>
                  <a:srgbClr val="7030A0"/>
                </a:solidFill>
                <a:latin typeface="Franklin Gothic Medium" panose="020B0603020102020204" charset="0"/>
                <a:cs typeface="微软雅黑" panose="020B0503020204020204" charset="-122"/>
                <a:sym typeface="+mn-ea"/>
              </a:rPr>
              <a:t>外连接会保留不满足条件的记录。</a:t>
            </a:r>
            <a:endParaRPr lang="zh-CN" altLang="en-US" dirty="0">
              <a:solidFill>
                <a:srgbClr val="7030A0"/>
              </a:solidFill>
              <a:latin typeface="Franklin Gothic Medium" panose="020B0603020102020204" charset="0"/>
              <a:cs typeface="微软雅黑" panose="020B0503020204020204" charset="-122"/>
              <a:sym typeface="+mn-ea"/>
            </a:endParaRPr>
          </a:p>
          <a:p>
            <a:endParaRPr lang="zh-CN" altLang="zh-CN" dirty="0">
              <a:solidFill>
                <a:srgbClr val="7030A0"/>
              </a:solidFill>
              <a:latin typeface="Franklin Gothic Medium" panose="020B0603020102020204" charset="0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系</a:t>
            </a:r>
            <a:r>
              <a:rPr lang="en-US" altLang="zh-CN"/>
              <a:t>R</a:t>
            </a:r>
            <a:r>
              <a:rPr lang="zh-CN" altLang="en-US"/>
              <a:t>和</a:t>
            </a:r>
            <a:r>
              <a:rPr lang="en-US" altLang="zh-CN"/>
              <a:t>S，</a:t>
            </a:r>
            <a:r>
              <a:rPr lang="zh-CN" altLang="en-US"/>
              <a:t>它们进行了什么</a:t>
            </a:r>
            <a:r>
              <a:rPr lang="zh-CN" altLang="en-US"/>
              <a:t>运算？</a:t>
            </a:r>
            <a:endParaRPr lang="zh-CN" altLang="en-US"/>
          </a:p>
        </p:txBody>
      </p:sp>
      <p:pic>
        <p:nvPicPr>
          <p:cNvPr id="1379489262" name="图片 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9705" y="1628775"/>
            <a:ext cx="2658110" cy="2607945"/>
          </a:xfrm>
          <a:prstGeom prst="rect">
            <a:avLst/>
          </a:prstGeom>
          <a:noFill/>
        </p:spPr>
      </p:pic>
      <p:pic>
        <p:nvPicPr>
          <p:cNvPr id="2097353420" name="图片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47720" y="1700530"/>
            <a:ext cx="2430145" cy="2481580"/>
          </a:xfrm>
          <a:prstGeom prst="rect">
            <a:avLst/>
          </a:prstGeom>
          <a:noFill/>
        </p:spPr>
      </p:pic>
      <p:pic>
        <p:nvPicPr>
          <p:cNvPr id="7824227" name="图片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9705" y="4149090"/>
            <a:ext cx="3864610" cy="232727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5940425" y="4004945"/>
            <a:ext cx="3110865" cy="255333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4000" b="1"/>
              <a:t>A.  R∪S   B.  R×S	 C.  R ⋈ S         D.  R÷S  </a:t>
            </a:r>
            <a:endParaRPr lang="en-US" altLang="zh-CN" sz="40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/>
          </p:cNvSpPr>
          <p:nvPr>
            <p:ph type="title"/>
          </p:nvPr>
        </p:nvSpPr>
        <p:spPr>
          <a:xfrm>
            <a:off x="971550" y="333375"/>
            <a:ext cx="3827463" cy="1027113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b="1" dirty="0">
                <a:latin typeface="宋体" panose="02010600030101010101" pitchFamily="2" charset="-122"/>
              </a:rPr>
              <a:t>第</a:t>
            </a:r>
            <a:r>
              <a:rPr lang="zh-CN" altLang="en-US" sz="3600" b="1" dirty="0">
                <a:latin typeface="宋体" panose="02010600030101010101" pitchFamily="2" charset="-122"/>
              </a:rPr>
              <a:t>二章  </a:t>
            </a:r>
            <a:endParaRPr lang="en-US" altLang="zh-CN" sz="3600" b="1" dirty="0">
              <a:latin typeface="宋体" panose="02010600030101010101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1628775"/>
            <a:ext cx="8208963" cy="44656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P47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页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图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2.4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传统集合运算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微软雅黑" panose="020B0503020204020204" charset="-122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P50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页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图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2.8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连接运算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/>
          </p:cNvSpPr>
          <p:nvPr>
            <p:ph type="title"/>
          </p:nvPr>
        </p:nvSpPr>
        <p:spPr>
          <a:xfrm>
            <a:off x="971550" y="333375"/>
            <a:ext cx="3827463" cy="1027113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b="1" dirty="0">
                <a:latin typeface="宋体" panose="02010600030101010101" pitchFamily="2" charset="-122"/>
              </a:rPr>
              <a:t>第三章  </a:t>
            </a:r>
            <a:r>
              <a:rPr lang="en-US" altLang="zh-CN" sz="3600" b="1" dirty="0">
                <a:latin typeface="宋体" panose="02010600030101010101" pitchFamily="2" charset="-122"/>
              </a:rPr>
              <a:t>SQL</a:t>
            </a:r>
            <a:endParaRPr lang="en-US" altLang="zh-CN" sz="3600" b="1" dirty="0">
              <a:latin typeface="宋体" panose="02010600030101010101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93345" y="1628775"/>
            <a:ext cx="9061450" cy="4465955"/>
          </a:xfrm>
        </p:spPr>
        <p:txBody>
          <a:bodyPr vert="horz" wrap="square" lIns="91440" tIns="45720" rIns="91440" bIns="45720" numCol="1" anchor="t" anchorCtr="0" compatLnSpc="1"/>
          <a:lstStyle/>
          <a:p>
            <a:pPr marL="609600" marR="0" lvl="0" indent="-6096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1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SQL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的数据定义语言：对基本表的创建、修改与删除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微软雅黑" panose="020B0503020204020204" charset="-122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2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SQL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的数据操纵语言：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微软雅黑" panose="020B0503020204020204" charset="-122"/>
            </a:endParaRPr>
          </a:p>
          <a:p>
            <a:pPr marL="0" marR="0" lvl="0" indent="72009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微软雅黑" panose="020B0503020204020204" charset="-122"/>
              </a:rPr>
              <a:t>数据查询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：选择条件、排序输出、聚集运算以及分组处理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、多表连接、嵌套查询等。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微软雅黑" panose="020B0503020204020204" charset="-122"/>
            </a:endParaRPr>
          </a:p>
          <a:p>
            <a:pPr marL="0" marR="0" lvl="0" indent="72009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微软雅黑" panose="020B0503020204020204" charset="-122"/>
              </a:rPr>
              <a:t>数据更新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：数据的插入、修改和删除。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微软雅黑" panose="020B0503020204020204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4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、视图的概念及视图的定义、查询、更新以及行列子集视图。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微软雅黑" panose="020B0503020204020204" charset="-122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/>
          </p:cNvSpPr>
          <p:nvPr>
            <p:ph type="title"/>
          </p:nvPr>
        </p:nvSpPr>
        <p:spPr>
          <a:xfrm>
            <a:off x="971550" y="333375"/>
            <a:ext cx="3827463" cy="1027113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b="1" dirty="0">
                <a:latin typeface="宋体" panose="02010600030101010101" pitchFamily="2" charset="-122"/>
              </a:rPr>
              <a:t>第三章  </a:t>
            </a:r>
            <a:r>
              <a:rPr lang="en-US" altLang="zh-CN" sz="3600" b="1" dirty="0">
                <a:latin typeface="宋体" panose="02010600030101010101" pitchFamily="2" charset="-122"/>
              </a:rPr>
              <a:t>SQL</a:t>
            </a:r>
            <a:endParaRPr lang="en-US" altLang="zh-CN" sz="3600" b="1" dirty="0">
              <a:latin typeface="宋体" panose="02010600030101010101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93345" y="1628775"/>
            <a:ext cx="9061450" cy="5051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609600" marR="0" lvl="0" indent="-6096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1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、对基本表的创建、修改与删除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cs typeface="微软雅黑" panose="020B0503020204020204" charset="-122"/>
              </a:rPr>
              <a:t>【最基本的语句】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cs typeface="微软雅黑" panose="020B0503020204020204" charset="-122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2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数据查询：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选择条件、排序输出、聚集运算以及分组处理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、多表连接</a:t>
            </a:r>
            <a:r>
              <a:rPr kumimoji="0" lang="zh-CN" altLang="en-US" sz="2800" b="1" i="1" strike="sng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、嵌套查询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等。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cs typeface="微软雅黑" panose="020B0503020204020204" charset="-122"/>
              </a:rPr>
              <a:t>【稍微复杂】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cs typeface="微软雅黑" panose="020B0503020204020204" charset="-122"/>
            </a:endParaRPr>
          </a:p>
          <a:p>
            <a:pPr marL="0" marR="0" lvl="0" indent="72009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  <a:sym typeface="+mn-ea"/>
              </a:rPr>
              <a:t>数据更新：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数据的插入、修改和删除</a:t>
            </a:r>
            <a:r>
              <a:rPr lang="zh-CN" altLang="en-US" sz="2800" b="1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cs typeface="微软雅黑" panose="020B0503020204020204" charset="-122"/>
                <a:sym typeface="+mn-ea"/>
              </a:rPr>
              <a:t>【最基本的语句】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微软雅黑" panose="020B0503020204020204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4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、视图的概念及视图的定义、查询、更新以及行列子集视图。</a:t>
            </a:r>
            <a:r>
              <a:rPr lang="zh-CN" altLang="en-US" sz="2800" b="1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cs typeface="微软雅黑" panose="020B0503020204020204" charset="-122"/>
                <a:sym typeface="+mn-ea"/>
              </a:rPr>
              <a:t>【最基本的语句】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cs typeface="微软雅黑" panose="020B0503020204020204" charset="-122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sym typeface="+mn-ea"/>
              </a:rPr>
              <a:t>增删改</a:t>
            </a:r>
            <a:r>
              <a:rPr lang="zh-CN" altLang="en-US" b="1">
                <a:sym typeface="+mn-ea"/>
              </a:rPr>
              <a:t>查</a:t>
            </a:r>
            <a:endParaRPr lang="zh-CN" altLang="en-US" b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4400" b="1">
                <a:sym typeface="+mn-ea"/>
              </a:rPr>
              <a:t>查</a:t>
            </a:r>
            <a:r>
              <a:rPr lang="en-US" altLang="zh-CN" sz="4400" b="1">
                <a:sym typeface="+mn-ea"/>
              </a:rPr>
              <a:t>----select</a:t>
            </a:r>
            <a:r>
              <a:rPr lang="zh-CN" altLang="en-US" sz="4400" b="1">
                <a:sym typeface="+mn-ea"/>
              </a:rPr>
              <a:t>语句</a:t>
            </a:r>
            <a:endParaRPr lang="zh-CN" altLang="en-US" sz="4400" b="1"/>
          </a:p>
          <a:p>
            <a:r>
              <a:rPr lang="zh-CN" altLang="en-US" sz="4400" b="1">
                <a:sym typeface="+mn-ea"/>
              </a:rPr>
              <a:t>增删改</a:t>
            </a:r>
            <a:r>
              <a:rPr lang="en-US" altLang="zh-CN" sz="4400" b="1">
                <a:sym typeface="+mn-ea"/>
              </a:rPr>
              <a:t>P108-P110</a:t>
            </a:r>
            <a:r>
              <a:rPr lang="zh-CN" altLang="en-US" sz="4400" b="1">
                <a:sym typeface="+mn-ea"/>
              </a:rPr>
              <a:t>，记最基本的语法</a:t>
            </a:r>
            <a:endParaRPr lang="zh-CN" altLang="en-US" sz="4400" b="1"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914400" y="476250"/>
            <a:ext cx="8229600" cy="95567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b="1" dirty="0"/>
              <a:t>基本表的定义</a:t>
            </a:r>
            <a:endParaRPr lang="zh-CN" altLang="en-US" sz="3600" b="1" dirty="0"/>
          </a:p>
        </p:txBody>
      </p:sp>
      <p:sp>
        <p:nvSpPr>
          <p:cNvPr id="16387" name="Rectangle 3"/>
          <p:cNvSpPr>
            <a:spLocks noGrp="1"/>
          </p:cNvSpPr>
          <p:nvPr>
            <p:ph idx="1"/>
          </p:nvPr>
        </p:nvSpPr>
        <p:spPr>
          <a:xfrm>
            <a:off x="611188" y="1628775"/>
            <a:ext cx="8137525" cy="3960813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r>
              <a:rPr lang="zh-CN" altLang="en-US" sz="2300" b="1" dirty="0"/>
              <a:t>定义基本表</a:t>
            </a:r>
            <a:endParaRPr lang="zh-CN" altLang="en-US" sz="2300" b="1" dirty="0"/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2300" b="1" dirty="0">
                <a:solidFill>
                  <a:srgbClr val="FF0000"/>
                </a:solidFill>
              </a:rPr>
              <a:t>CREATE TABLE </a:t>
            </a:r>
            <a:r>
              <a:rPr lang="en-US" altLang="zh-CN" sz="2300" b="1" dirty="0"/>
              <a:t>&lt;</a:t>
            </a:r>
            <a:r>
              <a:rPr lang="zh-CN" altLang="en-US" sz="2300" b="1" dirty="0"/>
              <a:t>表名</a:t>
            </a:r>
            <a:r>
              <a:rPr lang="en-US" altLang="zh-CN" sz="2300" b="1" dirty="0"/>
              <a:t>&gt;</a:t>
            </a:r>
            <a:endParaRPr lang="en-US" altLang="zh-CN" sz="2300" b="1" dirty="0"/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      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&lt;</a:t>
            </a:r>
            <a:r>
              <a:rPr lang="zh-CN" altLang="en-US" sz="2400" b="1" dirty="0"/>
              <a:t>列名</a:t>
            </a:r>
            <a:r>
              <a:rPr lang="en-US" altLang="zh-CN" sz="2400" b="1" dirty="0"/>
              <a:t>&gt; &lt;</a:t>
            </a:r>
            <a:r>
              <a:rPr lang="zh-CN" altLang="en-US" sz="2400" b="1" dirty="0"/>
              <a:t>数据类型</a:t>
            </a:r>
            <a:r>
              <a:rPr lang="en-US" altLang="zh-CN" sz="2400" b="1" dirty="0"/>
              <a:t>&gt;[ &lt;</a:t>
            </a:r>
            <a:r>
              <a:rPr lang="zh-CN" altLang="en-US" sz="2400" b="1" dirty="0"/>
              <a:t>列级完整性约束条件</a:t>
            </a:r>
            <a:r>
              <a:rPr lang="en-US" altLang="zh-CN" sz="2400" b="1" dirty="0"/>
              <a:t>&gt; ]</a:t>
            </a:r>
            <a:endParaRPr lang="en-US" altLang="zh-CN" sz="2400" b="1" dirty="0"/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      [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&lt;</a:t>
            </a:r>
            <a:r>
              <a:rPr lang="zh-CN" altLang="en-US" sz="2400" b="1" dirty="0"/>
              <a:t>列名</a:t>
            </a:r>
            <a:r>
              <a:rPr lang="en-US" altLang="zh-CN" sz="2400" b="1" dirty="0"/>
              <a:t>&gt; &lt;</a:t>
            </a:r>
            <a:r>
              <a:rPr lang="zh-CN" altLang="en-US" sz="2400" b="1" dirty="0"/>
              <a:t>数据类型</a:t>
            </a:r>
            <a:r>
              <a:rPr lang="en-US" altLang="zh-CN" sz="2400" b="1" dirty="0"/>
              <a:t>&gt;[ &lt;</a:t>
            </a:r>
            <a:r>
              <a:rPr lang="zh-CN" altLang="en-US" sz="2400" b="1" dirty="0"/>
              <a:t>列级完整性约束条件</a:t>
            </a:r>
            <a:r>
              <a:rPr lang="en-US" altLang="zh-CN" sz="2400" b="1" dirty="0"/>
              <a:t>&gt;] ] </a:t>
            </a:r>
            <a:r>
              <a:rPr lang="en-US" altLang="zh-CN" sz="2400" b="1" dirty="0">
                <a:latin typeface="Courier New" panose="02070309020205020404" pitchFamily="49" charset="0"/>
              </a:rPr>
              <a:t>…</a:t>
            </a:r>
            <a:endParaRPr lang="en-US" altLang="zh-CN" sz="2400" b="1" dirty="0"/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      [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&lt;</a:t>
            </a:r>
            <a:r>
              <a:rPr lang="zh-CN" altLang="en-US" sz="2400" b="1" dirty="0"/>
              <a:t>表级完整性约束条件</a:t>
            </a:r>
            <a:r>
              <a:rPr lang="en-US" altLang="zh-CN" sz="2400" b="1" dirty="0"/>
              <a:t>&gt; ] </a:t>
            </a:r>
            <a:r>
              <a:rPr lang="zh-CN" altLang="en-US" sz="2400" b="1" dirty="0"/>
              <a:t>）；</a:t>
            </a:r>
            <a:endParaRPr lang="en-US" altLang="zh-CN" sz="2400" b="1" dirty="0"/>
          </a:p>
          <a:p>
            <a:pPr lvl="1" algn="just" eaLnBrk="1" hangingPunct="1">
              <a:lnSpc>
                <a:spcPct val="120000"/>
              </a:lnSpc>
              <a:buNone/>
            </a:pPr>
            <a:endParaRPr lang="zh-CN" altLang="en-US" sz="2400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xfrm>
            <a:off x="914400" y="476250"/>
            <a:ext cx="8229600" cy="95567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b="1" dirty="0"/>
              <a:t>基本</a:t>
            </a:r>
            <a:r>
              <a:rPr lang="zh-CN" altLang="en-US" sz="3600" b="1" dirty="0">
                <a:solidFill>
                  <a:srgbClr val="FF0000"/>
                </a:solidFill>
              </a:rPr>
              <a:t>表修改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sp>
        <p:nvSpPr>
          <p:cNvPr id="18435" name="Rectangle 3"/>
          <p:cNvSpPr>
            <a:spLocks noGrp="1"/>
          </p:cNvSpPr>
          <p:nvPr>
            <p:ph idx="1"/>
          </p:nvPr>
        </p:nvSpPr>
        <p:spPr>
          <a:xfrm>
            <a:off x="611188" y="1628775"/>
            <a:ext cx="8137525" cy="3960813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endParaRPr lang="en-US" altLang="zh-CN" sz="2400" b="1" dirty="0"/>
          </a:p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格式：</a:t>
            </a:r>
            <a:endParaRPr lang="en-US" altLang="zh-CN" sz="2400" b="1" dirty="0"/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ALTER TABLE </a:t>
            </a:r>
            <a:r>
              <a:rPr lang="en-US" altLang="zh-CN" sz="2400" b="1" dirty="0"/>
              <a:t>&lt;</a:t>
            </a:r>
            <a:r>
              <a:rPr lang="zh-CN" altLang="en-US" sz="2400" b="1" dirty="0"/>
              <a:t>表名</a:t>
            </a:r>
            <a:r>
              <a:rPr lang="en-US" altLang="zh-CN" sz="2400" b="1" dirty="0"/>
              <a:t>&gt;</a:t>
            </a:r>
            <a:endParaRPr lang="en-US" altLang="zh-CN" sz="2400" b="1" dirty="0"/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[ ADD [COLUMN]&lt;</a:t>
            </a:r>
            <a:r>
              <a:rPr lang="zh-CN" altLang="en-US" sz="2400" b="1" dirty="0"/>
              <a:t>新列名</a:t>
            </a:r>
            <a:r>
              <a:rPr lang="en-US" altLang="zh-CN" sz="2400" b="1" dirty="0"/>
              <a:t>&gt; &lt;</a:t>
            </a:r>
            <a:r>
              <a:rPr lang="zh-CN" altLang="en-US" sz="2400" b="1" dirty="0"/>
              <a:t>数据类型</a:t>
            </a:r>
            <a:r>
              <a:rPr lang="en-US" altLang="zh-CN" sz="2400" b="1" dirty="0"/>
              <a:t>&gt; [ </a:t>
            </a:r>
            <a:r>
              <a:rPr lang="zh-CN" altLang="en-US" sz="2400" b="1" dirty="0"/>
              <a:t>完整性约束 </a:t>
            </a:r>
            <a:r>
              <a:rPr lang="en-US" altLang="zh-CN" sz="2400" b="1" dirty="0"/>
              <a:t>] ]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[ DROP </a:t>
            </a:r>
            <a:r>
              <a:rPr lang="en-US" altLang="zh-CN" sz="2200" b="1" dirty="0"/>
              <a:t>[COLUMN]&lt;</a:t>
            </a:r>
            <a:r>
              <a:rPr lang="zh-CN" altLang="en-US" sz="2200" b="1" dirty="0"/>
              <a:t>列名</a:t>
            </a:r>
            <a:r>
              <a:rPr lang="en-US" altLang="zh-CN" sz="2200" b="1" dirty="0"/>
              <a:t>&gt; &lt;</a:t>
            </a:r>
            <a:r>
              <a:rPr lang="zh-CN" altLang="en-US" sz="2200" b="1" dirty="0"/>
              <a:t>完整性约束名</a:t>
            </a:r>
            <a:r>
              <a:rPr lang="en-US" altLang="zh-CN" sz="2200" b="1" dirty="0"/>
              <a:t>&gt;[CASCADE|RESTRICT]</a:t>
            </a:r>
            <a:endParaRPr lang="en-US" altLang="zh-CN" sz="2200" b="1" dirty="0"/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[ ALTER COLUMN&lt;</a:t>
            </a:r>
            <a:r>
              <a:rPr lang="zh-CN" altLang="en-US" sz="2400" b="1" dirty="0"/>
              <a:t>列名</a:t>
            </a:r>
            <a:r>
              <a:rPr lang="en-US" altLang="zh-CN" sz="2400" b="1" dirty="0"/>
              <a:t>&gt; &lt;</a:t>
            </a:r>
            <a:r>
              <a:rPr lang="zh-CN" altLang="en-US" sz="2400" b="1" dirty="0"/>
              <a:t>数据类型</a:t>
            </a:r>
            <a:r>
              <a:rPr lang="en-US" altLang="zh-CN" sz="2400" b="1" dirty="0"/>
              <a:t>&gt; ]</a:t>
            </a:r>
            <a:r>
              <a:rPr lang="zh-CN" altLang="en-US" sz="2400" b="1" dirty="0"/>
              <a:t>；</a:t>
            </a:r>
            <a:endParaRPr lang="en-US" altLang="zh-CN" b="1" dirty="0"/>
          </a:p>
          <a:p>
            <a:pPr lvl="1" algn="just" eaLnBrk="1" hangingPunct="1">
              <a:lnSpc>
                <a:spcPct val="120000"/>
              </a:lnSpc>
              <a:buNone/>
            </a:pPr>
            <a:endParaRPr lang="zh-CN" altLang="en-US" sz="2400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27113"/>
          </a:xfrm>
        </p:spPr>
        <p:txBody>
          <a:bodyPr vert="horz" wrap="square" lIns="91440" tIns="45720" rIns="91440" bIns="45720" anchor="ctr" anchorCtr="0"/>
          <a:p>
            <a:pPr algn="ctr" eaLnBrk="1" hangingPunct="1"/>
            <a:r>
              <a:rPr lang="en-US" altLang="zh-CN" sz="4000" b="1" dirty="0"/>
              <a:t>2</a:t>
            </a:r>
            <a:r>
              <a:rPr lang="zh-CN" altLang="en-US" sz="4000" b="1" dirty="0"/>
              <a:t>、数据查询</a:t>
            </a:r>
            <a:endParaRPr lang="zh-CN" altLang="en-US" sz="4000" b="1" dirty="0"/>
          </a:p>
        </p:txBody>
      </p:sp>
      <p:sp>
        <p:nvSpPr>
          <p:cNvPr id="20483" name="Rectangle 3"/>
          <p:cNvSpPr>
            <a:spLocks noGrp="1"/>
          </p:cNvSpPr>
          <p:nvPr>
            <p:ph idx="1"/>
          </p:nvPr>
        </p:nvSpPr>
        <p:spPr>
          <a:xfrm>
            <a:off x="107950" y="1828800"/>
            <a:ext cx="8856663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 SELECT </a:t>
            </a:r>
            <a:r>
              <a:rPr lang="en-US" altLang="zh-CN" sz="2400" b="1" dirty="0"/>
              <a:t>[ALL|DISTINCT</a:t>
            </a:r>
            <a:r>
              <a:rPr lang="en-US" altLang="zh-CN" sz="2200" b="1" dirty="0"/>
              <a:t>]  &lt;</a:t>
            </a:r>
            <a:r>
              <a:rPr lang="zh-CN" altLang="en-US" sz="2200" b="1" dirty="0"/>
              <a:t>目标列表达式</a:t>
            </a:r>
            <a:r>
              <a:rPr lang="en-US" altLang="zh-CN" sz="2200" b="1" dirty="0"/>
              <a:t>&gt; [ </a:t>
            </a:r>
            <a:r>
              <a:rPr lang="zh-CN" altLang="en-US" sz="2200" b="1" dirty="0"/>
              <a:t>，</a:t>
            </a:r>
            <a:r>
              <a:rPr lang="en-US" altLang="zh-CN" sz="2200" b="1" dirty="0"/>
              <a:t>&lt;</a:t>
            </a:r>
            <a:r>
              <a:rPr lang="zh-CN" altLang="en-US" sz="2200" b="1" dirty="0"/>
              <a:t>目标列表达式</a:t>
            </a:r>
            <a:r>
              <a:rPr lang="en-US" altLang="zh-CN" sz="2200" b="1" dirty="0"/>
              <a:t>&gt; …</a:t>
            </a:r>
            <a:endParaRPr lang="en-US" altLang="zh-CN" sz="2200" b="1" dirty="0"/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 FROM</a:t>
            </a:r>
            <a:r>
              <a:rPr lang="en-US" altLang="zh-CN" sz="2000" b="1" dirty="0"/>
              <a:t>&lt;</a:t>
            </a:r>
            <a:r>
              <a:rPr lang="zh-CN" altLang="en-US" sz="2000" b="1" dirty="0"/>
              <a:t>表名或视图名</a:t>
            </a:r>
            <a:r>
              <a:rPr lang="en-US" altLang="zh-CN" sz="2000" b="1" dirty="0"/>
              <a:t>&gt; [ ,&lt;</a:t>
            </a:r>
            <a:r>
              <a:rPr lang="zh-CN" altLang="en-US" sz="2000" b="1" dirty="0"/>
              <a:t>表名或视图名</a:t>
            </a:r>
            <a:r>
              <a:rPr lang="en-US" altLang="zh-CN" sz="2000" b="1" dirty="0"/>
              <a:t>&gt;…]|(&lt;SELECT</a:t>
            </a:r>
            <a:r>
              <a:rPr lang="zh-CN" altLang="en-US" sz="2000" b="1" dirty="0"/>
              <a:t>语句</a:t>
            </a:r>
            <a:r>
              <a:rPr lang="en-US" altLang="zh-CN" sz="2000" b="1" dirty="0"/>
              <a:t>&gt;[AS]&lt;</a:t>
            </a:r>
            <a:r>
              <a:rPr lang="zh-CN" altLang="en-US" sz="2000" b="1" dirty="0"/>
              <a:t>别名</a:t>
            </a:r>
            <a:r>
              <a:rPr lang="en-US" altLang="zh-CN" sz="2000" b="1" dirty="0"/>
              <a:t>&gt;)</a:t>
            </a:r>
            <a:endParaRPr lang="en-US" altLang="zh-CN" sz="2000" b="1" dirty="0"/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sz="2400" b="1" dirty="0"/>
              <a:t> [</a:t>
            </a:r>
            <a:r>
              <a:rPr lang="en-US" altLang="zh-CN" sz="2400" b="1" dirty="0">
                <a:solidFill>
                  <a:srgbClr val="FF0000"/>
                </a:solidFill>
              </a:rPr>
              <a:t>WHERE</a:t>
            </a:r>
            <a:r>
              <a:rPr lang="en-US" altLang="zh-CN" sz="2400" b="1" dirty="0"/>
              <a:t> &lt;</a:t>
            </a:r>
            <a:r>
              <a:rPr lang="zh-CN" altLang="en-US" sz="2400" b="1" dirty="0"/>
              <a:t>条件表达式</a:t>
            </a:r>
            <a:r>
              <a:rPr lang="en-US" altLang="zh-CN" sz="2400" b="1" dirty="0"/>
              <a:t>&gt;]</a:t>
            </a:r>
            <a:endParaRPr lang="en-US" altLang="zh-CN" sz="2400" b="1" dirty="0"/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sz="2400" b="1" dirty="0"/>
              <a:t> [</a:t>
            </a:r>
            <a:r>
              <a:rPr lang="en-US" altLang="zh-CN" sz="2400" b="1" dirty="0">
                <a:solidFill>
                  <a:srgbClr val="FF0000"/>
                </a:solidFill>
              </a:rPr>
              <a:t>GROUP BY </a:t>
            </a:r>
            <a:r>
              <a:rPr lang="en-US" altLang="zh-CN" sz="2400" b="1" dirty="0"/>
              <a:t>&lt;</a:t>
            </a:r>
            <a:r>
              <a:rPr lang="zh-CN" altLang="en-US" sz="2400" b="1" dirty="0"/>
              <a:t>列名</a:t>
            </a:r>
            <a:r>
              <a:rPr lang="en-US" altLang="zh-CN" sz="2400" b="1" dirty="0"/>
              <a:t>1&gt;   [</a:t>
            </a:r>
            <a:r>
              <a:rPr lang="en-US" altLang="zh-CN" sz="2400" b="1" dirty="0">
                <a:solidFill>
                  <a:srgbClr val="FF0000"/>
                </a:solidFill>
              </a:rPr>
              <a:t>HAVING</a:t>
            </a:r>
            <a:r>
              <a:rPr lang="en-US" altLang="zh-CN" sz="2400" b="1" dirty="0">
                <a:solidFill>
                  <a:srgbClr val="FF3399"/>
                </a:solidFill>
              </a:rPr>
              <a:t>    </a:t>
            </a:r>
            <a:r>
              <a:rPr lang="en-US" altLang="zh-CN" sz="2400" b="1" dirty="0"/>
              <a:t> &lt;</a:t>
            </a:r>
            <a:r>
              <a:rPr lang="zh-CN" altLang="en-US" sz="2400" b="1" dirty="0"/>
              <a:t>条件表达式</a:t>
            </a:r>
            <a:r>
              <a:rPr lang="en-US" altLang="zh-CN" sz="2400" b="1" dirty="0"/>
              <a:t>&gt;]]</a:t>
            </a:r>
            <a:endParaRPr lang="en-US" altLang="zh-CN" sz="2400" b="1" dirty="0"/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sz="2400" b="1" dirty="0"/>
              <a:t> [</a:t>
            </a:r>
            <a:r>
              <a:rPr lang="en-US" altLang="zh-CN" sz="2400" b="1" dirty="0">
                <a:solidFill>
                  <a:srgbClr val="FF0000"/>
                </a:solidFill>
              </a:rPr>
              <a:t>ORDER BY </a:t>
            </a:r>
            <a:r>
              <a:rPr lang="en-US" altLang="zh-CN" sz="2400" b="1" dirty="0"/>
              <a:t>&lt;</a:t>
            </a:r>
            <a:r>
              <a:rPr lang="zh-CN" altLang="en-US" sz="2400" b="1" dirty="0"/>
              <a:t>列名</a:t>
            </a:r>
            <a:r>
              <a:rPr lang="en-US" altLang="zh-CN" sz="2400" b="1" dirty="0"/>
              <a:t>2&gt; [ASC|DESC]</a:t>
            </a:r>
            <a:r>
              <a:rPr lang="en-US" altLang="zh-CN" sz="2000" b="1" dirty="0"/>
              <a:t> </a:t>
            </a:r>
            <a:endParaRPr lang="en-US" altLang="zh-CN" sz="2000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2"/>
          <p:cNvSpPr>
            <a:spLocks noGrp="1"/>
          </p:cNvSpPr>
          <p:nvPr>
            <p:ph type="title"/>
          </p:nvPr>
        </p:nvSpPr>
        <p:spPr>
          <a:xfrm>
            <a:off x="1042988" y="476250"/>
            <a:ext cx="2601912" cy="73977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200" b="1" dirty="0"/>
              <a:t>聚集函数</a:t>
            </a:r>
            <a:r>
              <a:rPr lang="zh-CN" altLang="en-US" sz="4000" b="1" dirty="0"/>
              <a:t> </a:t>
            </a:r>
            <a:endParaRPr lang="zh-CN" altLang="en-US" sz="4000" b="1" dirty="0"/>
          </a:p>
        </p:txBody>
      </p:sp>
      <p:sp>
        <p:nvSpPr>
          <p:cNvPr id="21507" name="Rectangle 3"/>
          <p:cNvSpPr>
            <a:spLocks noGrp="1"/>
          </p:cNvSpPr>
          <p:nvPr>
            <p:ph idx="1"/>
          </p:nvPr>
        </p:nvSpPr>
        <p:spPr>
          <a:xfrm>
            <a:off x="539750" y="1557338"/>
            <a:ext cx="8229600" cy="4895850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buFont typeface="Wingdings" panose="05000000000000000000" pitchFamily="2" charset="2"/>
              <a:buChar char="p"/>
            </a:pPr>
            <a:r>
              <a:rPr lang="zh-CN" altLang="en-US" sz="2400" b="1" dirty="0"/>
              <a:t>   计数（统计个数）</a:t>
            </a:r>
            <a:endParaRPr lang="zh-CN" altLang="en-US" sz="2400" b="1" dirty="0"/>
          </a:p>
          <a:p>
            <a:pPr lvl="2" algn="just" eaLnBrk="1" hangingPunct="1">
              <a:lnSpc>
                <a:spcPct val="110000"/>
              </a:lnSpc>
              <a:buNone/>
            </a:pPr>
            <a:r>
              <a:rPr lang="en-US" altLang="zh-CN" b="1" dirty="0"/>
              <a:t>COUNT  </a:t>
            </a:r>
            <a:r>
              <a:rPr lang="zh-CN" altLang="en-US" b="1" dirty="0"/>
              <a:t>列名</a:t>
            </a:r>
            <a:endParaRPr lang="zh-CN" altLang="en-US" b="1" dirty="0"/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sz="2400" b="1" dirty="0"/>
              <a:t>计算总和</a:t>
            </a:r>
            <a:endParaRPr lang="zh-CN" altLang="en-US" sz="2400" b="1" dirty="0"/>
          </a:p>
          <a:p>
            <a:pPr lvl="2" algn="just" eaLnBrk="1" hangingPunct="1">
              <a:lnSpc>
                <a:spcPct val="110000"/>
              </a:lnSpc>
              <a:buNone/>
            </a:pPr>
            <a:r>
              <a:rPr lang="en-US" altLang="zh-CN" b="1" dirty="0"/>
              <a:t>SUM  </a:t>
            </a:r>
            <a:r>
              <a:rPr lang="zh-CN" altLang="en-US" b="1" dirty="0"/>
              <a:t>列名</a:t>
            </a:r>
            <a:endParaRPr lang="zh-CN" altLang="en-US" b="1" dirty="0"/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sz="2400" b="1" dirty="0"/>
              <a:t> 计算平均值</a:t>
            </a:r>
            <a:endParaRPr lang="zh-CN" altLang="en-US" sz="2400" b="1" dirty="0"/>
          </a:p>
          <a:p>
            <a:pPr lvl="2" algn="just" eaLnBrk="1" hangingPunct="1">
              <a:lnSpc>
                <a:spcPct val="110000"/>
              </a:lnSpc>
              <a:buNone/>
            </a:pPr>
            <a:r>
              <a:rPr lang="en-US" altLang="zh-CN" b="1" dirty="0"/>
              <a:t>AVG  </a:t>
            </a:r>
            <a:r>
              <a:rPr lang="zh-CN" altLang="en-US" b="1" dirty="0"/>
              <a:t>列名</a:t>
            </a:r>
            <a:endParaRPr lang="zh-CN" altLang="en-US" b="1" dirty="0"/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sz="2400" b="1" dirty="0"/>
              <a:t>最大最小值</a:t>
            </a:r>
            <a:endParaRPr lang="zh-CN" altLang="en-US" sz="2400" b="1" dirty="0"/>
          </a:p>
          <a:p>
            <a:pPr lvl="1" algn="just" eaLnBrk="1" hangingPunct="1">
              <a:lnSpc>
                <a:spcPct val="110000"/>
              </a:lnSpc>
              <a:buNone/>
            </a:pPr>
            <a:r>
              <a:rPr lang="zh-CN" altLang="en-US" sz="2400" b="1" dirty="0"/>
              <a:t> 	 </a:t>
            </a:r>
            <a:r>
              <a:rPr lang="en-US" altLang="zh-CN" sz="2400" b="1" dirty="0"/>
              <a:t>MAX  </a:t>
            </a:r>
            <a:r>
              <a:rPr lang="zh-CN" altLang="en-US" sz="2400" b="1" dirty="0"/>
              <a:t>列名</a:t>
            </a:r>
            <a:endParaRPr lang="zh-CN" altLang="en-US" sz="2400" b="1" dirty="0"/>
          </a:p>
          <a:p>
            <a:pPr lvl="1" algn="just" eaLnBrk="1" hangingPunct="1">
              <a:lnSpc>
                <a:spcPct val="110000"/>
              </a:lnSpc>
              <a:buNone/>
            </a:pPr>
            <a:r>
              <a:rPr lang="zh-CN" altLang="en-US" sz="2400" b="1" dirty="0"/>
              <a:t>	 </a:t>
            </a:r>
            <a:r>
              <a:rPr lang="en-US" altLang="zh-CN" sz="2400" b="1" dirty="0"/>
              <a:t>MIN  </a:t>
            </a:r>
            <a:r>
              <a:rPr lang="zh-CN" altLang="en-US" sz="2400" b="1" dirty="0"/>
              <a:t>列名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2"/>
          <p:cNvSpPr>
            <a:spLocks noGrp="1"/>
          </p:cNvSpPr>
          <p:nvPr>
            <p:ph type="title"/>
          </p:nvPr>
        </p:nvSpPr>
        <p:spPr>
          <a:xfrm>
            <a:off x="1116013" y="476250"/>
            <a:ext cx="4906962" cy="811213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b="1" dirty="0"/>
              <a:t>插入元组</a:t>
            </a:r>
            <a:endParaRPr lang="zh-CN" altLang="en-US" sz="3600" b="1" dirty="0"/>
          </a:p>
        </p:txBody>
      </p:sp>
      <p:sp>
        <p:nvSpPr>
          <p:cNvPr id="2560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609600" indent="-609600" eaLnBrk="1" hangingPunct="1">
              <a:lnSpc>
                <a:spcPct val="130000"/>
              </a:lnSpc>
            </a:pPr>
            <a:r>
              <a:rPr lang="zh-CN" altLang="en-US" b="1" dirty="0"/>
              <a:t>语句格式</a:t>
            </a:r>
            <a:endParaRPr lang="zh-CN" altLang="en-US" b="1" dirty="0"/>
          </a:p>
          <a:p>
            <a:pPr marL="609600" indent="-609600" eaLnBrk="1" hangingPunct="1">
              <a:lnSpc>
                <a:spcPct val="130000"/>
              </a:lnSpc>
              <a:buNone/>
            </a:pPr>
            <a:r>
              <a:rPr lang="zh-CN" altLang="en-US" sz="2800" b="1" dirty="0"/>
              <a:t>	</a:t>
            </a:r>
            <a:r>
              <a:rPr lang="en-US" altLang="zh-CN" sz="2800" b="1" dirty="0">
                <a:solidFill>
                  <a:srgbClr val="FF0000"/>
                </a:solidFill>
              </a:rPr>
              <a:t>INSERT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marL="609600" indent="-609600" eaLnBrk="1" hangingPunct="1">
              <a:lnSpc>
                <a:spcPct val="130000"/>
              </a:lnSpc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	INTO &lt;</a:t>
            </a:r>
            <a:r>
              <a:rPr lang="zh-CN" altLang="en-US" sz="2800" b="1" dirty="0"/>
              <a:t>表名</a:t>
            </a:r>
            <a:r>
              <a:rPr lang="en-US" altLang="zh-CN" sz="2800" b="1" dirty="0"/>
              <a:t>&gt; [(&lt;</a:t>
            </a:r>
            <a:r>
              <a:rPr lang="zh-CN" altLang="en-US" sz="2800" b="1" dirty="0"/>
              <a:t>属性列</a:t>
            </a:r>
            <a:r>
              <a:rPr lang="en-US" altLang="zh-CN" sz="2800" b="1" dirty="0"/>
              <a:t>1&gt;[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&lt;</a:t>
            </a:r>
            <a:r>
              <a:rPr lang="zh-CN" altLang="en-US" sz="2800" b="1" dirty="0"/>
              <a:t>属性列</a:t>
            </a:r>
            <a:r>
              <a:rPr lang="en-US" altLang="zh-CN" sz="2800" b="1" dirty="0"/>
              <a:t>2 &gt;…)]</a:t>
            </a:r>
            <a:endParaRPr lang="en-US" altLang="zh-CN" sz="2800" b="1" dirty="0"/>
          </a:p>
          <a:p>
            <a:pPr marL="609600" indent="-609600" eaLnBrk="1" hangingPunct="1">
              <a:lnSpc>
                <a:spcPct val="130000"/>
              </a:lnSpc>
              <a:buNone/>
            </a:pPr>
            <a:r>
              <a:rPr lang="en-US" altLang="zh-CN" sz="2800" b="1" dirty="0"/>
              <a:t>	</a:t>
            </a:r>
            <a:r>
              <a:rPr lang="en-US" altLang="zh-CN" sz="2800" b="1" dirty="0">
                <a:solidFill>
                  <a:srgbClr val="FF0000"/>
                </a:solidFill>
              </a:rPr>
              <a:t>VALUES</a:t>
            </a:r>
            <a:r>
              <a:rPr lang="en-US" altLang="zh-CN" sz="2800" b="1" dirty="0"/>
              <a:t> (&lt;</a:t>
            </a:r>
            <a:r>
              <a:rPr lang="zh-CN" altLang="en-US" sz="2800" b="1" dirty="0"/>
              <a:t>常量</a:t>
            </a:r>
            <a:r>
              <a:rPr lang="en-US" altLang="zh-CN" sz="2800" b="1" dirty="0"/>
              <a:t>1&gt; [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&lt;</a:t>
            </a:r>
            <a:r>
              <a:rPr lang="zh-CN" altLang="en-US" sz="2800" b="1" dirty="0"/>
              <a:t>常量</a:t>
            </a:r>
            <a:r>
              <a:rPr lang="en-US" altLang="zh-CN" sz="2800" b="1" dirty="0"/>
              <a:t>2&gt;]    …           )</a:t>
            </a:r>
            <a:endParaRPr lang="en-US" altLang="zh-CN" b="1" dirty="0"/>
          </a:p>
          <a:p>
            <a:pPr marL="990600" lvl="1" indent="-533400" eaLnBrk="1" hangingPunct="1">
              <a:buNone/>
            </a:pPr>
            <a:endParaRPr lang="en-US" altLang="zh-CN" b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/>
          </p:cNvSpPr>
          <p:nvPr>
            <p:ph type="title"/>
          </p:nvPr>
        </p:nvSpPr>
        <p:spPr>
          <a:xfrm>
            <a:off x="1042988" y="476250"/>
            <a:ext cx="5832475" cy="865188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b="1" dirty="0"/>
              <a:t>修改数据</a:t>
            </a:r>
            <a:endParaRPr lang="zh-CN" altLang="en-US" sz="3600" b="1" dirty="0"/>
          </a:p>
        </p:txBody>
      </p:sp>
      <p:sp>
        <p:nvSpPr>
          <p:cNvPr id="27651" name="Rectangle 3"/>
          <p:cNvSpPr>
            <a:spLocks noGrp="1"/>
          </p:cNvSpPr>
          <p:nvPr>
            <p:ph idx="1"/>
          </p:nvPr>
        </p:nvSpPr>
        <p:spPr>
          <a:xfrm>
            <a:off x="468313" y="1916113"/>
            <a:ext cx="8280400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zh-CN" altLang="en-US" sz="2800" b="1" dirty="0"/>
              <a:t>语句格式</a:t>
            </a:r>
            <a:endParaRPr lang="zh-CN" altLang="en-US" sz="28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b="1" dirty="0"/>
              <a:t>   </a:t>
            </a:r>
            <a:r>
              <a:rPr lang="en-US" altLang="zh-CN" sz="2800" b="1" dirty="0">
                <a:solidFill>
                  <a:srgbClr val="FF0000"/>
                </a:solidFill>
              </a:rPr>
              <a:t>UPDATE  &lt;</a:t>
            </a:r>
            <a:r>
              <a:rPr lang="zh-CN" altLang="en-US" sz="2800" b="1" dirty="0">
                <a:solidFill>
                  <a:srgbClr val="FF0000"/>
                </a:solidFill>
              </a:rPr>
              <a:t>表名</a:t>
            </a:r>
            <a:r>
              <a:rPr lang="en-US" altLang="zh-CN" sz="2800" b="1" dirty="0">
                <a:solidFill>
                  <a:srgbClr val="FF0000"/>
                </a:solidFill>
              </a:rPr>
              <a:t>&gt;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    SET</a:t>
            </a:r>
            <a:r>
              <a:rPr lang="en-US" altLang="zh-CN" sz="2800" b="1" dirty="0"/>
              <a:t>  &lt;</a:t>
            </a:r>
            <a:r>
              <a:rPr lang="zh-CN" altLang="en-US" sz="2800" b="1" dirty="0"/>
              <a:t>列名</a:t>
            </a:r>
            <a:r>
              <a:rPr lang="en-US" altLang="zh-CN" sz="2800" b="1" dirty="0"/>
              <a:t>&gt;=&lt;</a:t>
            </a:r>
            <a:r>
              <a:rPr lang="zh-CN" altLang="en-US" sz="2800" b="1" dirty="0"/>
              <a:t>表达式</a:t>
            </a:r>
            <a:r>
              <a:rPr lang="en-US" altLang="zh-CN" sz="2800" b="1" dirty="0"/>
              <a:t>&gt;[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&lt;</a:t>
            </a:r>
            <a:r>
              <a:rPr lang="zh-CN" altLang="en-US" sz="2800" b="1" dirty="0"/>
              <a:t>列名</a:t>
            </a:r>
            <a:r>
              <a:rPr lang="en-US" altLang="zh-CN" sz="2800" b="1" dirty="0"/>
              <a:t>&gt;=&lt;</a:t>
            </a:r>
            <a:r>
              <a:rPr lang="zh-CN" altLang="en-US" sz="2800" b="1" dirty="0"/>
              <a:t>表达式</a:t>
            </a:r>
            <a:r>
              <a:rPr lang="en-US" altLang="zh-CN" sz="2800" b="1" dirty="0"/>
              <a:t>&gt;]…</a:t>
            </a:r>
            <a:endParaRPr lang="en-US" altLang="zh-CN" sz="28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b="1" dirty="0"/>
              <a:t>    [</a:t>
            </a:r>
            <a:r>
              <a:rPr lang="en-US" altLang="zh-CN" sz="2800" b="1" dirty="0">
                <a:solidFill>
                  <a:srgbClr val="FF0000"/>
                </a:solidFill>
              </a:rPr>
              <a:t>WHERE</a:t>
            </a:r>
            <a:r>
              <a:rPr lang="en-US" altLang="zh-CN" sz="2800" b="1" dirty="0"/>
              <a:t> &lt;</a:t>
            </a:r>
            <a:r>
              <a:rPr lang="zh-CN" altLang="en-US" sz="2800" b="1" dirty="0"/>
              <a:t>条件</a:t>
            </a:r>
            <a:r>
              <a:rPr lang="en-US" altLang="zh-CN" sz="2800" b="1" dirty="0"/>
              <a:t>&gt;]</a:t>
            </a:r>
            <a:r>
              <a:rPr lang="zh-CN" altLang="en-US" sz="2800" b="1" dirty="0"/>
              <a:t>；</a:t>
            </a:r>
            <a:endParaRPr lang="zh-CN" altLang="en-US" sz="2800" b="1" dirty="0"/>
          </a:p>
          <a:p>
            <a:pPr eaLnBrk="1" hangingPunct="1">
              <a:lnSpc>
                <a:spcPct val="80000"/>
              </a:lnSpc>
              <a:buNone/>
            </a:pPr>
            <a:endParaRPr lang="en-US" altLang="zh-CN" sz="2800" b="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2"/>
          <p:cNvSpPr>
            <a:spLocks noGrp="1"/>
          </p:cNvSpPr>
          <p:nvPr>
            <p:ph type="title"/>
          </p:nvPr>
        </p:nvSpPr>
        <p:spPr>
          <a:xfrm>
            <a:off x="1042988" y="620713"/>
            <a:ext cx="4619625" cy="73977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b="1" dirty="0"/>
              <a:t>删除数据</a:t>
            </a:r>
            <a:endParaRPr lang="zh-CN" altLang="en-US" sz="3600" b="1" dirty="0"/>
          </a:p>
        </p:txBody>
      </p:sp>
      <p:sp>
        <p:nvSpPr>
          <p:cNvPr id="29699" name="Rectangle 3"/>
          <p:cNvSpPr>
            <a:spLocks noGrp="1"/>
          </p:cNvSpPr>
          <p:nvPr>
            <p:ph idx="1"/>
          </p:nvPr>
        </p:nvSpPr>
        <p:spPr>
          <a:xfrm>
            <a:off x="838200" y="1981200"/>
            <a:ext cx="7772400" cy="3556000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30000"/>
              </a:lnSpc>
            </a:pPr>
            <a:r>
              <a:rPr lang="zh-CN" altLang="en-US" sz="2800" b="1" dirty="0"/>
              <a:t>语句格式</a:t>
            </a:r>
            <a:endParaRPr lang="zh-CN" altLang="en-US" sz="2800" b="1" dirty="0"/>
          </a:p>
          <a:p>
            <a:pPr algn="just" eaLnBrk="1" hangingPunct="1">
              <a:lnSpc>
                <a:spcPct val="130000"/>
              </a:lnSpc>
              <a:buNone/>
            </a:pPr>
            <a:r>
              <a:rPr lang="zh-CN" altLang="en-US" sz="2600" b="1" dirty="0">
                <a:solidFill>
                  <a:srgbClr val="FF0000"/>
                </a:solidFill>
              </a:rPr>
              <a:t>       </a:t>
            </a:r>
            <a:r>
              <a:rPr lang="en-US" altLang="zh-CN" sz="2600" b="1" dirty="0">
                <a:solidFill>
                  <a:srgbClr val="FF0000"/>
                </a:solidFill>
              </a:rPr>
              <a:t>DELETE</a:t>
            </a:r>
            <a:endParaRPr lang="en-US" altLang="zh-CN" sz="2600" b="1" dirty="0">
              <a:solidFill>
                <a:srgbClr val="FF0000"/>
              </a:solidFill>
            </a:endParaRPr>
          </a:p>
          <a:p>
            <a:pPr algn="just" eaLnBrk="1" hangingPunct="1">
              <a:lnSpc>
                <a:spcPct val="130000"/>
              </a:lnSpc>
              <a:buNone/>
            </a:pPr>
            <a:r>
              <a:rPr lang="en-US" altLang="zh-CN" sz="2600" b="1" dirty="0">
                <a:solidFill>
                  <a:srgbClr val="FF0000"/>
                </a:solidFill>
              </a:rPr>
              <a:t>       FROM     &lt;</a:t>
            </a:r>
            <a:r>
              <a:rPr lang="zh-CN" altLang="en-US" sz="2600" b="1" dirty="0">
                <a:solidFill>
                  <a:srgbClr val="FF0000"/>
                </a:solidFill>
              </a:rPr>
              <a:t>表名</a:t>
            </a:r>
            <a:r>
              <a:rPr lang="en-US" altLang="zh-CN" sz="2600" b="1" dirty="0">
                <a:solidFill>
                  <a:srgbClr val="FF0000"/>
                </a:solidFill>
              </a:rPr>
              <a:t>&gt;</a:t>
            </a:r>
            <a:endParaRPr lang="en-US" altLang="zh-CN" sz="2600" b="1" dirty="0">
              <a:solidFill>
                <a:srgbClr val="FF0000"/>
              </a:solidFill>
            </a:endParaRPr>
          </a:p>
          <a:p>
            <a:pPr algn="just" eaLnBrk="1" hangingPunct="1">
              <a:lnSpc>
                <a:spcPct val="130000"/>
              </a:lnSpc>
              <a:buNone/>
            </a:pPr>
            <a:r>
              <a:rPr lang="en-US" altLang="zh-CN" sz="2600" b="1" dirty="0">
                <a:solidFill>
                  <a:srgbClr val="FF0000"/>
                </a:solidFill>
              </a:rPr>
              <a:t>       [WHERE </a:t>
            </a:r>
            <a:r>
              <a:rPr lang="en-US" altLang="zh-CN" sz="2600" b="1" dirty="0"/>
              <a:t>&lt;</a:t>
            </a:r>
            <a:r>
              <a:rPr lang="zh-CN" altLang="en-US" sz="2600" b="1" dirty="0"/>
              <a:t>条件</a:t>
            </a:r>
            <a:r>
              <a:rPr lang="en-US" altLang="zh-CN" sz="2600" b="1" dirty="0"/>
              <a:t>&gt;]</a:t>
            </a:r>
            <a:r>
              <a:rPr lang="zh-CN" altLang="en-US" sz="2600" b="1" dirty="0"/>
              <a:t>；</a:t>
            </a:r>
            <a:endParaRPr lang="zh-CN" altLang="en-US" sz="2600" b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2"/>
          <p:cNvSpPr>
            <a:spLocks noGrp="1"/>
          </p:cNvSpPr>
          <p:nvPr>
            <p:ph type="title"/>
          </p:nvPr>
        </p:nvSpPr>
        <p:spPr>
          <a:xfrm>
            <a:off x="1116013" y="476250"/>
            <a:ext cx="4043362" cy="884238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b="1" dirty="0"/>
              <a:t>建立视图</a:t>
            </a:r>
            <a:endParaRPr lang="zh-CN" altLang="en-US" sz="3600" b="1" dirty="0"/>
          </a:p>
        </p:txBody>
      </p:sp>
      <p:sp>
        <p:nvSpPr>
          <p:cNvPr id="31747" name="Rectangle 3"/>
          <p:cNvSpPr>
            <a:spLocks noGrp="1"/>
          </p:cNvSpPr>
          <p:nvPr>
            <p:ph idx="1"/>
          </p:nvPr>
        </p:nvSpPr>
        <p:spPr>
          <a:xfrm>
            <a:off x="611188" y="1628775"/>
            <a:ext cx="7924800" cy="4495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b="1" dirty="0"/>
              <a:t>语句格式</a:t>
            </a:r>
            <a:endParaRPr lang="zh-CN" altLang="en-US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b="1" dirty="0"/>
              <a:t>       </a:t>
            </a:r>
            <a:r>
              <a:rPr lang="en-US" altLang="zh-CN" sz="2800" b="1" dirty="0">
                <a:solidFill>
                  <a:srgbClr val="FF0000"/>
                </a:solidFill>
              </a:rPr>
              <a:t>CREATE  VIEW 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b="1" dirty="0"/>
              <a:t>             &lt;</a:t>
            </a:r>
            <a:r>
              <a:rPr lang="zh-CN" altLang="en-US" sz="2800" b="1" dirty="0"/>
              <a:t>视图名</a:t>
            </a:r>
            <a:r>
              <a:rPr lang="en-US" altLang="zh-CN" sz="2800" b="1" dirty="0"/>
              <a:t>&gt;  [(&lt;</a:t>
            </a:r>
            <a:r>
              <a:rPr lang="zh-CN" altLang="en-US" sz="2800" b="1" dirty="0"/>
              <a:t>列名</a:t>
            </a:r>
            <a:r>
              <a:rPr lang="en-US" altLang="zh-CN" sz="2800" b="1" dirty="0"/>
              <a:t>&gt;  [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&lt;</a:t>
            </a:r>
            <a:r>
              <a:rPr lang="zh-CN" altLang="en-US" sz="2800" b="1" dirty="0"/>
              <a:t>列名</a:t>
            </a:r>
            <a:r>
              <a:rPr lang="en-US" altLang="zh-CN" sz="2800" b="1" dirty="0"/>
              <a:t>&gt;]…)]</a:t>
            </a:r>
            <a:endParaRPr lang="en-US" altLang="zh-CN" sz="28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b="1" dirty="0">
                <a:solidFill>
                  <a:srgbClr val="FF3399"/>
                </a:solidFill>
              </a:rPr>
              <a:t>       </a:t>
            </a:r>
            <a:r>
              <a:rPr lang="en-US" altLang="zh-CN" sz="2800" b="1" dirty="0">
                <a:solidFill>
                  <a:srgbClr val="FF0000"/>
                </a:solidFill>
              </a:rPr>
              <a:t>AS</a:t>
            </a:r>
            <a:r>
              <a:rPr lang="en-US" altLang="zh-CN" sz="2800" b="1" dirty="0">
                <a:solidFill>
                  <a:schemeClr val="tx2"/>
                </a:solidFill>
              </a:rPr>
              <a:t> </a:t>
            </a:r>
            <a:r>
              <a:rPr lang="en-US" altLang="zh-CN" sz="2800" b="1" dirty="0">
                <a:solidFill>
                  <a:srgbClr val="0033CC"/>
                </a:solidFill>
              </a:rPr>
              <a:t> </a:t>
            </a:r>
            <a:r>
              <a:rPr lang="en-US" altLang="zh-CN" sz="2800" b="1" dirty="0"/>
              <a:t>&lt;</a:t>
            </a:r>
            <a:r>
              <a:rPr lang="zh-CN" altLang="en-US" sz="2800" b="1" dirty="0"/>
              <a:t>子查询</a:t>
            </a:r>
            <a:r>
              <a:rPr lang="en-US" altLang="zh-CN" sz="2800" b="1" dirty="0"/>
              <a:t>&gt;</a:t>
            </a:r>
            <a:endParaRPr lang="en-US" altLang="zh-CN" sz="28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b="1" dirty="0"/>
              <a:t>       [</a:t>
            </a:r>
            <a:r>
              <a:rPr lang="en-US" altLang="zh-CN" sz="2800" b="1" dirty="0">
                <a:solidFill>
                  <a:schemeClr val="tx2"/>
                </a:solidFill>
              </a:rPr>
              <a:t>WITH  CHECK  OPTION</a:t>
            </a:r>
            <a:r>
              <a:rPr lang="en-US" altLang="zh-CN" sz="2800" b="1" dirty="0"/>
              <a:t>]</a:t>
            </a:r>
            <a:r>
              <a:rPr lang="zh-CN" altLang="en-US" sz="2800" b="1" dirty="0"/>
              <a:t>；</a:t>
            </a:r>
            <a:endParaRPr lang="zh-CN" altLang="en-US" b="1" dirty="0"/>
          </a:p>
          <a:p>
            <a:pPr eaLnBrk="1" hangingPunct="1">
              <a:lnSpc>
                <a:spcPct val="120000"/>
              </a:lnSpc>
            </a:pPr>
            <a:endParaRPr lang="zh-CN" altLang="en-US" b="1" dirty="0"/>
          </a:p>
          <a:p>
            <a:pPr eaLnBrk="1" hangingPunct="1"/>
            <a:endParaRPr lang="en-US" altLang="zh-CN" b="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Rectangle 2"/>
          <p:cNvSpPr>
            <a:spLocks noGrp="1"/>
          </p:cNvSpPr>
          <p:nvPr>
            <p:ph type="title"/>
          </p:nvPr>
        </p:nvSpPr>
        <p:spPr>
          <a:xfrm>
            <a:off x="971550" y="404813"/>
            <a:ext cx="6480175" cy="884237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b="1" dirty="0">
                <a:latin typeface="宋体" panose="02010600030101010101" pitchFamily="2" charset="-122"/>
              </a:rPr>
              <a:t>第</a:t>
            </a:r>
            <a:r>
              <a:rPr lang="en-US" altLang="zh-CN" sz="3600" b="1" dirty="0">
                <a:latin typeface="宋体" panose="02010600030101010101" pitchFamily="2" charset="-122"/>
              </a:rPr>
              <a:t>4</a:t>
            </a:r>
            <a:r>
              <a:rPr lang="zh-CN" altLang="en-US" sz="3600" b="1" dirty="0">
                <a:latin typeface="宋体" panose="02010600030101010101" pitchFamily="2" charset="-122"/>
              </a:rPr>
              <a:t>章  数据库保护</a:t>
            </a:r>
            <a:r>
              <a:rPr lang="en-US" altLang="zh-CN" sz="3600" b="1" dirty="0">
                <a:latin typeface="宋体" panose="02010600030101010101" pitchFamily="2" charset="-122"/>
              </a:rPr>
              <a:t>—</a:t>
            </a:r>
            <a:r>
              <a:rPr lang="zh-CN" altLang="en-US" sz="3600" b="1" dirty="0">
                <a:latin typeface="宋体" panose="02010600030101010101" pitchFamily="2" charset="-122"/>
              </a:rPr>
              <a:t>安全性</a:t>
            </a:r>
            <a:endParaRPr lang="zh-CN" altLang="en-US" sz="3600" b="1" dirty="0">
              <a:latin typeface="宋体" panose="02010600030101010101" pitchFamily="2" charset="-122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484313"/>
            <a:ext cx="8101013" cy="43211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1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、概念：数据库安全性指保护数据库以防止不合法使用所造成的数据泄露、更改或破坏。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微软雅黑" panose="020B0503020204020204" charset="-122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AutoNum type="arabicPlain" startAt="2"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授权与回收：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微软雅黑" panose="020B0503020204020204" charset="-122"/>
              </a:rPr>
              <a:t>  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微软雅黑" panose="020B0503020204020204" charset="-122"/>
              </a:rPr>
              <a:t>GRANT   REVOKE 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cs typeface="微软雅黑" panose="020B0503020204020204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 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Rectangle 3"/>
          <p:cNvSpPr>
            <a:spLocks noGrp="1"/>
          </p:cNvSpPr>
          <p:nvPr>
            <p:ph idx="1"/>
          </p:nvPr>
        </p:nvSpPr>
        <p:spPr>
          <a:xfrm>
            <a:off x="468313" y="1700213"/>
            <a:ext cx="8280400" cy="4495800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3600" b="1" dirty="0">
                <a:latin typeface="宋体" panose="02010600030101010101" pitchFamily="2" charset="-122"/>
              </a:rPr>
              <a:t>1</a:t>
            </a:r>
            <a:r>
              <a:rPr lang="zh-CN" altLang="en-US" sz="3600" b="1" dirty="0">
                <a:latin typeface="宋体" panose="02010600030101010101" pitchFamily="2" charset="-122"/>
              </a:rPr>
              <a:t>、概念：防止数据库中存在不符合语义的数据，也就是防止数据库中存在不正确的数据</a:t>
            </a:r>
            <a:endParaRPr lang="zh-CN" altLang="en-US" sz="3600" b="1" dirty="0">
              <a:latin typeface="宋体" panose="02010600030101010101" pitchFamily="2" charset="-122"/>
            </a:endParaRPr>
          </a:p>
          <a:p>
            <a:pPr eaLnBrk="1" hangingPunct="1">
              <a:buNone/>
            </a:pPr>
            <a:endParaRPr lang="en-US" altLang="zh-CN" sz="3600" b="1" dirty="0">
              <a:latin typeface="宋体" panose="02010600030101010101" pitchFamily="2" charset="-122"/>
            </a:endParaRPr>
          </a:p>
          <a:p>
            <a:pPr eaLnBrk="1" hangingPunct="1">
              <a:buNone/>
            </a:pPr>
            <a:r>
              <a:rPr lang="en-US" altLang="zh-CN" sz="3600" b="1" dirty="0">
                <a:latin typeface="宋体" panose="02010600030101010101" pitchFamily="2" charset="-122"/>
              </a:rPr>
              <a:t>2</a:t>
            </a:r>
            <a:r>
              <a:rPr lang="zh-CN" altLang="en-US" sz="3600" b="1" dirty="0">
                <a:latin typeface="宋体" panose="02010600030101010101" pitchFamily="2" charset="-122"/>
              </a:rPr>
              <a:t>、</a:t>
            </a:r>
            <a:r>
              <a:rPr lang="en-US" altLang="zh-CN" sz="3600" b="1" dirty="0">
                <a:latin typeface="宋体" panose="02010600030101010101" pitchFamily="2" charset="-122"/>
              </a:rPr>
              <a:t>SQL</a:t>
            </a:r>
            <a:r>
              <a:rPr lang="zh-CN" altLang="en-US" sz="3600" b="1" dirty="0">
                <a:latin typeface="宋体" panose="02010600030101010101" pitchFamily="2" charset="-122"/>
              </a:rPr>
              <a:t>的完整性控制  主码 外码 不为空等等</a:t>
            </a:r>
            <a:endParaRPr lang="zh-CN" altLang="en-US" sz="3600" b="1" dirty="0">
              <a:latin typeface="宋体" panose="02010600030101010101" pitchFamily="2" charset="-122"/>
            </a:endParaRPr>
          </a:p>
        </p:txBody>
      </p:sp>
      <p:sp>
        <p:nvSpPr>
          <p:cNvPr id="34819" name="Rectangle 6"/>
          <p:cNvSpPr/>
          <p:nvPr/>
        </p:nvSpPr>
        <p:spPr>
          <a:xfrm>
            <a:off x="971550" y="549275"/>
            <a:ext cx="6480175" cy="8842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>
                <a:latin typeface="宋体" panose="02010600030101010101" pitchFamily="2" charset="-122"/>
              </a:rPr>
              <a:t>第</a:t>
            </a:r>
            <a:r>
              <a:rPr lang="en-US" altLang="zh-CN" sz="3600" b="1" dirty="0">
                <a:latin typeface="宋体" panose="02010600030101010101" pitchFamily="2" charset="-122"/>
              </a:rPr>
              <a:t>5</a:t>
            </a:r>
            <a:r>
              <a:rPr lang="zh-CN" altLang="en-US" sz="3600" b="1" dirty="0">
                <a:latin typeface="宋体" panose="02010600030101010101" pitchFamily="2" charset="-122"/>
              </a:rPr>
              <a:t>章  数据库完整性</a:t>
            </a:r>
            <a:endParaRPr lang="zh-CN" altLang="en-US" sz="36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Rectangle 2"/>
          <p:cNvSpPr>
            <a:spLocks noGrp="1"/>
          </p:cNvSpPr>
          <p:nvPr>
            <p:ph idx="1"/>
          </p:nvPr>
        </p:nvSpPr>
        <p:spPr>
          <a:xfrm>
            <a:off x="395288" y="1844675"/>
            <a:ext cx="7772400" cy="4214813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、函数依赖：包括：函数依赖、平凡函数依赖与非平凡函数依赖、完全函数依赖、部分函数依赖、传递函数依赖的定义理解和应用（即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能区分不同的函数依赖</a:t>
            </a:r>
            <a:r>
              <a:rPr lang="zh-CN" altLang="en-US" sz="2400" b="1" dirty="0">
                <a:latin typeface="宋体" panose="02010600030101010101" pitchFamily="2" charset="-122"/>
              </a:rPr>
              <a:t>）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4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</a:rPr>
              <a:t>1NF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</a:rPr>
              <a:t>2NF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</a:rPr>
              <a:t>3NF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</a:rPr>
              <a:t>BCNF</a:t>
            </a:r>
            <a:r>
              <a:rPr lang="zh-CN" altLang="en-US" sz="2400" b="1" dirty="0">
                <a:latin typeface="宋体" panose="02010600030101010101" pitchFamily="2" charset="-122"/>
              </a:rPr>
              <a:t>的定义和判别；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4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</a:rPr>
              <a:t>、关系模式候选码的求解；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4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4</a:t>
            </a:r>
            <a:r>
              <a:rPr lang="zh-CN" altLang="en-US" sz="2400" b="1" dirty="0">
                <a:latin typeface="宋体" panose="02010600030101010101" pitchFamily="2" charset="-122"/>
              </a:rPr>
              <a:t>、根据文字描述，判断关系的函数依赖，由函数依赖再来判断是否存在部分，传递依赖。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en-US" altLang="zh-CN" sz="2000" b="1" dirty="0">
              <a:latin typeface="宋体" panose="02010600030101010101" pitchFamily="2" charset="-122"/>
            </a:endParaRPr>
          </a:p>
        </p:txBody>
      </p:sp>
      <p:sp>
        <p:nvSpPr>
          <p:cNvPr id="35843" name="Rectangle 4"/>
          <p:cNvSpPr>
            <a:spLocks noGrp="1"/>
          </p:cNvSpPr>
          <p:nvPr>
            <p:ph type="title"/>
          </p:nvPr>
        </p:nvSpPr>
        <p:spPr>
          <a:xfrm>
            <a:off x="1042988" y="549275"/>
            <a:ext cx="5184775" cy="649288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b="1" dirty="0"/>
              <a:t>第</a:t>
            </a:r>
            <a:r>
              <a:rPr lang="en-US" altLang="zh-CN" sz="3600" b="1" dirty="0"/>
              <a:t>6</a:t>
            </a:r>
            <a:r>
              <a:rPr lang="zh-CN" altLang="en-US" sz="3600" b="1" dirty="0"/>
              <a:t>章 关系数据理论</a:t>
            </a:r>
            <a:endParaRPr lang="zh-CN" altLang="en-US" sz="3600" b="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2"/>
          <p:cNvSpPr>
            <a:spLocks noGrp="1"/>
          </p:cNvSpPr>
          <p:nvPr>
            <p:ph type="title"/>
          </p:nvPr>
        </p:nvSpPr>
        <p:spPr>
          <a:xfrm>
            <a:off x="755650" y="476250"/>
            <a:ext cx="8229600" cy="884238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b="1" dirty="0">
                <a:latin typeface="宋体" panose="02010600030101010101" pitchFamily="2" charset="-122"/>
              </a:rPr>
              <a:t>第</a:t>
            </a:r>
            <a:r>
              <a:rPr lang="en-US" altLang="zh-CN" sz="3600" b="1" dirty="0">
                <a:latin typeface="宋体" panose="02010600030101010101" pitchFamily="2" charset="-122"/>
              </a:rPr>
              <a:t>6</a:t>
            </a:r>
            <a:r>
              <a:rPr lang="zh-CN" altLang="en-US" sz="3600" b="1" dirty="0">
                <a:latin typeface="宋体" panose="02010600030101010101" pitchFamily="2" charset="-122"/>
              </a:rPr>
              <a:t>章 关系数据理论</a:t>
            </a:r>
            <a:endParaRPr lang="zh-CN" altLang="en-US" sz="3600" b="1" dirty="0">
              <a:latin typeface="宋体" panose="02010600030101010101" pitchFamily="2" charset="-122"/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773238"/>
            <a:ext cx="8077200" cy="34559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533400" marR="0" lvl="0" indent="-5334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1]  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已知关系模式</a:t>
            </a:r>
            <a:r>
              <a:rPr kumimoji="0" lang="en-US" altLang="zh-CN" sz="4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</a:t>
            </a:r>
            <a:r>
              <a:rPr kumimoji="0" lang="en-US" altLang="zh-CN" sz="4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4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&gt;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，其中</a:t>
            </a:r>
            <a:endParaRPr kumimoji="0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4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U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={</a:t>
            </a:r>
            <a:r>
              <a:rPr kumimoji="0" lang="en-US" altLang="zh-CN" sz="4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A</a:t>
            </a:r>
            <a:r>
              <a:rPr kumimoji="0" lang="zh-CN" altLang="en-US" sz="4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，</a:t>
            </a:r>
            <a:r>
              <a:rPr kumimoji="0" lang="en-US" altLang="zh-CN" sz="4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B</a:t>
            </a:r>
            <a:r>
              <a:rPr kumimoji="0" lang="zh-CN" altLang="en-US" sz="4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，</a:t>
            </a:r>
            <a:r>
              <a:rPr kumimoji="0" lang="en-US" altLang="zh-CN" sz="4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C</a:t>
            </a:r>
            <a:r>
              <a:rPr kumimoji="0" lang="zh-CN" altLang="en-US" sz="4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，</a:t>
            </a:r>
            <a:r>
              <a:rPr kumimoji="0" lang="en-US" altLang="zh-CN" sz="4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D</a:t>
            </a:r>
            <a:r>
              <a:rPr kumimoji="0" lang="zh-CN" altLang="en-US" sz="4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，</a:t>
            </a:r>
            <a:r>
              <a:rPr kumimoji="0" lang="en-US" altLang="zh-CN" sz="4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E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}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；</a:t>
            </a:r>
            <a:endParaRPr kumimoji="0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4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F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={</a:t>
            </a:r>
            <a:r>
              <a:rPr kumimoji="0" lang="en-US" altLang="zh-CN" sz="4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AB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→</a:t>
            </a:r>
            <a:r>
              <a:rPr kumimoji="0" lang="en-US" altLang="zh-CN" sz="4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C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，</a:t>
            </a:r>
            <a:r>
              <a:rPr kumimoji="0" lang="en-US" altLang="zh-CN" sz="4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B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→</a:t>
            </a:r>
            <a:r>
              <a:rPr kumimoji="0" lang="en-US" altLang="zh-CN" sz="4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D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，</a:t>
            </a:r>
            <a:r>
              <a:rPr kumimoji="0" lang="en-US" altLang="zh-CN" sz="4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C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→</a:t>
            </a:r>
            <a:r>
              <a:rPr kumimoji="0" lang="en-US" altLang="zh-CN" sz="4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E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，</a:t>
            </a:r>
            <a:r>
              <a:rPr kumimoji="0" lang="en-US" altLang="zh-CN" sz="4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EC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→</a:t>
            </a:r>
            <a:r>
              <a:rPr kumimoji="0" lang="en-US" altLang="zh-CN" sz="4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B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，</a:t>
            </a:r>
            <a:r>
              <a:rPr kumimoji="0" lang="en-US" altLang="zh-CN" sz="4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AC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→</a:t>
            </a:r>
            <a:r>
              <a:rPr kumimoji="0" lang="en-US" altLang="zh-CN" sz="4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B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}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。</a:t>
            </a:r>
            <a:endParaRPr kumimoji="0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求（</a:t>
            </a:r>
            <a:r>
              <a:rPr kumimoji="0" lang="en-US" altLang="zh-CN" sz="4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AB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）</a:t>
            </a:r>
            <a:r>
              <a:rPr kumimoji="0" lang="en-US" altLang="zh-CN" sz="4000" b="1" i="1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F</a:t>
            </a:r>
            <a:r>
              <a:rPr kumimoji="0" lang="en-US" altLang="zh-CN" sz="4000" b="1" i="1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+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。</a:t>
            </a:r>
            <a:endParaRPr kumimoji="0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4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Ø"/>
              <a:defRPr/>
            </a:pPr>
            <a:endParaRPr kumimoji="0" lang="en-US" altLang="zh-CN" sz="4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>
                <a:latin typeface="Franklin Gothic Medium" panose="020B0603020102020204" charset="0"/>
                <a:ea typeface="微软雅黑" panose="020B0503020204020204" charset="-122"/>
              </a:rPr>
              <a:t>3.</a:t>
            </a:r>
            <a:r>
              <a:rPr lang="zh-CN" altLang="en-US" dirty="0">
                <a:latin typeface="Franklin Gothic Medium" panose="020B0603020102020204" charset="0"/>
                <a:ea typeface="微软雅黑" panose="020B0503020204020204" charset="-122"/>
              </a:rPr>
              <a:t>例题</a:t>
            </a:r>
            <a:r>
              <a:rPr lang="en-US" altLang="zh-CN" dirty="0">
                <a:latin typeface="Franklin Gothic Medium" panose="020B0603020102020204" charset="0"/>
                <a:ea typeface="微软雅黑" panose="020B0503020204020204" charset="-122"/>
              </a:rPr>
              <a:t> </a:t>
            </a:r>
            <a:r>
              <a:rPr lang="zh-CN" altLang="en-US" dirty="0">
                <a:latin typeface="Franklin Gothic Medium" panose="020B0603020102020204" charset="0"/>
                <a:ea typeface="微软雅黑" panose="020B0503020204020204" charset="-122"/>
              </a:rPr>
              <a:t>函数依赖闭包 </a:t>
            </a:r>
            <a:endParaRPr lang="zh-CN" altLang="en-US" dirty="0">
              <a:latin typeface="Franklin Gothic Medium" panose="020B0603020102020204" charset="0"/>
              <a:ea typeface="微软雅黑" panose="020B0503020204020204" charset="-122"/>
            </a:endParaRPr>
          </a:p>
        </p:txBody>
      </p:sp>
      <p:sp>
        <p:nvSpPr>
          <p:cNvPr id="145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sz="3600" b="1" dirty="0"/>
              <a:t>假设我们的花名册有这些信息：学号(</a:t>
            </a:r>
            <a:r>
              <a:rPr lang="en-US" altLang="zh-CN" sz="3600" b="1" dirty="0"/>
              <a:t>S), </a:t>
            </a:r>
            <a:r>
              <a:rPr lang="zh-CN" altLang="en-US" sz="3600" b="1" dirty="0"/>
              <a:t>姓名(</a:t>
            </a:r>
            <a:r>
              <a:rPr lang="en-US" altLang="zh-CN" sz="3600" b="1" dirty="0"/>
              <a:t>N), </a:t>
            </a:r>
            <a:r>
              <a:rPr lang="zh-CN" altLang="en-US" sz="3600" b="1" dirty="0"/>
              <a:t>班级(</a:t>
            </a:r>
            <a:r>
              <a:rPr lang="en-US" altLang="zh-CN" sz="3600" b="1" dirty="0"/>
              <a:t>C), </a:t>
            </a:r>
            <a:r>
              <a:rPr lang="zh-CN" altLang="en-US" sz="3600" b="1" dirty="0"/>
              <a:t>班主任(</a:t>
            </a:r>
            <a:r>
              <a:rPr lang="en-US" altLang="zh-CN" sz="3600" b="1" dirty="0"/>
              <a:t>T)</a:t>
            </a:r>
            <a:endParaRPr lang="en-US" altLang="zh-CN" sz="3600" b="1" dirty="0"/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sz="3600" b="1" dirty="0"/>
              <a:t>已知的规律：</a:t>
            </a:r>
            <a:r>
              <a:rPr lang="en-US" altLang="zh-CN" sz="3600" b="1" dirty="0"/>
              <a:t>S→N、S→C、C→T</a:t>
            </a:r>
            <a:endParaRPr lang="en-US" altLang="zh-CN" sz="3600" b="1" dirty="0"/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endParaRPr lang="en-US" altLang="zh-CN" sz="3600" b="1" dirty="0"/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sz="3600" b="1" dirty="0"/>
              <a:t>算「学号 </a:t>
            </a:r>
            <a:r>
              <a:rPr lang="en-US" altLang="zh-CN" sz="3600" b="1" dirty="0"/>
              <a:t>S」</a:t>
            </a:r>
            <a:r>
              <a:rPr lang="zh-CN" altLang="en-US" sz="3600" b="1" dirty="0"/>
              <a:t>的闭包：</a:t>
            </a:r>
            <a:endParaRPr lang="zh-CN" altLang="en-US" sz="3600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5830" y="5044440"/>
            <a:ext cx="5424170" cy="1023620"/>
          </a:xfrm>
          <a:prstGeom prst="rect">
            <a:avLst/>
          </a:prstGeom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>
                <a:latin typeface="Franklin Gothic Medium" panose="020B0603020102020204" charset="0"/>
                <a:ea typeface="微软雅黑" panose="020B0503020204020204" charset="-122"/>
              </a:rPr>
              <a:t>3.</a:t>
            </a:r>
            <a:r>
              <a:rPr lang="zh-CN" altLang="en-US" dirty="0">
                <a:latin typeface="Franklin Gothic Medium" panose="020B0603020102020204" charset="0"/>
                <a:ea typeface="微软雅黑" panose="020B0503020204020204" charset="-122"/>
              </a:rPr>
              <a:t>例题</a:t>
            </a:r>
            <a:r>
              <a:rPr lang="en-US" altLang="zh-CN" dirty="0">
                <a:latin typeface="Franklin Gothic Medium" panose="020B0603020102020204" charset="0"/>
                <a:ea typeface="微软雅黑" panose="020B0503020204020204" charset="-122"/>
              </a:rPr>
              <a:t> </a:t>
            </a:r>
            <a:r>
              <a:rPr lang="zh-CN" altLang="en-US" dirty="0">
                <a:latin typeface="Franklin Gothic Medium" panose="020B0603020102020204" charset="0"/>
                <a:ea typeface="微软雅黑" panose="020B0503020204020204" charset="-122"/>
              </a:rPr>
              <a:t>函数依赖闭包 </a:t>
            </a:r>
            <a:endParaRPr lang="zh-CN" altLang="en-US" dirty="0">
              <a:latin typeface="Franklin Gothic Medium" panose="020B0603020102020204" charset="0"/>
              <a:ea typeface="微软雅黑" panose="020B0503020204020204" charset="-122"/>
            </a:endParaRPr>
          </a:p>
        </p:txBody>
      </p:sp>
      <p:sp>
        <p:nvSpPr>
          <p:cNvPr id="145411" name="Rectangle 3"/>
          <p:cNvSpPr>
            <a:spLocks noGrp="1" noChangeArrowheads="1"/>
          </p:cNvSpPr>
          <p:nvPr>
            <p:ph idx="1"/>
          </p:nvPr>
        </p:nvSpPr>
        <p:spPr>
          <a:xfrm>
            <a:off x="285750" y="1862455"/>
            <a:ext cx="8401050" cy="193294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3600" b="1" dirty="0"/>
              <a:t>[</a:t>
            </a:r>
            <a:r>
              <a:rPr lang="zh-CN" altLang="en-US" sz="3600" b="1" dirty="0"/>
              <a:t>例</a:t>
            </a:r>
            <a:r>
              <a:rPr lang="en-US" altLang="zh-CN" sz="3600" b="1" dirty="0"/>
              <a:t>6.11]  </a:t>
            </a:r>
            <a:r>
              <a:rPr lang="zh-CN" altLang="en-US" sz="3600" b="1" dirty="0"/>
              <a:t>已知关系模式</a:t>
            </a:r>
            <a:r>
              <a:rPr lang="en-US" altLang="zh-CN" sz="3600" b="1" dirty="0"/>
              <a:t>R</a:t>
            </a:r>
            <a:r>
              <a:rPr lang="en-US" altLang="zh-CN" sz="3600" b="1" dirty="0"/>
              <a:t>(U</a:t>
            </a:r>
            <a:r>
              <a:rPr lang="zh-CN" altLang="en-US" sz="3600" b="1" dirty="0"/>
              <a:t>，</a:t>
            </a:r>
            <a:r>
              <a:rPr lang="en-US" altLang="zh-CN" sz="3600" b="1" dirty="0"/>
              <a:t>F)</a:t>
            </a:r>
            <a:r>
              <a:rPr lang="zh-CN" altLang="en-US" sz="3600" b="1" dirty="0"/>
              <a:t>，其中</a:t>
            </a:r>
            <a:endParaRPr lang="zh-CN" altLang="en-US" sz="3600" b="1" dirty="0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sz="3600" b="1" dirty="0"/>
              <a:t>U={A</a:t>
            </a:r>
            <a:r>
              <a:rPr lang="zh-CN" altLang="en-US" sz="3600" b="1" dirty="0"/>
              <a:t>，</a:t>
            </a:r>
            <a:r>
              <a:rPr lang="en-US" altLang="zh-CN" sz="3600" b="1" dirty="0"/>
              <a:t>B</a:t>
            </a:r>
            <a:r>
              <a:rPr lang="zh-CN" altLang="en-US" sz="3600" b="1" dirty="0"/>
              <a:t>，</a:t>
            </a:r>
            <a:r>
              <a:rPr lang="en-US" altLang="zh-CN" sz="3600" b="1" dirty="0"/>
              <a:t>C</a:t>
            </a:r>
            <a:r>
              <a:rPr lang="zh-CN" altLang="en-US" sz="3600" b="1" dirty="0"/>
              <a:t>，</a:t>
            </a:r>
            <a:r>
              <a:rPr lang="en-US" altLang="zh-CN" sz="3600" b="1" dirty="0"/>
              <a:t>D</a:t>
            </a:r>
            <a:r>
              <a:rPr lang="zh-CN" altLang="en-US" sz="3600" b="1" dirty="0"/>
              <a:t>，</a:t>
            </a:r>
            <a:r>
              <a:rPr lang="en-US" altLang="zh-CN" sz="3600" b="1" dirty="0"/>
              <a:t>E}</a:t>
            </a:r>
            <a:r>
              <a:rPr lang="zh-CN" altLang="en-US" sz="3600" b="1" dirty="0"/>
              <a:t>；</a:t>
            </a:r>
            <a:endParaRPr lang="zh-CN" altLang="en-US" sz="3600" b="1" dirty="0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sz="3600" b="1" dirty="0"/>
              <a:t>F={AB→C</a:t>
            </a:r>
            <a:r>
              <a:rPr lang="zh-CN" altLang="en-US" sz="3600" b="1" dirty="0"/>
              <a:t>，</a:t>
            </a:r>
            <a:r>
              <a:rPr lang="en-US" altLang="zh-CN" sz="3600" b="1" dirty="0"/>
              <a:t>B→D</a:t>
            </a:r>
            <a:r>
              <a:rPr lang="zh-CN" altLang="en-US" sz="3600" b="1" dirty="0"/>
              <a:t>，</a:t>
            </a:r>
            <a:r>
              <a:rPr lang="en-US" altLang="zh-CN" sz="3600" b="1" dirty="0"/>
              <a:t>C→E</a:t>
            </a:r>
            <a:r>
              <a:rPr lang="zh-CN" altLang="en-US" sz="3600" b="1" dirty="0"/>
              <a:t>，</a:t>
            </a:r>
            <a:r>
              <a:rPr lang="en-US" altLang="zh-CN" sz="3600" b="1" dirty="0"/>
              <a:t>EC→B</a:t>
            </a:r>
            <a:r>
              <a:rPr lang="zh-CN" altLang="en-US" sz="3600" b="1" dirty="0"/>
              <a:t>，</a:t>
            </a:r>
            <a:r>
              <a:rPr lang="en-US" altLang="zh-CN" sz="3600" b="1" dirty="0"/>
              <a:t>AC→B}</a:t>
            </a:r>
            <a:r>
              <a:rPr lang="zh-CN" altLang="en-US" sz="3600" b="1" dirty="0"/>
              <a:t>。</a:t>
            </a:r>
            <a:endParaRPr lang="zh-CN" altLang="en-US" sz="3600" b="1" dirty="0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zh-CN" altLang="en-US" sz="3600" b="1" dirty="0"/>
              <a:t>求（</a:t>
            </a:r>
            <a:r>
              <a:rPr lang="en-US" altLang="zh-CN" sz="3600" b="1" dirty="0"/>
              <a:t>AB</a:t>
            </a:r>
            <a:r>
              <a:rPr lang="zh-CN" altLang="en-US" sz="3600" b="1" dirty="0"/>
              <a:t>）</a:t>
            </a:r>
            <a:r>
              <a:rPr lang="en-US" altLang="zh-CN" sz="3600" b="1" baseline="-25000" dirty="0"/>
              <a:t>F</a:t>
            </a:r>
            <a:r>
              <a:rPr lang="en-US" altLang="zh-CN" sz="3600" b="1" baseline="30000" dirty="0"/>
              <a:t>+</a:t>
            </a:r>
            <a:r>
              <a:rPr lang="en-US" altLang="zh-CN" sz="3600" b="1" dirty="0"/>
              <a:t> ,</a:t>
            </a:r>
            <a:r>
              <a:rPr lang="zh-CN" altLang="en-US" sz="3600" b="1" dirty="0"/>
              <a:t>判断</a:t>
            </a:r>
            <a:r>
              <a:rPr lang="en-US" altLang="zh-CN" sz="3600" b="1" dirty="0"/>
              <a:t>AB</a:t>
            </a:r>
            <a:r>
              <a:rPr lang="zh-CN" altLang="en-US" sz="3600" b="1" dirty="0"/>
              <a:t>是否为候选码</a:t>
            </a:r>
            <a:endParaRPr lang="zh-CN" altLang="en-US" sz="3600" b="1" dirty="0"/>
          </a:p>
          <a:p>
            <a:pPr eaLnBrk="1" hangingPunct="1">
              <a:lnSpc>
                <a:spcPct val="110000"/>
              </a:lnSpc>
              <a:spcBef>
                <a:spcPct val="60000"/>
              </a:spcBef>
              <a:buFont typeface="Monotype Sorts" pitchFamily="2" charset="2"/>
              <a:buNone/>
            </a:pPr>
            <a:endParaRPr lang="zh-CN" altLang="en-US" sz="36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1403350" y="4796790"/>
            <a:ext cx="6577330" cy="890905"/>
          </a:xfrm>
          <a:prstGeom prst="rect">
            <a:avLst/>
          </a:prstGeom>
        </p:spPr>
        <p:txBody>
          <a:bodyPr>
            <a:noAutofit/>
          </a:bodyPr>
          <a:p>
            <a:pPr marL="0" indent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初始：</a:t>
            </a:r>
            <a:r>
              <a:rPr lang="en-US" altLang="zh-CN" sz="24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{A,B}</a:t>
            </a:r>
            <a:endParaRPr lang="en-US" altLang="zh-CN" sz="24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 </a:t>
            </a:r>
            <a:r>
              <a:rPr lang="en-US" altLang="zh-CN" sz="24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AB→C → </a:t>
            </a:r>
            <a:r>
              <a:rPr lang="zh-CN" altLang="en-US" sz="24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得到 </a:t>
            </a:r>
            <a:r>
              <a:rPr lang="en-US" altLang="zh-CN" sz="24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lang="zh-CN" altLang="en-US" sz="24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，集合变成 </a:t>
            </a:r>
            <a:r>
              <a:rPr lang="en-US" altLang="zh-CN" sz="24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{A,B,C}</a:t>
            </a:r>
            <a:endParaRPr lang="en-US" altLang="zh-CN" sz="24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 </a:t>
            </a:r>
            <a:r>
              <a:rPr lang="en-US" altLang="zh-CN" sz="24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B→D → </a:t>
            </a:r>
            <a:r>
              <a:rPr lang="zh-CN" altLang="en-US" sz="24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得到 </a:t>
            </a:r>
            <a:r>
              <a:rPr lang="en-US" altLang="zh-CN" sz="24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lang="zh-CN" altLang="en-US" sz="24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，集合变成 </a:t>
            </a:r>
            <a:r>
              <a:rPr lang="en-US" altLang="zh-CN" sz="24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{A,B,C,D}</a:t>
            </a:r>
            <a:endParaRPr lang="en-US" altLang="zh-CN" sz="24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 </a:t>
            </a:r>
            <a:r>
              <a:rPr lang="en-US" altLang="zh-CN" sz="24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C→E → </a:t>
            </a:r>
            <a:r>
              <a:rPr lang="zh-CN" altLang="en-US" sz="24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得到 </a:t>
            </a:r>
            <a:r>
              <a:rPr lang="en-US" altLang="zh-CN" sz="24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</a:t>
            </a:r>
            <a:r>
              <a:rPr lang="zh-CN" altLang="en-US" sz="24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，集合变成 </a:t>
            </a:r>
            <a:r>
              <a:rPr lang="en-US" altLang="zh-CN" sz="24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{A,B,C,D,E}</a:t>
            </a:r>
            <a:r>
              <a:rPr lang="zh-CN" altLang="en-US" sz="24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（也就是全集 </a:t>
            </a:r>
            <a:r>
              <a:rPr lang="en-US" altLang="zh-CN" sz="24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</a:t>
            </a:r>
            <a:r>
              <a:rPr lang="zh-CN" altLang="en-US" sz="24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24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>
                <a:latin typeface="Franklin Gothic Medium" panose="020B0603020102020204" charset="0"/>
                <a:ea typeface="微软雅黑" panose="020B0503020204020204" charset="-122"/>
              </a:rPr>
              <a:t>3.</a:t>
            </a:r>
            <a:r>
              <a:rPr lang="zh-CN" altLang="en-US" dirty="0">
                <a:latin typeface="Franklin Gothic Medium" panose="020B0603020102020204" charset="0"/>
                <a:ea typeface="微软雅黑" panose="020B0503020204020204" charset="-122"/>
              </a:rPr>
              <a:t>例题</a:t>
            </a:r>
            <a:r>
              <a:rPr lang="en-US" altLang="zh-CN" dirty="0">
                <a:latin typeface="Franklin Gothic Medium" panose="020B0603020102020204" charset="0"/>
                <a:ea typeface="微软雅黑" panose="020B0503020204020204" charset="-122"/>
              </a:rPr>
              <a:t> </a:t>
            </a:r>
            <a:r>
              <a:rPr lang="zh-CN" altLang="en-US" dirty="0">
                <a:latin typeface="Franklin Gothic Medium" panose="020B0603020102020204" charset="0"/>
                <a:ea typeface="微软雅黑" panose="020B0503020204020204" charset="-122"/>
              </a:rPr>
              <a:t>函数依赖闭包 </a:t>
            </a:r>
            <a:endParaRPr lang="zh-CN" altLang="en-US" dirty="0">
              <a:latin typeface="Franklin Gothic Medium" panose="020B0603020102020204" charset="0"/>
              <a:ea typeface="微软雅黑" panose="020B0503020204020204" charset="-122"/>
            </a:endParaRPr>
          </a:p>
        </p:txBody>
      </p:sp>
      <p:sp>
        <p:nvSpPr>
          <p:cNvPr id="145411" name="Rectangle 3"/>
          <p:cNvSpPr>
            <a:spLocks noGrp="1" noChangeArrowheads="1"/>
          </p:cNvSpPr>
          <p:nvPr>
            <p:ph idx="1"/>
          </p:nvPr>
        </p:nvSpPr>
        <p:spPr>
          <a:xfrm>
            <a:off x="285750" y="1556385"/>
            <a:ext cx="8401050" cy="193294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b="1" dirty="0"/>
              <a:t>5. 设</a:t>
            </a:r>
            <a:r>
              <a:rPr lang="en-US" altLang="zh-CN" b="1" dirty="0"/>
              <a:t>F</a:t>
            </a:r>
            <a:r>
              <a:rPr lang="zh-CN" altLang="en-US" b="1" dirty="0"/>
              <a:t>为属性集</a:t>
            </a:r>
            <a:r>
              <a:rPr lang="en-US" altLang="zh-CN" b="1" dirty="0"/>
              <a:t>U</a:t>
            </a:r>
            <a:r>
              <a:rPr lang="zh-CN" altLang="en-US" b="1" dirty="0"/>
              <a:t>上的一组函数依赖，</a:t>
            </a:r>
            <a:r>
              <a:rPr lang="en-US" altLang="zh-CN" b="1" dirty="0"/>
              <a:t>X U， XF+ ={ A| X→A</a:t>
            </a:r>
            <a:r>
              <a:rPr lang="zh-CN" altLang="en-US" b="1" dirty="0"/>
              <a:t>能由</a:t>
            </a:r>
            <a:r>
              <a:rPr lang="en-US" altLang="zh-CN" b="1" dirty="0"/>
              <a:t>F </a:t>
            </a:r>
            <a:r>
              <a:rPr lang="zh-CN" altLang="en-US" b="1" dirty="0"/>
              <a:t>根据</a:t>
            </a:r>
            <a:r>
              <a:rPr lang="en-US" altLang="zh-CN" b="1" dirty="0"/>
              <a:t>Armstrong</a:t>
            </a:r>
            <a:r>
              <a:rPr lang="zh-CN" altLang="en-US" b="1" dirty="0"/>
              <a:t>公理导出}，</a:t>
            </a:r>
            <a:r>
              <a:rPr lang="en-US" altLang="zh-CN" b="1" dirty="0"/>
              <a:t>XF+  </a:t>
            </a:r>
            <a:r>
              <a:rPr lang="zh-CN" altLang="en-US" b="1" dirty="0"/>
              <a:t>称为属性集</a:t>
            </a:r>
            <a:r>
              <a:rPr lang="en-US" altLang="zh-CN" b="1" dirty="0"/>
              <a:t>X</a:t>
            </a:r>
            <a:r>
              <a:rPr lang="zh-CN" altLang="en-US" b="1" dirty="0"/>
              <a:t>关数于函依赖集</a:t>
            </a:r>
            <a:r>
              <a:rPr lang="en-US" altLang="zh-CN" b="1" dirty="0"/>
              <a:t>F </a:t>
            </a:r>
            <a:r>
              <a:rPr lang="zh-CN" altLang="en-US" b="1" dirty="0"/>
              <a:t>的闭包。</a:t>
            </a:r>
            <a:r>
              <a:rPr lang="zh-CN" altLang="en-US" sz="3200" b="1" dirty="0"/>
              <a:t>设关系</a:t>
            </a:r>
            <a:r>
              <a:rPr lang="en-US" altLang="zh-CN" sz="3200" b="1" dirty="0"/>
              <a:t>R(A,B,C,D)</a:t>
            </a:r>
            <a:r>
              <a:rPr lang="zh-CN" altLang="en-US" sz="3200" b="1" dirty="0"/>
              <a:t>有函数依赖集 </a:t>
            </a:r>
            <a:r>
              <a:rPr lang="en-US" altLang="zh-CN" sz="3200" b="1" dirty="0"/>
              <a:t>F={A→B,BC→D}，</a:t>
            </a:r>
            <a:r>
              <a:rPr lang="zh-CN" altLang="en-US" sz="3200" b="1" dirty="0"/>
              <a:t>则</a:t>
            </a:r>
            <a:r>
              <a:rPr lang="en-US" altLang="zh-CN" sz="3200" b="1" dirty="0"/>
              <a:t>AC</a:t>
            </a:r>
            <a:r>
              <a:rPr lang="zh-CN" altLang="en-US" sz="3200" b="1" dirty="0"/>
              <a:t>关于函数依赖集</a:t>
            </a:r>
            <a:r>
              <a:rPr lang="en-US" altLang="zh-CN" sz="3200" b="1" dirty="0"/>
              <a:t>F</a:t>
            </a:r>
            <a:r>
              <a:rPr lang="zh-CN" altLang="en-US" sz="3200" b="1" dirty="0"/>
              <a:t>的闭包（</a:t>
            </a:r>
            <a:r>
              <a:rPr lang="en-US" altLang="zh-CN" sz="3200" b="1" dirty="0"/>
              <a:t>AC）</a:t>
            </a:r>
            <a:r>
              <a:rPr lang="en-US" altLang="zh-CN" sz="3200" b="1" baseline="-25000" dirty="0"/>
              <a:t>F</a:t>
            </a:r>
            <a:r>
              <a:rPr lang="en-US" altLang="zh-CN" sz="3200" b="1" dirty="0"/>
              <a:t>+</a:t>
            </a:r>
            <a:r>
              <a:rPr lang="zh-CN" altLang="en-US" sz="3200" b="1" dirty="0"/>
              <a:t>为 </a:t>
            </a:r>
            <a:r>
              <a:rPr lang="en-US" altLang="zh-CN" sz="3200" b="1" dirty="0"/>
              <a:t>?</a:t>
            </a:r>
            <a:r>
              <a:rPr lang="zh-CN" altLang="en-US" sz="3200" b="1" dirty="0"/>
              <a:t>  。</a:t>
            </a:r>
            <a:endParaRPr lang="zh-CN" altLang="en-US" sz="32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301625" y="4509135"/>
            <a:ext cx="8681720" cy="1957070"/>
          </a:xfrm>
          <a:prstGeom prst="rect">
            <a:avLst/>
          </a:prstGeom>
        </p:spPr>
        <p:txBody>
          <a:bodyPr>
            <a:noAutofit/>
          </a:bodyPr>
          <a:p>
            <a:pPr marL="0" indent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en-US" altLang="zh-CN" sz="2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</a:t>
            </a:r>
            <a:r>
              <a:rPr lang="en-US" altLang="zh-CN" sz="2800" dirty="0">
                <a:sym typeface="+mn-ea"/>
              </a:rPr>
              <a:t>→</a:t>
            </a:r>
            <a:r>
              <a:rPr lang="en-US" altLang="zh-CN" sz="2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{A,C}----</a:t>
            </a:r>
            <a:r>
              <a:rPr lang="zh-CN" altLang="en-US" sz="2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找</a:t>
            </a:r>
            <a:r>
              <a:rPr lang="en-US" altLang="zh-CN" sz="2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{A,C}</a:t>
            </a:r>
            <a:r>
              <a:rPr lang="zh-CN" altLang="en-US" sz="2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的子集依赖</a:t>
            </a:r>
            <a:r>
              <a:rPr lang="en-US" altLang="zh-CN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----</a:t>
            </a:r>
            <a:r>
              <a:rPr lang="zh-CN" altLang="en-US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也就是找</a:t>
            </a:r>
            <a:r>
              <a:rPr lang="en-US" altLang="zh-CN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zh-CN" altLang="en-US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</a:t>
            </a:r>
            <a:r>
              <a:rPr lang="zh-CN" altLang="en-US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的依赖,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题目有：A→B：所以把 B加进{A,C}得到：AC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{A,B,C}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 </a:t>
            </a:r>
            <a:r>
              <a:rPr lang="en-US" altLang="zh-CN" sz="2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AC</a:t>
            </a:r>
            <a:r>
              <a:rPr lang="en-US" altLang="zh-CN" sz="2800" dirty="0">
                <a:sym typeface="+mn-ea"/>
              </a:rPr>
              <a:t>→</a:t>
            </a:r>
            <a:r>
              <a:rPr lang="en-US" altLang="zh-CN" sz="2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{A,B,C}</a:t>
            </a:r>
            <a:r>
              <a:rPr lang="en-US" altLang="zh-CN" sz="2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----</a:t>
            </a:r>
            <a:r>
              <a:rPr lang="zh-CN" altLang="en-US" sz="2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找</a:t>
            </a:r>
            <a:r>
              <a:rPr lang="en-US" altLang="zh-CN" sz="2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{A,B,C}</a:t>
            </a:r>
            <a:r>
              <a:rPr lang="zh-CN" altLang="en-US" sz="28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的子集依赖</a:t>
            </a:r>
            <a:r>
              <a:rPr lang="en-US" altLang="zh-CN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----</a:t>
            </a:r>
            <a:r>
              <a:rPr lang="zh-CN" altLang="en-US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也就是找</a:t>
            </a:r>
            <a:r>
              <a:rPr lang="en-US" altLang="zh-CN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A、B、C，{A,B}、{A,C}、{B,C}，{A,B,C}</a:t>
            </a:r>
            <a:endParaRPr lang="en-US" altLang="zh-CN" sz="24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sz="3200" dirty="0">
                <a:latin typeface="Franklin Gothic Medium" panose="020B0603020102020204" charset="0"/>
                <a:ea typeface="微软雅黑" panose="020B0503020204020204" charset="-122"/>
              </a:rPr>
              <a:t>4. Armstrong</a:t>
            </a:r>
            <a:r>
              <a:rPr lang="zh-CN" altLang="en-US" sz="3200" dirty="0">
                <a:latin typeface="Franklin Gothic Medium" panose="020B0603020102020204" charset="0"/>
                <a:ea typeface="微软雅黑" panose="020B0503020204020204" charset="-122"/>
              </a:rPr>
              <a:t>公理系统的有效性与完备性</a:t>
            </a:r>
            <a:endParaRPr lang="zh-CN" altLang="en-US" sz="3200" dirty="0">
              <a:latin typeface="Franklin Gothic Medium" panose="020B0603020102020204" charset="0"/>
              <a:ea typeface="微软雅黑" panose="020B0503020204020204" charset="-122"/>
            </a:endParaRPr>
          </a:p>
        </p:txBody>
      </p:sp>
      <p:sp>
        <p:nvSpPr>
          <p:cNvPr id="147459" name="Rectangle 3"/>
          <p:cNvSpPr>
            <a:spLocks noGrp="1" noChangeArrowheads="1"/>
          </p:cNvSpPr>
          <p:nvPr>
            <p:ph idx="1"/>
          </p:nvPr>
        </p:nvSpPr>
        <p:spPr>
          <a:xfrm>
            <a:off x="323215" y="1556385"/>
            <a:ext cx="8401050" cy="220916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b="1" dirty="0"/>
              <a:t>设</a:t>
            </a:r>
            <a:r>
              <a:rPr lang="en-US" altLang="zh-CN" b="1" dirty="0"/>
              <a:t>F</a:t>
            </a:r>
            <a:r>
              <a:rPr lang="zh-CN" altLang="en-US" b="1" dirty="0"/>
              <a:t>为属性集</a:t>
            </a:r>
            <a:r>
              <a:rPr lang="en-US" altLang="zh-CN" b="1" dirty="0"/>
              <a:t>U</a:t>
            </a:r>
            <a:r>
              <a:rPr lang="zh-CN" altLang="en-US" b="1" dirty="0"/>
              <a:t>上的一组函数依赖，</a:t>
            </a:r>
            <a:r>
              <a:rPr lang="en-US" altLang="zh-CN" b="1" dirty="0"/>
              <a:t>X U， XF+ ={ A| X→A</a:t>
            </a:r>
            <a:r>
              <a:rPr lang="zh-CN" altLang="en-US" b="1" dirty="0"/>
              <a:t>能由</a:t>
            </a:r>
            <a:r>
              <a:rPr lang="en-US" altLang="zh-CN" b="1" dirty="0"/>
              <a:t>F </a:t>
            </a:r>
            <a:r>
              <a:rPr lang="zh-CN" altLang="en-US" b="1" dirty="0"/>
              <a:t>根据</a:t>
            </a:r>
            <a:r>
              <a:rPr lang="en-US" altLang="zh-CN" b="1" dirty="0"/>
              <a:t>Armstrong</a:t>
            </a:r>
            <a:r>
              <a:rPr lang="zh-CN" altLang="en-US" b="1" dirty="0"/>
              <a:t>公理导出}，</a:t>
            </a:r>
            <a:r>
              <a:rPr lang="en-US" altLang="zh-CN" b="1" dirty="0"/>
              <a:t>XF+  </a:t>
            </a:r>
            <a:r>
              <a:rPr lang="zh-CN" altLang="en-US" b="1" dirty="0"/>
              <a:t>称为属性集</a:t>
            </a:r>
            <a:r>
              <a:rPr lang="en-US" altLang="zh-CN" b="1" dirty="0"/>
              <a:t>X</a:t>
            </a:r>
            <a:r>
              <a:rPr lang="zh-CN" altLang="en-US" b="1" dirty="0"/>
              <a:t>关数于函依赖集</a:t>
            </a:r>
            <a:r>
              <a:rPr lang="en-US" altLang="zh-CN" b="1" dirty="0"/>
              <a:t>F </a:t>
            </a:r>
            <a:r>
              <a:rPr lang="zh-CN" altLang="en-US" b="1" dirty="0"/>
              <a:t>的闭包。</a:t>
            </a:r>
            <a:r>
              <a:rPr lang="zh-CN" altLang="en-US" sz="3200" b="1" dirty="0"/>
              <a:t>设关系</a:t>
            </a:r>
            <a:r>
              <a:rPr lang="en-US" altLang="zh-CN" sz="3200" b="1" dirty="0"/>
              <a:t>R(A,B,C,D)</a:t>
            </a:r>
            <a:r>
              <a:rPr lang="zh-CN" altLang="en-US" sz="3200" b="1" dirty="0"/>
              <a:t>有函数依赖集 </a:t>
            </a:r>
            <a:r>
              <a:rPr lang="en-US" altLang="zh-CN" sz="3200" b="1" dirty="0"/>
              <a:t>F={A→B,BC→D}，</a:t>
            </a:r>
            <a:r>
              <a:rPr lang="zh-CN" altLang="en-US" sz="3200" b="1" dirty="0"/>
              <a:t>则</a:t>
            </a:r>
            <a:r>
              <a:rPr lang="en-US" altLang="zh-CN" sz="3200" b="1" dirty="0"/>
              <a:t>AB</a:t>
            </a:r>
            <a:r>
              <a:rPr lang="zh-CN" altLang="en-US" sz="3200" b="1" dirty="0"/>
              <a:t>关于函数依赖集</a:t>
            </a:r>
            <a:r>
              <a:rPr lang="en-US" altLang="zh-CN" sz="3200" b="1" dirty="0"/>
              <a:t>F</a:t>
            </a:r>
            <a:r>
              <a:rPr lang="zh-CN" altLang="en-US" sz="3200" b="1" dirty="0"/>
              <a:t>的闭包（</a:t>
            </a:r>
            <a:r>
              <a:rPr lang="en-US" altLang="zh-CN" sz="3200" b="1" dirty="0"/>
              <a:t>AB）</a:t>
            </a:r>
            <a:r>
              <a:rPr lang="en-US" altLang="zh-CN" sz="3200" b="1" baseline="-25000" dirty="0"/>
              <a:t>F</a:t>
            </a:r>
            <a:r>
              <a:rPr lang="en-US" altLang="zh-CN" sz="3200" b="1" dirty="0"/>
              <a:t>+</a:t>
            </a:r>
            <a:r>
              <a:rPr lang="zh-CN" altLang="en-US" sz="3200" b="1" dirty="0"/>
              <a:t>为</a:t>
            </a:r>
            <a:r>
              <a:rPr lang="en-US" altLang="zh-CN" sz="3200" b="1" dirty="0"/>
              <a:t>?</a:t>
            </a:r>
            <a:r>
              <a:rPr lang="zh-CN" altLang="en-US" sz="3200" b="1" dirty="0"/>
              <a:t>  </a:t>
            </a:r>
            <a:r>
              <a:rPr lang="zh-CN" altLang="en-US" sz="3200" dirty="0"/>
              <a:t>  。</a:t>
            </a:r>
            <a:endParaRPr lang="zh-CN" altLang="en-US" sz="3200" dirty="0"/>
          </a:p>
        </p:txBody>
      </p:sp>
      <p:sp>
        <p:nvSpPr>
          <p:cNvPr id="2" name="文本框 1"/>
          <p:cNvSpPr txBox="1"/>
          <p:nvPr/>
        </p:nvSpPr>
        <p:spPr>
          <a:xfrm>
            <a:off x="1619885" y="4796790"/>
            <a:ext cx="64897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(AB) </a:t>
            </a:r>
            <a:r>
              <a:rPr lang="en-US" altLang="zh-CN" sz="3200" b="1" baseline="-2500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</a:t>
            </a:r>
            <a:r>
              <a:rPr lang="en-US" altLang="zh-CN" sz="32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+={A,B}</a:t>
            </a:r>
            <a:endParaRPr lang="en-US" altLang="zh-CN" sz="32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32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这就说明，在这个规则下，</a:t>
            </a:r>
            <a:r>
              <a:rPr lang="en-US" altLang="zh-CN" sz="32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AB </a:t>
            </a:r>
            <a:r>
              <a:rPr lang="zh-CN" altLang="en-US" sz="32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根本不是候选码，它只能决定自己。</a:t>
            </a:r>
            <a:endParaRPr lang="zh-CN" altLang="en-US" sz="32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sz="3200" dirty="0">
                <a:latin typeface="Franklin Gothic Medium" panose="020B0603020102020204" charset="0"/>
                <a:ea typeface="微软雅黑" panose="020B0503020204020204" charset="-122"/>
              </a:rPr>
              <a:t>4. Armstrong</a:t>
            </a:r>
            <a:r>
              <a:rPr lang="zh-CN" altLang="en-US" sz="3200" dirty="0">
                <a:latin typeface="Franklin Gothic Medium" panose="020B0603020102020204" charset="0"/>
                <a:ea typeface="微软雅黑" panose="020B0503020204020204" charset="-122"/>
              </a:rPr>
              <a:t>公理系统的有效性与完备性</a:t>
            </a:r>
            <a:endParaRPr lang="zh-CN" altLang="en-US" sz="3200" dirty="0">
              <a:latin typeface="Franklin Gothic Medium" panose="020B0603020102020204" charset="0"/>
              <a:ea typeface="微软雅黑" panose="020B0503020204020204" charset="-122"/>
            </a:endParaRPr>
          </a:p>
        </p:txBody>
      </p:sp>
      <p:sp>
        <p:nvSpPr>
          <p:cNvPr id="147459" name="Rectangle 3"/>
          <p:cNvSpPr>
            <a:spLocks noGrp="1" noChangeArrowheads="1"/>
          </p:cNvSpPr>
          <p:nvPr>
            <p:ph idx="1"/>
          </p:nvPr>
        </p:nvSpPr>
        <p:spPr>
          <a:xfrm>
            <a:off x="323215" y="1556385"/>
            <a:ext cx="8401050" cy="220916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4000" b="1" dirty="0"/>
              <a:t>属性集：</a:t>
            </a:r>
            <a:r>
              <a:rPr lang="en-US" altLang="zh-CN" sz="4000" b="1" dirty="0"/>
              <a:t>U={A,B,C,D,E}</a:t>
            </a:r>
            <a:endParaRPr lang="en-US" altLang="zh-CN" sz="4000" b="1" dirty="0"/>
          </a:p>
          <a:p>
            <a:pPr eaLnBrk="1" hangingPunct="1">
              <a:lnSpc>
                <a:spcPct val="90000"/>
              </a:lnSpc>
            </a:pPr>
            <a:r>
              <a:rPr lang="zh-CN" altLang="en-US" sz="4000" b="1" dirty="0"/>
              <a:t>函数依赖：</a:t>
            </a:r>
            <a:r>
              <a:rPr lang="en-US" altLang="zh-CN" sz="4000" b="1" dirty="0"/>
              <a:t>F={AB→C, A→D, B→E}</a:t>
            </a:r>
            <a:endParaRPr lang="en-US" altLang="zh-CN" sz="4000" b="1" dirty="0"/>
          </a:p>
          <a:p>
            <a:pPr eaLnBrk="1" hangingPunct="1">
              <a:lnSpc>
                <a:spcPct val="90000"/>
              </a:lnSpc>
            </a:pPr>
            <a:r>
              <a:rPr lang="zh-CN" altLang="en-US" sz="4000" b="1" dirty="0"/>
              <a:t>求：</a:t>
            </a:r>
            <a:r>
              <a:rPr lang="en-US" altLang="zh-CN" sz="4000" b="1" dirty="0"/>
              <a:t>(AB)</a:t>
            </a:r>
            <a:r>
              <a:rPr lang="en-US" altLang="zh-CN" sz="4000" b="1" baseline="-25000" dirty="0"/>
              <a:t> F</a:t>
            </a:r>
            <a:r>
              <a:rPr lang="en-US" altLang="zh-CN" sz="4000" b="1" dirty="0"/>
              <a:t>+</a:t>
            </a:r>
            <a:r>
              <a:rPr lang="en-US" altLang="zh-CN" dirty="0"/>
              <a:t>​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endParaRPr lang="en-US" alt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1403985" y="4149090"/>
            <a:ext cx="64897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(AB) </a:t>
            </a:r>
            <a:r>
              <a:rPr lang="en-US" altLang="zh-CN" sz="3200" b="1" baseline="-2500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</a:t>
            </a:r>
            <a:r>
              <a:rPr lang="en-US" altLang="zh-CN" sz="32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+={A,B,C,D,E}</a:t>
            </a:r>
            <a:endParaRPr lang="en-US" altLang="zh-CN" sz="32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sz="3200" dirty="0">
                <a:latin typeface="Franklin Gothic Medium" panose="020B0603020102020204" charset="0"/>
                <a:ea typeface="微软雅黑" panose="020B0503020204020204" charset="-122"/>
              </a:rPr>
              <a:t>4. Armstrong</a:t>
            </a:r>
            <a:r>
              <a:rPr lang="zh-CN" altLang="en-US" sz="3200" dirty="0">
                <a:latin typeface="Franklin Gothic Medium" panose="020B0603020102020204" charset="0"/>
                <a:ea typeface="微软雅黑" panose="020B0503020204020204" charset="-122"/>
              </a:rPr>
              <a:t>公理系统的有效性与完备性</a:t>
            </a:r>
            <a:endParaRPr lang="zh-CN" altLang="en-US" sz="3200" dirty="0">
              <a:latin typeface="Franklin Gothic Medium" panose="020B0603020102020204" charset="0"/>
              <a:ea typeface="微软雅黑" panose="020B0503020204020204" charset="-122"/>
            </a:endParaRPr>
          </a:p>
        </p:txBody>
      </p:sp>
      <p:sp>
        <p:nvSpPr>
          <p:cNvPr id="147459" name="Rectangle 3"/>
          <p:cNvSpPr>
            <a:spLocks noGrp="1" noChangeArrowheads="1"/>
          </p:cNvSpPr>
          <p:nvPr>
            <p:ph idx="1"/>
          </p:nvPr>
        </p:nvSpPr>
        <p:spPr>
          <a:xfrm>
            <a:off x="323215" y="1556385"/>
            <a:ext cx="8401050" cy="220916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4000" b="1" dirty="0"/>
              <a:t>属性集：</a:t>
            </a:r>
            <a:r>
              <a:rPr lang="en-US" altLang="zh-CN" sz="4000" b="1" dirty="0"/>
              <a:t>R(A, B, C, D, E, G)</a:t>
            </a:r>
            <a:endParaRPr lang="en-US" altLang="zh-CN" sz="4000" b="1" dirty="0"/>
          </a:p>
          <a:p>
            <a:pPr eaLnBrk="1" hangingPunct="1">
              <a:lnSpc>
                <a:spcPct val="90000"/>
              </a:lnSpc>
            </a:pPr>
            <a:r>
              <a:rPr lang="zh-CN" altLang="en-US" sz="4000" b="1" dirty="0"/>
              <a:t>函数依赖：</a:t>
            </a:r>
            <a:r>
              <a:rPr lang="en-US" altLang="zh-CN" sz="4000" b="1" dirty="0"/>
              <a:t>A → B,B → C,C → D,AD → E,E → G,G → A</a:t>
            </a:r>
            <a:endParaRPr lang="en-US" altLang="zh-CN" sz="4000" b="1" dirty="0"/>
          </a:p>
          <a:p>
            <a:pPr eaLnBrk="1" hangingPunct="1">
              <a:lnSpc>
                <a:spcPct val="90000"/>
              </a:lnSpc>
            </a:pPr>
            <a:r>
              <a:rPr lang="zh-CN" altLang="en-US" sz="4000" b="1" dirty="0"/>
              <a:t>求：</a:t>
            </a:r>
            <a:endParaRPr lang="zh-CN" altLang="en-US" sz="4000" b="1" dirty="0"/>
          </a:p>
          <a:p>
            <a:pPr eaLnBrk="1" hangingPunct="1">
              <a:lnSpc>
                <a:spcPct val="90000"/>
              </a:lnSpc>
            </a:pPr>
            <a:r>
              <a:rPr lang="en-US" altLang="zh-CN" b="1" dirty="0"/>
              <a:t>A⁺</a:t>
            </a:r>
            <a:endParaRPr lang="en-US" altLang="zh-CN" b="1" dirty="0"/>
          </a:p>
          <a:p>
            <a:pPr eaLnBrk="1" hangingPunct="1">
              <a:lnSpc>
                <a:spcPct val="90000"/>
              </a:lnSpc>
            </a:pPr>
            <a:r>
              <a:rPr lang="en-US" altLang="zh-CN" b="1" dirty="0"/>
              <a:t>D⁺</a:t>
            </a:r>
            <a:endParaRPr lang="en-US" altLang="zh-CN" b="1" dirty="0"/>
          </a:p>
          <a:p>
            <a:pPr eaLnBrk="1" hangingPunct="1">
              <a:lnSpc>
                <a:spcPct val="90000"/>
              </a:lnSpc>
            </a:pPr>
            <a:r>
              <a:rPr lang="en-US" altLang="zh-CN" b="1" dirty="0"/>
              <a:t>(BD)⁺</a:t>
            </a:r>
            <a:endParaRPr lang="en-US" altLang="zh-CN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2045" y="3860800"/>
            <a:ext cx="4118610" cy="2607945"/>
          </a:xfrm>
          <a:prstGeom prst="rect">
            <a:avLst/>
          </a:prstGeom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题目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20" y="823913"/>
            <a:ext cx="8401080" cy="3640931"/>
          </a:xfrm>
        </p:spPr>
        <p:txBody>
          <a:bodyPr/>
          <a:p>
            <a:pPr marL="0" indent="0">
              <a:buNone/>
            </a:pPr>
            <a:r>
              <a:rPr lang="zh-CN" altLang="en-US" sz="4000"/>
              <a:t>关系模式：</a:t>
            </a:r>
            <a:r>
              <a:rPr lang="en-US" altLang="zh-CN" sz="4000"/>
              <a:t>R(Sno, Cno, Tno)</a:t>
            </a:r>
            <a:endParaRPr lang="en-US" altLang="zh-CN" sz="4000"/>
          </a:p>
          <a:p>
            <a:r>
              <a:rPr lang="zh-CN" altLang="en-US" sz="4000"/>
              <a:t>语义：</a:t>
            </a:r>
            <a:endParaRPr lang="en-US" altLang="zh-CN" sz="4000"/>
          </a:p>
          <a:p>
            <a:r>
              <a:rPr lang="zh-CN" altLang="en-US" sz="4000"/>
              <a:t>一个学生</a:t>
            </a:r>
            <a:r>
              <a:rPr lang="en-US" altLang="zh-CN" sz="4000">
                <a:sym typeface="+mn-ea"/>
              </a:rPr>
              <a:t>Sno</a:t>
            </a:r>
            <a:r>
              <a:rPr lang="zh-CN" altLang="en-US" sz="4000"/>
              <a:t>可以选多门课程</a:t>
            </a:r>
            <a:r>
              <a:rPr lang="en-US" altLang="zh-CN" sz="4000">
                <a:sym typeface="+mn-ea"/>
              </a:rPr>
              <a:t>Cno</a:t>
            </a:r>
            <a:endParaRPr lang="zh-CN" altLang="en-US" sz="4000"/>
          </a:p>
          <a:p>
            <a:r>
              <a:rPr lang="zh-CN" altLang="en-US" sz="4000"/>
              <a:t>每门课程</a:t>
            </a:r>
            <a:r>
              <a:rPr lang="en-US" altLang="zh-CN" sz="4000">
                <a:sym typeface="+mn-ea"/>
              </a:rPr>
              <a:t>Cno</a:t>
            </a:r>
            <a:r>
              <a:rPr lang="zh-CN" altLang="en-US" sz="4000"/>
              <a:t>由唯一教师</a:t>
            </a:r>
            <a:r>
              <a:rPr lang="en-US" altLang="zh-CN" sz="4000">
                <a:sym typeface="+mn-ea"/>
              </a:rPr>
              <a:t>Tno</a:t>
            </a:r>
            <a:r>
              <a:rPr lang="zh-CN" altLang="en-US" sz="4000"/>
              <a:t>授课</a:t>
            </a:r>
            <a:endParaRPr lang="zh-CN" altLang="en-US" sz="4000"/>
          </a:p>
          <a:p>
            <a:r>
              <a:rPr lang="zh-CN" altLang="en-US" sz="4000"/>
              <a:t>一个教师</a:t>
            </a:r>
            <a:r>
              <a:rPr lang="en-US" altLang="zh-CN" sz="4000">
                <a:sym typeface="+mn-ea"/>
              </a:rPr>
              <a:t>Tno</a:t>
            </a:r>
            <a:r>
              <a:rPr lang="zh-CN" altLang="en-US" sz="4000"/>
              <a:t>可以教多门课程</a:t>
            </a:r>
            <a:r>
              <a:rPr lang="en-US" altLang="zh-CN" sz="4000">
                <a:sym typeface="+mn-ea"/>
              </a:rPr>
              <a:t>Cno</a:t>
            </a:r>
            <a:endParaRPr lang="en-US" altLang="zh-CN" sz="4000">
              <a:sym typeface="+mn-ea"/>
            </a:endParaRPr>
          </a:p>
          <a:p>
            <a:endParaRPr lang="zh-CN" altLang="en-US"/>
          </a:p>
          <a:p>
            <a:r>
              <a:rPr lang="zh-CN" altLang="en-US">
                <a:solidFill>
                  <a:srgbClr val="7030A0"/>
                </a:solidFill>
                <a:sym typeface="+mn-ea"/>
              </a:rPr>
              <a:t>问：</a:t>
            </a:r>
            <a:r>
              <a:rPr lang="en-US" altLang="zh-CN">
                <a:solidFill>
                  <a:srgbClr val="7030A0"/>
                </a:solidFill>
                <a:sym typeface="+mn-ea"/>
              </a:rPr>
              <a:t>1</a:t>
            </a:r>
            <a:r>
              <a:rPr lang="zh-CN" altLang="en-US">
                <a:solidFill>
                  <a:srgbClr val="7030A0"/>
                </a:solidFill>
                <a:sym typeface="+mn-ea"/>
              </a:rPr>
              <a:t>写出基本函数依赖，</a:t>
            </a:r>
            <a:r>
              <a:rPr lang="en-US" altLang="zh-CN">
                <a:solidFill>
                  <a:srgbClr val="7030A0"/>
                </a:solidFill>
                <a:sym typeface="+mn-ea"/>
              </a:rPr>
              <a:t>2</a:t>
            </a:r>
            <a:r>
              <a:rPr lang="zh-CN" altLang="en-US">
                <a:solidFill>
                  <a:srgbClr val="7030A0"/>
                </a:solidFill>
                <a:sym typeface="+mn-ea"/>
              </a:rPr>
              <a:t>候选码，</a:t>
            </a:r>
            <a:r>
              <a:rPr lang="en-US" altLang="zh-CN">
                <a:solidFill>
                  <a:srgbClr val="7030A0"/>
                </a:solidFill>
                <a:sym typeface="+mn-ea"/>
              </a:rPr>
              <a:t>3</a:t>
            </a:r>
            <a:r>
              <a:rPr lang="zh-CN" altLang="en-US">
                <a:solidFill>
                  <a:srgbClr val="7030A0"/>
                </a:solidFill>
                <a:sym typeface="+mn-ea"/>
              </a:rPr>
              <a:t>最高第几范式，为什么？</a:t>
            </a:r>
            <a:endParaRPr lang="zh-CN" altLang="en-US">
              <a:solidFill>
                <a:srgbClr val="7030A0"/>
              </a:solidFill>
            </a:endParaRPr>
          </a:p>
          <a:p>
            <a:endParaRPr lang="zh-CN" altLang="en-US"/>
          </a:p>
        </p:txBody>
      </p:sp>
    </p:spTree>
  </p:cSld>
  <p:clrMapOvr>
    <a:masterClrMapping/>
  </p:clrMapOvr>
  <p:transition spd="slow">
    <p:wipe dir="d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题目</a:t>
            </a:r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560" y="764540"/>
            <a:ext cx="9022080" cy="3641090"/>
          </a:xfrm>
        </p:spPr>
        <p:txBody>
          <a:bodyPr/>
          <a:p>
            <a:r>
              <a:rPr lang="zh-CN" altLang="en-US">
                <a:solidFill>
                  <a:schemeClr val="tx1"/>
                </a:solidFill>
              </a:rPr>
              <a:t>某学校数据库包含以下对象：学号、班级号、课程号、成绩、班主任，学号用</a:t>
            </a:r>
            <a:r>
              <a:rPr lang="en-US" altLang="zh-CN">
                <a:solidFill>
                  <a:schemeClr val="tx1"/>
                </a:solidFill>
              </a:rPr>
              <a:t>Sno</a:t>
            </a:r>
            <a:r>
              <a:rPr lang="zh-CN" altLang="en-US">
                <a:solidFill>
                  <a:schemeClr val="tx1"/>
                </a:solidFill>
              </a:rPr>
              <a:t>描述，班级号用</a:t>
            </a:r>
            <a:r>
              <a:rPr lang="en-US" altLang="zh-CN">
                <a:solidFill>
                  <a:schemeClr val="tx1"/>
                </a:solidFill>
              </a:rPr>
              <a:t>Class</a:t>
            </a:r>
            <a:r>
              <a:rPr lang="zh-CN" altLang="en-US">
                <a:solidFill>
                  <a:schemeClr val="tx1"/>
                </a:solidFill>
              </a:rPr>
              <a:t>描述，课程号用</a:t>
            </a:r>
            <a:r>
              <a:rPr lang="en-US" altLang="zh-CN">
                <a:solidFill>
                  <a:schemeClr val="tx1"/>
                </a:solidFill>
              </a:rPr>
              <a:t>Cno</a:t>
            </a:r>
            <a:r>
              <a:rPr lang="zh-CN" altLang="en-US">
                <a:solidFill>
                  <a:schemeClr val="tx1"/>
                </a:solidFill>
              </a:rPr>
              <a:t>描述，成绩用</a:t>
            </a:r>
            <a:r>
              <a:rPr lang="en-US" altLang="zh-CN">
                <a:solidFill>
                  <a:schemeClr val="tx1"/>
                </a:solidFill>
              </a:rPr>
              <a:t>Grade</a:t>
            </a:r>
            <a:r>
              <a:rPr lang="zh-CN" altLang="en-US">
                <a:solidFill>
                  <a:schemeClr val="tx1"/>
                </a:solidFill>
              </a:rPr>
              <a:t>描述，班主任用 </a:t>
            </a:r>
            <a:r>
              <a:rPr lang="en-US" altLang="zh-CN">
                <a:solidFill>
                  <a:schemeClr val="tx1"/>
                </a:solidFill>
              </a:rPr>
              <a:t>Tname</a:t>
            </a:r>
            <a:r>
              <a:rPr lang="zh-CN" altLang="en-US">
                <a:solidFill>
                  <a:schemeClr val="tx1"/>
                </a:solidFill>
              </a:rPr>
              <a:t>描述，现用一个单一的关系模式</a:t>
            </a:r>
            <a:r>
              <a:rPr lang="en-US" altLang="zh-CN">
                <a:solidFill>
                  <a:schemeClr val="tx1"/>
                </a:solidFill>
              </a:rPr>
              <a:t>School (Sno，Class，Cno，Grade，Tname) </a:t>
            </a:r>
            <a:r>
              <a:rPr lang="zh-CN" altLang="en-US">
                <a:solidFill>
                  <a:schemeClr val="tx1"/>
                </a:solidFill>
              </a:rPr>
              <a:t>来表示。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rgbClr val="7030A0"/>
                </a:solidFill>
              </a:rPr>
              <a:t>其语义为：</a:t>
            </a:r>
            <a:endParaRPr lang="zh-CN" altLang="en-US">
              <a:solidFill>
                <a:srgbClr val="7030A0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每个班级有多名学生，每名学生只属于唯一的一个班级；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每名学生可选修多门课程，每门课程也可被多名学生选修；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每名学生选修某一门课程有唯一的成绩；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每个班级只有一个班主任。 </a:t>
            </a: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sz="2400">
              <a:solidFill>
                <a:srgbClr val="7030A0"/>
              </a:solidFill>
            </a:endParaRPr>
          </a:p>
        </p:txBody>
      </p:sp>
    </p:spTree>
  </p:cSld>
  <p:clrMapOvr>
    <a:masterClrMapping/>
  </p:clrMapOvr>
  <p:transition spd="slow">
    <p:wipe dir="d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2065" y="750888"/>
            <a:ext cx="8401080" cy="3640931"/>
          </a:xfrm>
        </p:spPr>
        <p:txBody>
          <a:bodyPr/>
          <a:p>
            <a:r>
              <a:rPr lang="en-US" altLang="zh-CN" sz="3600"/>
              <a:t>（1）</a:t>
            </a:r>
            <a:endParaRPr lang="en-US" altLang="zh-CN" sz="3600"/>
          </a:p>
          <a:p>
            <a:r>
              <a:rPr lang="en-US" altLang="zh-CN" sz="3600"/>
              <a:t>Sno → Class；</a:t>
            </a:r>
            <a:endParaRPr lang="en-US" altLang="zh-CN" sz="3600"/>
          </a:p>
          <a:p>
            <a:r>
              <a:rPr lang="en-US" altLang="zh-CN" sz="3600"/>
              <a:t>(Sno, Cno) → Grade；</a:t>
            </a:r>
            <a:endParaRPr lang="en-US" altLang="zh-CN" sz="3600"/>
          </a:p>
          <a:p>
            <a:r>
              <a:rPr lang="en-US" altLang="zh-CN" sz="3600"/>
              <a:t>Class → Tname；</a:t>
            </a:r>
            <a:endParaRPr lang="en-US" altLang="zh-CN" sz="3600"/>
          </a:p>
          <a:p>
            <a:r>
              <a:rPr lang="en-US" altLang="zh-CN" sz="3600"/>
              <a:t>（2）(Sno, Cno)</a:t>
            </a:r>
            <a:endParaRPr lang="en-US" altLang="zh-CN" sz="3600"/>
          </a:p>
          <a:p>
            <a:r>
              <a:rPr lang="en-US" altLang="zh-CN" sz="3600"/>
              <a:t>（3）</a:t>
            </a:r>
            <a:r>
              <a:rPr lang="zh-CN" altLang="en-US" sz="3600"/>
              <a:t>第一范式（1</a:t>
            </a:r>
            <a:r>
              <a:rPr lang="en-US" altLang="zh-CN" sz="3600"/>
              <a:t>NF）；</a:t>
            </a:r>
            <a:endParaRPr lang="en-US" altLang="zh-CN" sz="3600"/>
          </a:p>
          <a:p>
            <a:r>
              <a:rPr lang="zh-CN" altLang="en-US" sz="3600"/>
              <a:t>因为存在非主属性对码的部分函数依赖，所以不属于2</a:t>
            </a:r>
            <a:r>
              <a:rPr lang="en-US" altLang="zh-CN" sz="3600"/>
              <a:t>NF。</a:t>
            </a:r>
            <a:endParaRPr lang="en-US" altLang="zh-CN" sz="3600"/>
          </a:p>
        </p:txBody>
      </p:sp>
    </p:spTree>
  </p:cSld>
  <p:clrMapOvr>
    <a:masterClrMapping/>
  </p:clrMapOvr>
  <p:transition spd="slow">
    <p:wipe dir="d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题目</a:t>
            </a:r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9525" y="836295"/>
            <a:ext cx="9189720" cy="3641090"/>
          </a:xfrm>
        </p:spPr>
        <p:txBody>
          <a:bodyPr/>
          <a:p>
            <a:r>
              <a:rPr lang="zh-CN" altLang="en-US" sz="2400">
                <a:solidFill>
                  <a:schemeClr val="tx1"/>
                </a:solidFill>
              </a:rPr>
              <a:t>某公司数据库包含以下对象：员工编号、部门编号、项目编号、工资、部门经理，员工编号用</a:t>
            </a:r>
            <a:r>
              <a:rPr lang="en-US" altLang="zh-CN" sz="2400">
                <a:solidFill>
                  <a:schemeClr val="tx1"/>
                </a:solidFill>
              </a:rPr>
              <a:t>Eno</a:t>
            </a:r>
            <a:r>
              <a:rPr lang="zh-CN" altLang="en-US" sz="2400">
                <a:solidFill>
                  <a:schemeClr val="tx1"/>
                </a:solidFill>
              </a:rPr>
              <a:t>描述，部门编号用</a:t>
            </a:r>
            <a:r>
              <a:rPr lang="en-US" altLang="zh-CN" sz="2400">
                <a:solidFill>
                  <a:schemeClr val="tx1"/>
                </a:solidFill>
              </a:rPr>
              <a:t>Deptno</a:t>
            </a:r>
            <a:r>
              <a:rPr lang="zh-CN" altLang="en-US" sz="2400">
                <a:solidFill>
                  <a:schemeClr val="tx1"/>
                </a:solidFill>
              </a:rPr>
              <a:t>描述，项目编号用</a:t>
            </a:r>
            <a:r>
              <a:rPr lang="en-US" altLang="zh-CN" sz="2400">
                <a:solidFill>
                  <a:schemeClr val="tx1"/>
                </a:solidFill>
              </a:rPr>
              <a:t>Pno</a:t>
            </a:r>
            <a:r>
              <a:rPr lang="zh-CN" altLang="en-US" sz="2400">
                <a:solidFill>
                  <a:schemeClr val="tx1"/>
                </a:solidFill>
              </a:rPr>
              <a:t>描述，工资用</a:t>
            </a:r>
            <a:r>
              <a:rPr lang="en-US" altLang="zh-CN" sz="2400">
                <a:solidFill>
                  <a:schemeClr val="tx1"/>
                </a:solidFill>
              </a:rPr>
              <a:t>Salary</a:t>
            </a:r>
            <a:r>
              <a:rPr lang="zh-CN" altLang="en-US" sz="2400">
                <a:solidFill>
                  <a:schemeClr val="tx1"/>
                </a:solidFill>
              </a:rPr>
              <a:t>描述，部门经理用</a:t>
            </a:r>
            <a:r>
              <a:rPr lang="en-US" altLang="zh-CN" sz="2400">
                <a:solidFill>
                  <a:schemeClr val="tx1"/>
                </a:solidFill>
              </a:rPr>
              <a:t>Mname</a:t>
            </a:r>
            <a:r>
              <a:rPr lang="zh-CN" altLang="en-US" sz="2400">
                <a:solidFill>
                  <a:schemeClr val="tx1"/>
                </a:solidFill>
              </a:rPr>
              <a:t>描述，现用一个单一的关系模式</a:t>
            </a:r>
            <a:r>
              <a:rPr lang="en-US" altLang="zh-CN" sz="2400">
                <a:solidFill>
                  <a:schemeClr val="tx1"/>
                </a:solidFill>
              </a:rPr>
              <a:t>Company (Eno，Deptno，Pno，Salary，Mname) </a:t>
            </a:r>
            <a:r>
              <a:rPr lang="zh-CN" altLang="en-US" sz="2400">
                <a:solidFill>
                  <a:schemeClr val="tx1"/>
                </a:solidFill>
              </a:rPr>
              <a:t>来表示。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zh-CN" altLang="en-US" sz="2400">
                <a:solidFill>
                  <a:srgbClr val="7030A0"/>
                </a:solidFill>
              </a:rPr>
              <a:t>其语义为：</a:t>
            </a:r>
            <a:endParaRPr lang="zh-CN" altLang="en-US" sz="2400">
              <a:solidFill>
                <a:srgbClr val="7030A0"/>
              </a:solidFill>
            </a:endParaRPr>
          </a:p>
          <a:p>
            <a:r>
              <a:rPr lang="zh-CN" altLang="en-US" sz="2400">
                <a:solidFill>
                  <a:schemeClr val="tx1"/>
                </a:solidFill>
              </a:rPr>
              <a:t>每个部门有多名员工，每名员工只属于唯一的一个部门；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zh-CN" altLang="en-US" sz="2400">
                <a:solidFill>
                  <a:schemeClr val="tx1"/>
                </a:solidFill>
              </a:rPr>
              <a:t>每名员工可参与多个项目，每个项目也可由多名员工参与；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zh-CN" altLang="en-US" sz="2400">
                <a:solidFill>
                  <a:schemeClr val="tx1"/>
                </a:solidFill>
              </a:rPr>
              <a:t>每名员工参与某一个项目有唯一的工资（假设按项目发工资）；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zh-CN" altLang="en-US" sz="2400">
                <a:solidFill>
                  <a:schemeClr val="tx1"/>
                </a:solidFill>
              </a:rPr>
              <a:t>每个部门只有一个部门经理。。</a:t>
            </a:r>
            <a:r>
              <a:rPr lang="zh-CN" altLang="en-US" sz="2400">
                <a:solidFill>
                  <a:schemeClr val="tx1"/>
                </a:solidFill>
              </a:rPr>
              <a:t> </a:t>
            </a:r>
            <a:endParaRPr lang="zh-CN" altLang="en-US" sz="240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sz="2400">
              <a:solidFill>
                <a:srgbClr val="7030A0"/>
              </a:solidFill>
            </a:endParaRPr>
          </a:p>
        </p:txBody>
      </p:sp>
    </p:spTree>
  </p:cSld>
  <p:clrMapOvr>
    <a:masterClrMapping/>
  </p:clrMapOvr>
  <p:transition spd="slow">
    <p:wipe dir="d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20" y="908368"/>
            <a:ext cx="8401080" cy="3640931"/>
          </a:xfrm>
        </p:spPr>
        <p:txBody>
          <a:bodyPr/>
          <a:p>
            <a:r>
              <a:rPr lang="en-US" altLang="zh-CN" sz="3200"/>
              <a:t>（1）</a:t>
            </a:r>
            <a:endParaRPr lang="en-US" altLang="zh-CN" sz="3200"/>
          </a:p>
          <a:p>
            <a:r>
              <a:rPr lang="en-US" altLang="zh-CN" sz="3200"/>
              <a:t>Eno → Deptno；</a:t>
            </a:r>
            <a:endParaRPr lang="en-US" altLang="zh-CN" sz="3200"/>
          </a:p>
          <a:p>
            <a:r>
              <a:rPr lang="en-US" altLang="zh-CN" sz="3200"/>
              <a:t>(Eno，Pno) → Salary；</a:t>
            </a:r>
            <a:endParaRPr lang="en-US" altLang="zh-CN" sz="3200"/>
          </a:p>
          <a:p>
            <a:r>
              <a:rPr lang="en-US" altLang="zh-CN" sz="3200"/>
              <a:t>Deptno → Mname；</a:t>
            </a:r>
            <a:endParaRPr lang="en-US" altLang="zh-CN" sz="3200"/>
          </a:p>
          <a:p>
            <a:r>
              <a:rPr lang="en-US" altLang="zh-CN" sz="3200"/>
              <a:t>（2）（Eno，Pno）</a:t>
            </a:r>
            <a:endParaRPr lang="en-US" altLang="zh-CN" sz="3200"/>
          </a:p>
          <a:p>
            <a:r>
              <a:rPr lang="en-US" altLang="zh-CN" sz="3200"/>
              <a:t>（3）</a:t>
            </a:r>
            <a:r>
              <a:rPr lang="zh-CN" altLang="en-US" sz="3200"/>
              <a:t>第一范式（1</a:t>
            </a:r>
            <a:r>
              <a:rPr lang="en-US" altLang="zh-CN" sz="3200"/>
              <a:t>NF）；</a:t>
            </a:r>
            <a:endParaRPr lang="en-US" altLang="zh-CN" sz="3200"/>
          </a:p>
          <a:p>
            <a:r>
              <a:rPr lang="zh-CN" altLang="en-US" sz="3200"/>
              <a:t>因为存在非主属性对码的部分函数依赖，所以不属于2</a:t>
            </a:r>
            <a:r>
              <a:rPr lang="en-US" altLang="zh-CN" sz="3200"/>
              <a:t>NF。</a:t>
            </a:r>
            <a:endParaRPr lang="en-US" altLang="zh-CN" sz="3200"/>
          </a:p>
        </p:txBody>
      </p:sp>
    </p:spTree>
  </p:cSld>
  <p:clrMapOvr>
    <a:masterClrMapping/>
  </p:clrMapOvr>
  <p:transition spd="slow">
    <p:wipe dir="d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题目</a:t>
            </a:r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705" y="836295"/>
            <a:ext cx="9040495" cy="3641090"/>
          </a:xfrm>
        </p:spPr>
        <p:txBody>
          <a:bodyPr/>
          <a:p>
            <a:pPr marL="0" indent="0">
              <a:buNone/>
            </a:pPr>
            <a:r>
              <a:rPr lang="en-US" altLang="zh-CN"/>
              <a:t>Clinic (PatientID, DoctorID, AppointmentTime, DoctorName, DeptName, DeptLocation)</a:t>
            </a:r>
            <a:endParaRPr lang="en-US" altLang="zh-CN"/>
          </a:p>
          <a:p>
            <a:r>
              <a:rPr lang="zh-CN" altLang="en-US"/>
              <a:t>其语义为：</a:t>
            </a:r>
            <a:endParaRPr lang="en-US" altLang="zh-CN"/>
          </a:p>
          <a:p>
            <a:r>
              <a:rPr lang="zh-CN" altLang="en-US"/>
              <a:t>每名医生（</a:t>
            </a:r>
            <a:r>
              <a:rPr lang="en-US" altLang="zh-CN"/>
              <a:t>DoctorID</a:t>
            </a:r>
            <a:r>
              <a:rPr lang="zh-CN" altLang="en-US"/>
              <a:t>）有唯一的姓名（</a:t>
            </a:r>
            <a:r>
              <a:rPr lang="en-US" altLang="zh-CN"/>
              <a:t>DoctorName</a:t>
            </a:r>
            <a:r>
              <a:rPr lang="zh-CN" altLang="en-US"/>
              <a:t>）。</a:t>
            </a:r>
            <a:endParaRPr lang="en-US" altLang="zh-CN"/>
          </a:p>
          <a:p>
            <a:r>
              <a:rPr lang="zh-CN" altLang="en-US"/>
              <a:t>每名医生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DoctorID</a:t>
            </a:r>
            <a:r>
              <a:rPr lang="zh-CN" altLang="en-US">
                <a:sym typeface="+mn-ea"/>
              </a:rPr>
              <a:t>）</a:t>
            </a:r>
            <a:r>
              <a:rPr lang="zh-CN" altLang="en-US"/>
              <a:t>只属于唯一的一个科室（</a:t>
            </a:r>
            <a:r>
              <a:rPr lang="en-US" altLang="zh-CN"/>
              <a:t>DeptName</a:t>
            </a:r>
            <a:r>
              <a:rPr lang="zh-CN" altLang="en-US"/>
              <a:t>）。</a:t>
            </a:r>
            <a:endParaRPr lang="en-US" altLang="zh-CN"/>
          </a:p>
          <a:p>
            <a:r>
              <a:rPr lang="zh-CN" altLang="en-US"/>
              <a:t>每个科室（</a:t>
            </a:r>
            <a:r>
              <a:rPr lang="en-US" altLang="zh-CN"/>
              <a:t>DeptName</a:t>
            </a:r>
            <a:r>
              <a:rPr lang="zh-CN" altLang="en-US"/>
              <a:t>）有唯一的办公地点（</a:t>
            </a:r>
            <a:r>
              <a:rPr lang="en-US" altLang="zh-CN"/>
              <a:t>DeptLocation</a:t>
            </a:r>
            <a:r>
              <a:rPr lang="zh-CN" altLang="en-US"/>
              <a:t>）。</a:t>
            </a:r>
            <a:endParaRPr lang="en-US" altLang="zh-CN"/>
          </a:p>
          <a:p>
            <a:r>
              <a:rPr lang="zh-CN" altLang="en-US"/>
              <a:t>患者（</a:t>
            </a:r>
            <a:r>
              <a:rPr lang="en-US" altLang="zh-CN"/>
              <a:t>PatientID</a:t>
            </a:r>
            <a:r>
              <a:rPr lang="zh-CN" altLang="en-US"/>
              <a:t>）在特定的预约时间（</a:t>
            </a:r>
            <a:r>
              <a:rPr lang="en-US" altLang="zh-CN"/>
              <a:t>AppointmentTime</a:t>
            </a:r>
            <a:r>
              <a:rPr lang="zh-CN" altLang="en-US"/>
              <a:t>）挂号，该时间段内由唯一的医生（</a:t>
            </a:r>
            <a:r>
              <a:rPr lang="en-US" altLang="zh-CN"/>
              <a:t>DoctorID</a:t>
            </a:r>
            <a:r>
              <a:rPr lang="zh-CN" altLang="en-US"/>
              <a:t>）看诊。</a:t>
            </a:r>
            <a:endParaRPr lang="en-US" altLang="zh-CN" sz="2400"/>
          </a:p>
        </p:txBody>
      </p:sp>
    </p:spTree>
  </p:cSld>
  <p:clrMapOvr>
    <a:masterClrMapping/>
  </p:clrMapOvr>
  <p:transition spd="slow">
    <p:wipe dir="d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3200"/>
              <a:t>DoctorID→DeptName DeptName→DeptLocation (PatientID,AppointmentTime)→DoctorID</a:t>
            </a:r>
            <a:endParaRPr lang="en-US" altLang="zh-CN" sz="3200"/>
          </a:p>
          <a:p>
            <a:r>
              <a:rPr lang="zh-CN" altLang="en-US" sz="4000"/>
              <a:t>满足 1</a:t>
            </a:r>
            <a:r>
              <a:rPr lang="en-US" altLang="zh-CN" sz="4000"/>
              <a:t>NF（</a:t>
            </a:r>
            <a:r>
              <a:rPr lang="zh-CN" altLang="en-US" sz="4000"/>
              <a:t>属性不可再分）</a:t>
            </a:r>
            <a:endParaRPr lang="zh-CN" altLang="en-US" sz="4000"/>
          </a:p>
          <a:p>
            <a:r>
              <a:rPr lang="zh-CN" altLang="en-US" sz="4000"/>
              <a:t>满足 2</a:t>
            </a:r>
            <a:r>
              <a:rPr lang="en-US" altLang="zh-CN" sz="4000"/>
              <a:t>NF（</a:t>
            </a:r>
            <a:r>
              <a:rPr lang="zh-CN" altLang="en-US" sz="4000"/>
              <a:t>不存在部分依赖）</a:t>
            </a:r>
            <a:endParaRPr lang="zh-CN" altLang="en-US" sz="4000"/>
          </a:p>
          <a:p>
            <a:r>
              <a:rPr lang="zh-CN" altLang="en-US" sz="4000"/>
              <a:t>不满足 3</a:t>
            </a:r>
            <a:r>
              <a:rPr lang="en-US" altLang="zh-CN" sz="4000"/>
              <a:t>NF（</a:t>
            </a:r>
            <a:r>
              <a:rPr lang="zh-CN" altLang="en-US" sz="4000"/>
              <a:t>存在传递依赖，如 </a:t>
            </a:r>
            <a:r>
              <a:rPr lang="en-US" altLang="zh-CN" sz="4000"/>
              <a:t>DoctorID → DoctorName）</a:t>
            </a:r>
            <a:endParaRPr lang="en-US" altLang="zh-CN" sz="4000"/>
          </a:p>
        </p:txBody>
      </p:sp>
    </p:spTree>
  </p:cSld>
  <p:clrMapOvr>
    <a:masterClrMapping/>
  </p:clrMapOvr>
  <p:transition spd="slow">
    <p:wipe dir="d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51460" y="116205"/>
            <a:ext cx="8712200" cy="71088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indent="266700" algn="just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zh-CN" sz="2400" b="1" kern="100" cap="none" spc="0" normalizeH="0" baseline="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某高校运动会管理系统数据库包含以下对象：运动员、所在系、比赛项目、成绩、比赛主管，运动员用</a:t>
            </a:r>
            <a:r>
              <a:rPr kumimoji="0" lang="en-US" altLang="zh-CN" sz="2400" b="1" kern="100" cap="none" spc="0" normalizeH="0" baseline="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Sno</a:t>
            </a:r>
            <a:r>
              <a:rPr kumimoji="0" lang="zh-CN" altLang="zh-CN" sz="2400" b="1" kern="100" cap="none" spc="0" normalizeH="0" baseline="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描述，所在系用</a:t>
            </a:r>
            <a:r>
              <a:rPr kumimoji="0" lang="en-US" altLang="zh-CN" sz="2400" b="1" kern="100" cap="none" spc="0" normalizeH="0" baseline="0" noProof="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Sdept</a:t>
            </a:r>
            <a:r>
              <a:rPr kumimoji="0" lang="zh-CN" altLang="zh-CN" sz="2400" b="1" kern="100" cap="none" spc="0" normalizeH="0" baseline="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来描述，比赛项目用</a:t>
            </a:r>
            <a:r>
              <a:rPr kumimoji="0" lang="en-US" altLang="zh-CN" sz="2400" b="1" kern="100" cap="none" spc="0" normalizeH="0" baseline="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Event</a:t>
            </a:r>
            <a:r>
              <a:rPr kumimoji="0" lang="zh-CN" altLang="zh-CN" sz="2400" b="1" kern="100" cap="none" spc="0" normalizeH="0" baseline="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描述，成绩用</a:t>
            </a:r>
            <a:r>
              <a:rPr kumimoji="0" lang="en-US" altLang="zh-CN" sz="2400" b="1" kern="100" cap="none" spc="0" normalizeH="0" baseline="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Grade</a:t>
            </a:r>
            <a:r>
              <a:rPr kumimoji="0" lang="zh-CN" altLang="zh-CN" sz="2400" b="1" kern="100" cap="none" spc="0" normalizeH="0" baseline="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描述，比赛主管用</a:t>
            </a:r>
            <a:r>
              <a:rPr kumimoji="0" lang="en-US" altLang="zh-CN" sz="2400" b="1" kern="100" cap="none" spc="0" normalizeH="0" baseline="0" noProof="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Tname</a:t>
            </a:r>
            <a:r>
              <a:rPr kumimoji="0" lang="zh-CN" altLang="zh-CN" sz="2400" b="1" kern="100" cap="none" spc="0" normalizeH="0" baseline="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描述。现用一个单一的关系模式</a:t>
            </a:r>
            <a:r>
              <a:rPr kumimoji="0" lang="en-US" altLang="zh-CN" sz="2400" b="1" kern="100" cap="none" spc="0" normalizeH="0" baseline="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Sports( Sno</a:t>
            </a:r>
            <a:r>
              <a:rPr kumimoji="0" lang="zh-CN" altLang="zh-CN" sz="2400" b="1" kern="100" cap="none" spc="0" normalizeH="0" baseline="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kumimoji="0" lang="en-US" altLang="zh-CN" sz="2400" b="1" kern="100" cap="none" spc="0" normalizeH="0" baseline="0" noProof="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Sdept</a:t>
            </a:r>
            <a:r>
              <a:rPr kumimoji="0" lang="zh-CN" altLang="zh-CN" sz="2400" b="1" kern="100" cap="none" spc="0" normalizeH="0" baseline="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kumimoji="0" lang="en-US" altLang="zh-CN" sz="2400" b="1" kern="100" cap="none" spc="0" normalizeH="0" baseline="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Event</a:t>
            </a:r>
            <a:r>
              <a:rPr kumimoji="0" lang="zh-CN" altLang="zh-CN" sz="2400" b="1" kern="100" cap="none" spc="0" normalizeH="0" baseline="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kumimoji="0" lang="en-US" altLang="zh-CN" sz="2400" b="1" kern="100" cap="none" spc="0" normalizeH="0" baseline="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Grade</a:t>
            </a:r>
            <a:r>
              <a:rPr kumimoji="0" lang="zh-CN" altLang="zh-CN" sz="2400" b="1" kern="100" cap="none" spc="0" normalizeH="0" baseline="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kumimoji="0" lang="en-US" altLang="zh-CN" sz="2400" b="1" kern="100" cap="none" spc="0" normalizeH="0" baseline="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kern="100" cap="none" spc="0" normalizeH="0" baseline="0" noProof="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Tname</a:t>
            </a:r>
            <a:r>
              <a:rPr kumimoji="0" lang="en-US" altLang="zh-CN" sz="2400" b="1" kern="100" cap="none" spc="0" normalizeH="0" baseline="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kumimoji="0" lang="zh-CN" altLang="zh-CN" sz="2400" b="1" kern="100" cap="none" spc="0" normalizeH="0" baseline="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来表示。</a:t>
            </a:r>
            <a:endParaRPr kumimoji="0" lang="zh-CN" altLang="zh-CN" sz="2400" b="1" kern="100" cap="none" spc="0" normalizeH="0" baseline="0" noProof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266700" algn="just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zh-CN" sz="2400" b="1" kern="100" cap="none" spc="0" normalizeH="0" baseline="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其语义为：</a:t>
            </a:r>
            <a:endParaRPr kumimoji="0" lang="zh-CN" altLang="zh-CN" sz="2400" b="1" kern="100" cap="none" spc="0" normalizeH="0" baseline="0" noProof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266700" algn="just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zh-CN" sz="2400" b="1" kern="100" cap="none" spc="0" normalizeH="0" baseline="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每名运动员只属于一个系，每个系有多名运动员；</a:t>
            </a:r>
            <a:endParaRPr kumimoji="0" lang="zh-CN" altLang="zh-CN" sz="2400" b="1" kern="100" cap="none" spc="0" normalizeH="0" baseline="0" noProof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266700" algn="just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zh-CN" sz="2400" b="1" kern="100" cap="none" spc="0" normalizeH="0" baseline="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每个运动员可以参加多个比赛项目，每个比赛项目也可有多名运动员参加；</a:t>
            </a:r>
            <a:endParaRPr kumimoji="0" lang="zh-CN" altLang="zh-CN" sz="2400" b="1" kern="100" cap="none" spc="0" normalizeH="0" baseline="0" noProof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266700" algn="just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zh-CN" sz="2400" b="1" kern="100" cap="none" spc="0" normalizeH="0" baseline="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每个运动员参加某一个比赛项目，有唯一的成绩；</a:t>
            </a:r>
            <a:endParaRPr kumimoji="0" lang="zh-CN" altLang="zh-CN" sz="2400" b="1" kern="100" cap="none" spc="0" normalizeH="0" baseline="0" noProof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266700" algn="just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zh-CN" sz="2400" b="1" kern="100" cap="none" spc="0" normalizeH="0" baseline="0" noProof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每个比赛项目只有一名比赛主管，一名比赛主管可以负责多个比赛项目。</a:t>
            </a:r>
            <a:endParaRPr kumimoji="0" lang="zh-CN" altLang="zh-CN" sz="2400" b="1" kern="100" cap="none" spc="0" normalizeH="0" baseline="0" noProof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endParaRPr kumimoji="0" lang="zh-CN" altLang="en-US" sz="2400" b="1" kern="1200" cap="none" spc="0" normalizeH="0" baseline="0" noProof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>
                <a:latin typeface="宋体" panose="02010600030101010101" pitchFamily="2" charset="-122"/>
              </a:rPr>
              <a:t>第</a:t>
            </a:r>
            <a:r>
              <a:rPr lang="en-US" altLang="zh-CN" b="1" dirty="0">
                <a:latin typeface="宋体" panose="02010600030101010101" pitchFamily="2" charset="-122"/>
              </a:rPr>
              <a:t>7</a:t>
            </a:r>
            <a:r>
              <a:rPr lang="zh-CN" altLang="en-US" b="1" dirty="0">
                <a:latin typeface="宋体" panose="02010600030101010101" pitchFamily="2" charset="-122"/>
              </a:rPr>
              <a:t>章 数据库设计 PPT的</a:t>
            </a:r>
            <a:r>
              <a:rPr lang="zh-CN" altLang="en-US" b="1" dirty="0">
                <a:latin typeface="宋体" panose="02010600030101010101" pitchFamily="2" charset="-122"/>
              </a:rPr>
              <a:t>37页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44036" name="Rectangle 3"/>
          <p:cNvSpPr>
            <a:spLocks noGrp="1"/>
          </p:cNvSpPr>
          <p:nvPr>
            <p:ph idx="1"/>
          </p:nvPr>
        </p:nvSpPr>
        <p:spPr>
          <a:xfrm>
            <a:off x="179388" y="1557338"/>
            <a:ext cx="8280400" cy="5256212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en-US" altLang="zh-CN" b="1" dirty="0"/>
              <a:t>1</a:t>
            </a:r>
            <a:r>
              <a:rPr lang="zh-CN" altLang="en-US" b="1" dirty="0"/>
              <a:t>、数据库的设计过程：</a:t>
            </a:r>
            <a:endParaRPr lang="zh-CN" altLang="en-US" b="1" dirty="0"/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C00000"/>
                </a:solidFill>
              </a:rPr>
              <a:t>需求分析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C00000"/>
                </a:solidFill>
              </a:rPr>
              <a:t>概念结构设计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C00000"/>
                </a:solidFill>
              </a:rPr>
              <a:t>逻辑结构设计</a:t>
            </a:r>
            <a:r>
              <a:rPr lang="zh-CN" altLang="en-US" sz="2400" b="1" dirty="0"/>
              <a:t>：</a:t>
            </a:r>
            <a:endParaRPr lang="en-US" altLang="zh-CN" sz="2400" b="1" dirty="0"/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C00000"/>
                </a:solidFill>
              </a:rPr>
              <a:t>物理结构设计：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C00000"/>
                </a:solidFill>
              </a:rPr>
              <a:t>数据库实施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C00000"/>
                </a:solidFill>
              </a:rPr>
              <a:t>数据库运行和维护</a:t>
            </a:r>
            <a:endParaRPr lang="zh-CN" altLang="en-US" sz="2100" b="1" dirty="0"/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sz="1800" b="1" dirty="0"/>
              <a:t>	</a:t>
            </a:r>
            <a:endParaRPr lang="en-US" altLang="zh-CN" sz="2000" b="1" dirty="0"/>
          </a:p>
          <a:p>
            <a:pPr lvl="2" eaLnBrk="1" hangingPunct="1">
              <a:lnSpc>
                <a:spcPct val="130000"/>
              </a:lnSpc>
            </a:pPr>
            <a:endParaRPr lang="zh-CN" altLang="en-US" sz="2000" b="1" dirty="0"/>
          </a:p>
          <a:p>
            <a:pPr lvl="1" eaLnBrk="1" hangingPunct="1">
              <a:lnSpc>
                <a:spcPct val="130000"/>
              </a:lnSpc>
            </a:pPr>
            <a:endParaRPr lang="zh-CN" altLang="en-US" sz="2100" b="1" dirty="0"/>
          </a:p>
          <a:p>
            <a:pPr lvl="1" eaLnBrk="1" hangingPunct="1">
              <a:lnSpc>
                <a:spcPct val="130000"/>
              </a:lnSpc>
              <a:buNone/>
            </a:pPr>
            <a:endParaRPr lang="en-US" altLang="zh-CN" sz="21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6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6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charRg st="12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036">
                                            <p:txEl>
                                              <p:charRg st="12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036">
                                            <p:txEl>
                                              <p:charRg st="12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charRg st="17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036">
                                            <p:txEl>
                                              <p:charRg st="17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036">
                                            <p:txEl>
                                              <p:charRg st="17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charRg st="24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4036">
                                            <p:txEl>
                                              <p:charRg st="24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4036">
                                            <p:txEl>
                                              <p:charRg st="24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charRg st="32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4036">
                                            <p:txEl>
                                              <p:charRg st="32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4036">
                                            <p:txEl>
                                              <p:charRg st="32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charRg st="40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4036">
                                            <p:txEl>
                                              <p:charRg st="40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4036">
                                            <p:txEl>
                                              <p:charRg st="40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charRg st="46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4036">
                                            <p:txEl>
                                              <p:charRg st="46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4036">
                                            <p:txEl>
                                              <p:charRg st="46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charRg st="55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4036">
                                            <p:txEl>
                                              <p:charRg st="55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4036">
                                            <p:txEl>
                                              <p:charRg st="55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39938" name="Rectangle 2"/>
          <p:cNvSpPr>
            <a:spLocks noGrp="1"/>
          </p:cNvSpPr>
          <p:nvPr>
            <p:ph type="title"/>
          </p:nvPr>
        </p:nvSpPr>
        <p:spPr>
          <a:xfrm>
            <a:off x="971550" y="549275"/>
            <a:ext cx="4259263" cy="811213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200" b="1" dirty="0"/>
              <a:t>第</a:t>
            </a:r>
            <a:r>
              <a:rPr lang="en-US" altLang="zh-CN" sz="3200" b="1" dirty="0"/>
              <a:t>7</a:t>
            </a:r>
            <a:r>
              <a:rPr lang="zh-CN" altLang="en-US" sz="3200" b="1" dirty="0"/>
              <a:t>章 数据库设计</a:t>
            </a:r>
            <a:endParaRPr lang="zh-CN" altLang="en-US" sz="3200" b="1" dirty="0"/>
          </a:p>
        </p:txBody>
      </p:sp>
      <p:sp>
        <p:nvSpPr>
          <p:cNvPr id="39939" name="Rectangle 3"/>
          <p:cNvSpPr>
            <a:spLocks noGrp="1"/>
          </p:cNvSpPr>
          <p:nvPr>
            <p:ph idx="1"/>
          </p:nvPr>
        </p:nvSpPr>
        <p:spPr>
          <a:xfrm>
            <a:off x="468313" y="1700213"/>
            <a:ext cx="7772400" cy="4475162"/>
          </a:xfrm>
        </p:spPr>
        <p:txBody>
          <a:bodyPr vert="horz" wrap="square" lIns="91440" tIns="45720" rIns="91440" bIns="45720" anchor="t" anchorCtr="0"/>
          <a:p>
            <a:pPr marL="0" indent="0" eaLnBrk="1" hangingPunct="1">
              <a:spcAft>
                <a:spcPct val="30000"/>
              </a:spcAft>
              <a:buNone/>
            </a:pPr>
            <a:r>
              <a:rPr lang="en-US" altLang="zh-CN" sz="2400" b="1" dirty="0">
                <a:ea typeface="_x000B__x000C_"/>
              </a:rPr>
              <a:t>2</a:t>
            </a:r>
            <a:r>
              <a:rPr lang="zh-CN" altLang="en-US" sz="2400" b="1" dirty="0">
                <a:ea typeface="_x000B__x000C_"/>
              </a:rPr>
              <a:t>、 </a:t>
            </a:r>
            <a:endParaRPr lang="en-US" altLang="zh-CN" sz="2400" b="1" dirty="0">
              <a:ea typeface="_x000B__x000C_"/>
            </a:endParaRPr>
          </a:p>
          <a:p>
            <a:pPr marL="0" indent="0" eaLnBrk="1" hangingPunct="1">
              <a:spcAft>
                <a:spcPct val="30000"/>
              </a:spcAft>
              <a:buFont typeface="Wingdings" panose="05000000000000000000" pitchFamily="2" charset="2"/>
              <a:buChar char="ü"/>
            </a:pPr>
            <a:r>
              <a:rPr lang="zh-CN" altLang="en-US" sz="2400" b="1" dirty="0">
                <a:ea typeface="_x000B__x000C_"/>
              </a:rPr>
              <a:t>联系类型：</a:t>
            </a:r>
            <a:r>
              <a:rPr lang="en-US" altLang="zh-CN" sz="2400" b="1" dirty="0">
                <a:ea typeface="_x000B__x000C_"/>
              </a:rPr>
              <a:t>1:1</a:t>
            </a:r>
            <a:r>
              <a:rPr lang="zh-CN" altLang="en-US" sz="2400" b="1" dirty="0">
                <a:ea typeface="_x000B__x000C_"/>
              </a:rPr>
              <a:t>、</a:t>
            </a:r>
            <a:r>
              <a:rPr lang="en-US" altLang="zh-CN" sz="2400" b="1" dirty="0">
                <a:ea typeface="_x000B__x000C_"/>
              </a:rPr>
              <a:t>1:n</a:t>
            </a:r>
            <a:r>
              <a:rPr lang="zh-CN" altLang="en-US" sz="2400" b="1" dirty="0">
                <a:ea typeface="_x000B__x000C_"/>
              </a:rPr>
              <a:t>、</a:t>
            </a:r>
            <a:r>
              <a:rPr lang="en-US" altLang="zh-CN" sz="2400" b="1" dirty="0">
                <a:ea typeface="_x000B__x000C_"/>
              </a:rPr>
              <a:t>m:n</a:t>
            </a:r>
            <a:r>
              <a:rPr lang="zh-CN" altLang="en-US" sz="2400" b="1" dirty="0">
                <a:ea typeface="_x000B__x000C_"/>
              </a:rPr>
              <a:t>判断</a:t>
            </a:r>
            <a:endParaRPr lang="en-US" altLang="zh-CN" sz="2400" b="1" dirty="0">
              <a:ea typeface="_x000B__x000C_"/>
            </a:endParaRPr>
          </a:p>
          <a:p>
            <a:pPr marL="0" indent="0" eaLnBrk="1" hangingPunct="1">
              <a:spcAft>
                <a:spcPct val="30000"/>
              </a:spcAft>
              <a:buFont typeface="Wingdings" panose="05000000000000000000" pitchFamily="2" charset="2"/>
              <a:buChar char="ü"/>
            </a:pPr>
            <a:r>
              <a:rPr lang="en-US" altLang="zh-CN" sz="2400" b="1" dirty="0">
                <a:ea typeface="_x000B__x000C_"/>
              </a:rPr>
              <a:t> E-R</a:t>
            </a:r>
            <a:r>
              <a:rPr lang="zh-CN" altLang="en-US" sz="2400" b="1" dirty="0">
                <a:ea typeface="_x000B__x000C_"/>
              </a:rPr>
              <a:t>图画法：实体、联系、属性都怎么画</a:t>
            </a:r>
            <a:endParaRPr lang="en-US" altLang="zh-CN" sz="2400" b="1" dirty="0">
              <a:ea typeface="_x000B__x000C_"/>
            </a:endParaRP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zh-CN" sz="2400" b="1" dirty="0">
                <a:ea typeface="_x000B__x000C_"/>
              </a:rPr>
              <a:t> </a:t>
            </a:r>
            <a:r>
              <a:rPr lang="zh-CN" altLang="en-US" sz="2400" b="1" dirty="0">
                <a:ea typeface="_x000B__x000C_"/>
              </a:rPr>
              <a:t>向关系模型的转换：</a:t>
            </a:r>
            <a:endParaRPr lang="en-US" altLang="zh-CN" sz="2400" b="1" dirty="0">
              <a:ea typeface="_x000B__x000C_"/>
            </a:endParaRPr>
          </a:p>
          <a:p>
            <a:pPr lvl="1" eaLnBrk="1" hangingPunct="1">
              <a:buFont typeface="Arial" panose="020B0604020202020204" pitchFamily="34" charset="0"/>
              <a:buNone/>
            </a:pPr>
            <a:r>
              <a:rPr lang="en-US" altLang="zh-CN" sz="2000" b="1" dirty="0"/>
              <a:t>	</a:t>
            </a:r>
            <a:r>
              <a:rPr lang="zh-CN" altLang="en-US" sz="2000" b="1" dirty="0">
                <a:solidFill>
                  <a:srgbClr val="FF0000"/>
                </a:solidFill>
              </a:rPr>
              <a:t>一个实体型转换为一个关系模式。</a:t>
            </a:r>
            <a:endParaRPr lang="zh-CN" altLang="en-US" sz="2000" b="1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FF0000"/>
                </a:solidFill>
              </a:rPr>
              <a:t>	</a:t>
            </a:r>
            <a:r>
              <a:rPr lang="zh-CN" altLang="en-US" sz="2000" b="1" dirty="0">
                <a:solidFill>
                  <a:srgbClr val="FF0000"/>
                </a:solidFill>
              </a:rPr>
              <a:t>一个</a:t>
            </a:r>
            <a:r>
              <a:rPr lang="en-US" altLang="zh-CN" sz="2000" b="1" dirty="0">
                <a:solidFill>
                  <a:srgbClr val="FF0000"/>
                </a:solidFill>
              </a:rPr>
              <a:t>m:n</a:t>
            </a:r>
            <a:r>
              <a:rPr lang="zh-CN" altLang="en-US" sz="2000" b="1" dirty="0">
                <a:solidFill>
                  <a:srgbClr val="FF0000"/>
                </a:solidFill>
              </a:rPr>
              <a:t>联系转换为一个关系模式。</a:t>
            </a:r>
            <a:endParaRPr lang="zh-CN" altLang="en-US" sz="2000" b="1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FF0000"/>
                </a:solidFill>
              </a:rPr>
              <a:t>	</a:t>
            </a:r>
            <a:r>
              <a:rPr lang="zh-CN" altLang="en-US" sz="2000" b="1" dirty="0">
                <a:solidFill>
                  <a:srgbClr val="FF0000"/>
                </a:solidFill>
              </a:rPr>
              <a:t>一个</a:t>
            </a:r>
            <a:r>
              <a:rPr lang="en-US" altLang="zh-CN" sz="2000" b="1" dirty="0">
                <a:solidFill>
                  <a:srgbClr val="FF0000"/>
                </a:solidFill>
              </a:rPr>
              <a:t>1:n</a:t>
            </a:r>
            <a:r>
              <a:rPr lang="zh-CN" altLang="en-US" sz="2000" b="1" dirty="0">
                <a:solidFill>
                  <a:srgbClr val="FF0000"/>
                </a:solidFill>
              </a:rPr>
              <a:t>联系可以转换为一个独立的关系模式，也可以与</a:t>
            </a:r>
            <a:r>
              <a:rPr lang="en-US" altLang="zh-CN" sz="2000" b="1" dirty="0">
                <a:solidFill>
                  <a:srgbClr val="FF0000"/>
                </a:solidFill>
              </a:rPr>
              <a:t>n</a:t>
            </a:r>
            <a:r>
              <a:rPr lang="zh-CN" altLang="en-US" sz="2000" b="1" dirty="0">
                <a:solidFill>
                  <a:srgbClr val="FF0000"/>
                </a:solidFill>
              </a:rPr>
              <a:t>端对应的关系模式合并。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2000" b="1" dirty="0"/>
              <a:t>    </a:t>
            </a:r>
            <a:r>
              <a:rPr lang="zh-CN" altLang="en-US" sz="2000" b="1" dirty="0">
                <a:solidFill>
                  <a:srgbClr val="FF0000"/>
                </a:solidFill>
              </a:rPr>
              <a:t>一个</a:t>
            </a:r>
            <a:r>
              <a:rPr lang="en-US" altLang="zh-CN" sz="2000" b="1" dirty="0">
                <a:solidFill>
                  <a:srgbClr val="FF0000"/>
                </a:solidFill>
              </a:rPr>
              <a:t>1:1</a:t>
            </a:r>
            <a:r>
              <a:rPr lang="zh-CN" altLang="en-US" sz="2000" b="1" dirty="0">
                <a:solidFill>
                  <a:srgbClr val="FF0000"/>
                </a:solidFill>
              </a:rPr>
              <a:t>联系可以转换为一个独立的关系模式，也可以与任意一端对应的关系模式合并</a:t>
            </a:r>
            <a:endParaRPr lang="zh-CN" altLang="en-US" sz="2000" b="1" dirty="0">
              <a:solidFill>
                <a:srgbClr val="FF0000"/>
              </a:solidFill>
            </a:endParaRPr>
          </a:p>
          <a:p>
            <a:pPr marL="0" indent="0" eaLnBrk="1" hangingPunct="1">
              <a:spcAft>
                <a:spcPct val="30000"/>
              </a:spcAft>
              <a:buNone/>
            </a:pPr>
            <a:endParaRPr lang="zh-CN" altLang="en-US" sz="2400" b="1" dirty="0">
              <a:ea typeface="_x000B__x000C_"/>
            </a:endParaRPr>
          </a:p>
          <a:p>
            <a:pPr marL="0" indent="0" eaLnBrk="1" hangingPunct="1">
              <a:buFont typeface="Wingdings" panose="05000000000000000000" pitchFamily="2" charset="2"/>
              <a:buChar char="Ø"/>
            </a:pPr>
            <a:endParaRPr lang="en-US" altLang="zh-CN" sz="2400" b="1" dirty="0">
              <a:ea typeface="_x000B__x000C_"/>
            </a:endParaRP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1" dirty="0"/>
              <a:t>E-R</a:t>
            </a:r>
            <a:r>
              <a:rPr lang="zh-CN" altLang="en-US" b="1" dirty="0"/>
              <a:t>图向关系模型的转换（续）</a:t>
            </a:r>
            <a:endParaRPr lang="zh-CN" altLang="en-US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398463" y="1828800"/>
            <a:ext cx="8347075" cy="4940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indent="266700" algn="just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某教学系统数据库有三个实体集，一是“学生”实体集，属性有学号、姓名；二是“课程”实体集，属性有课号，课称名；三是“教师”实体集，属性有职工号、教师名、职称。若我们约定语义为</a:t>
            </a:r>
            <a:r>
              <a:rPr kumimoji="0" lang="en-US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</a:t>
            </a:r>
            <a:endParaRPr kumimoji="0" lang="zh-CN" altLang="zh-CN" kern="1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indent="266700" algn="just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每名学生选修若干门课程，每门课程也可被多名学生选修，每名学生每选一门课有一个成绩；</a:t>
            </a:r>
            <a:endParaRPr kumimoji="0" lang="zh-CN" altLang="zh-CN" kern="1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indent="266700" algn="just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每名教师讲授多门课程，每门课程只能由一名教师任教，每名教师讲授每门课程有一个授课地点。</a:t>
            </a:r>
            <a:endParaRPr kumimoji="0" lang="zh-CN" altLang="zh-CN" kern="1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indent="266700" algn="just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zh-CN" kern="1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要求：</a:t>
            </a:r>
            <a:endParaRPr kumimoji="0" lang="zh-CN" altLang="zh-CN" kern="1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algn="just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r>
              <a:rPr kumimoji="0" lang="zh-CN" altLang="zh-CN" kern="1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根据上述语义画出</a:t>
            </a:r>
            <a:r>
              <a:rPr kumimoji="0" lang="en-US" altLang="zh-CN" kern="1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E-R</a:t>
            </a:r>
            <a:r>
              <a:rPr kumimoji="0" lang="zh-CN" altLang="zh-CN" kern="1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图，要求图中画出实体及联系的属性并注明联系的类型；</a:t>
            </a:r>
            <a:endParaRPr kumimoji="0" lang="zh-CN" altLang="zh-CN" kern="1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algn="just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）将上述</a:t>
            </a:r>
            <a:r>
              <a:rPr kumimoji="0" lang="en-US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E-R</a:t>
            </a: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图转换成对应的关系模式，并注明主码；</a:t>
            </a:r>
            <a:endParaRPr kumimoji="0" lang="zh-CN" altLang="zh-CN" kern="1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endParaRPr kumimoji="0" lang="zh-CN" altLang="en-US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41986" name="Rectangle 3"/>
          <p:cNvSpPr>
            <a:spLocks noGrp="1"/>
          </p:cNvSpPr>
          <p:nvPr>
            <p:ph idx="1"/>
          </p:nvPr>
        </p:nvSpPr>
        <p:spPr>
          <a:xfrm>
            <a:off x="250825" y="1557338"/>
            <a:ext cx="8605838" cy="4176712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45000"/>
              </a:lnSpc>
              <a:buNone/>
            </a:pPr>
            <a:r>
              <a:rPr lang="en-US" altLang="zh-CN" b="1" dirty="0"/>
              <a:t>1.</a:t>
            </a:r>
            <a:r>
              <a:rPr lang="zh-CN" altLang="en-US" b="1" dirty="0"/>
              <a:t>事务定义</a:t>
            </a:r>
            <a:endParaRPr lang="en-US" altLang="zh-CN" b="1" dirty="0"/>
          </a:p>
          <a:p>
            <a:pPr eaLnBrk="1" hangingPunct="1">
              <a:lnSpc>
                <a:spcPct val="145000"/>
              </a:lnSpc>
              <a:buNone/>
            </a:pPr>
            <a:r>
              <a:rPr lang="zh-CN" altLang="en-US" b="1" dirty="0"/>
              <a:t>  事务特征：原子性、一致性、隔离性、持续性，其含义</a:t>
            </a:r>
            <a:endParaRPr lang="en-US" altLang="zh-CN" b="1" dirty="0"/>
          </a:p>
          <a:p>
            <a:pPr eaLnBrk="1" hangingPunct="1">
              <a:lnSpc>
                <a:spcPct val="145000"/>
              </a:lnSpc>
              <a:buNone/>
            </a:pPr>
            <a:r>
              <a:rPr lang="en-US" altLang="zh-CN" b="1" dirty="0"/>
              <a:t>2.</a:t>
            </a:r>
            <a:r>
              <a:rPr lang="zh-CN" altLang="zh-CN" b="1" dirty="0"/>
              <a:t>数据库系统中可能发生的故障大致可以分为哪几类？</a:t>
            </a:r>
            <a:endParaRPr lang="en-US" altLang="zh-CN" b="1" dirty="0"/>
          </a:p>
          <a:p>
            <a:pPr eaLnBrk="1" hangingPunct="1">
              <a:lnSpc>
                <a:spcPct val="145000"/>
              </a:lnSpc>
              <a:buNone/>
            </a:pPr>
            <a:r>
              <a:rPr lang="en-US" altLang="zh-CN" b="1" dirty="0"/>
              <a:t>  </a:t>
            </a:r>
            <a:r>
              <a:rPr lang="zh-CN" altLang="zh-CN" b="1" dirty="0"/>
              <a:t>简述各类故障的恢复机制</a:t>
            </a:r>
            <a:endParaRPr lang="en-US" altLang="zh-CN" b="1" dirty="0"/>
          </a:p>
        </p:txBody>
      </p:sp>
      <p:sp>
        <p:nvSpPr>
          <p:cNvPr id="41987" name="Rectangle 4"/>
          <p:cNvSpPr/>
          <p:nvPr/>
        </p:nvSpPr>
        <p:spPr>
          <a:xfrm>
            <a:off x="827088" y="476250"/>
            <a:ext cx="7489825" cy="8842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>
                <a:latin typeface="宋体" panose="02010600030101010101" pitchFamily="2" charset="-122"/>
              </a:rPr>
              <a:t>第</a:t>
            </a:r>
            <a:r>
              <a:rPr lang="en-US" altLang="zh-CN" sz="3600" b="1" dirty="0">
                <a:latin typeface="宋体" panose="02010600030101010101" pitchFamily="2" charset="-122"/>
              </a:rPr>
              <a:t>10</a:t>
            </a:r>
            <a:r>
              <a:rPr lang="zh-CN" altLang="en-US" sz="3600" b="1" dirty="0">
                <a:latin typeface="宋体" panose="02010600030101010101" pitchFamily="2" charset="-122"/>
              </a:rPr>
              <a:t>章  数据库保护</a:t>
            </a:r>
            <a:r>
              <a:rPr lang="en-US" altLang="zh-CN" sz="3600" b="1" dirty="0">
                <a:latin typeface="宋体" panose="02010600030101010101" pitchFamily="2" charset="-122"/>
              </a:rPr>
              <a:t>—</a:t>
            </a:r>
            <a:r>
              <a:rPr lang="zh-CN" altLang="en-US" sz="3600" b="1" dirty="0">
                <a:latin typeface="宋体" panose="02010600030101010101" pitchFamily="2" charset="-122"/>
              </a:rPr>
              <a:t>恢复技术</a:t>
            </a:r>
            <a:endParaRPr lang="zh-CN" altLang="en-US" sz="36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43010" name="Rectangle 2"/>
          <p:cNvSpPr>
            <a:spLocks noGrp="1"/>
          </p:cNvSpPr>
          <p:nvPr>
            <p:ph type="title"/>
          </p:nvPr>
        </p:nvSpPr>
        <p:spPr>
          <a:xfrm>
            <a:off x="971550" y="476250"/>
            <a:ext cx="4762500" cy="73977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2800" b="1" dirty="0"/>
              <a:t>事务故障的恢复</a:t>
            </a:r>
            <a:endParaRPr lang="zh-CN" altLang="en-US" sz="2800" b="1" dirty="0"/>
          </a:p>
        </p:txBody>
      </p:sp>
      <p:sp>
        <p:nvSpPr>
          <p:cNvPr id="43011" name="Rectangle 3"/>
          <p:cNvSpPr>
            <a:spLocks noGrp="1"/>
          </p:cNvSpPr>
          <p:nvPr>
            <p:ph idx="1"/>
          </p:nvPr>
        </p:nvSpPr>
        <p:spPr>
          <a:xfrm>
            <a:off x="539750" y="1700530"/>
            <a:ext cx="7715250" cy="470789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SzTx/>
              <a:buNone/>
            </a:pPr>
            <a:r>
              <a:rPr lang="zh-CN" altLang="en-US" sz="2400" b="1" dirty="0"/>
              <a:t>事务故障：事务在运行至正常终止点前被中止</a:t>
            </a:r>
            <a:endParaRPr lang="zh-CN" altLang="en-US" sz="2400" b="1" dirty="0"/>
          </a:p>
          <a:p>
            <a:pPr eaLnBrk="1" hangingPunct="1">
              <a:lnSpc>
                <a:spcPct val="120000"/>
              </a:lnSpc>
              <a:buSzTx/>
              <a:buNone/>
            </a:pPr>
            <a:r>
              <a:rPr lang="zh-CN" altLang="en-US" sz="2400" b="1" dirty="0"/>
              <a:t>恢复方法</a:t>
            </a:r>
            <a:endParaRPr lang="zh-CN" altLang="en-US" sz="2400" b="1" dirty="0"/>
          </a:p>
          <a:p>
            <a:pPr lvl="1" eaLnBrk="1" hangingPunct="1">
              <a:lnSpc>
                <a:spcPct val="120000"/>
              </a:lnSpc>
              <a:buSzTx/>
              <a:buNone/>
            </a:pPr>
            <a:r>
              <a:rPr lang="zh-CN" altLang="en-US" sz="2400" b="1" dirty="0"/>
              <a:t>由恢复子系统应利用日志文件撤消（</a:t>
            </a:r>
            <a:r>
              <a:rPr lang="en-US" altLang="zh-CN" sz="2400" b="1" dirty="0"/>
              <a:t>UNDO</a:t>
            </a:r>
            <a:r>
              <a:rPr lang="zh-CN" altLang="en-US" sz="2400" b="1" dirty="0"/>
              <a:t>）此事务已对数据库进行的修改</a:t>
            </a:r>
            <a:endParaRPr lang="zh-CN" altLang="en-US" sz="2400" b="1" dirty="0"/>
          </a:p>
          <a:p>
            <a:pPr lvl="1" eaLnBrk="1" hangingPunct="1">
              <a:lnSpc>
                <a:spcPct val="120000"/>
              </a:lnSpc>
              <a:buSzTx/>
              <a:buNone/>
            </a:pPr>
            <a:endParaRPr lang="zh-CN" altLang="en-US" sz="2400" b="1" dirty="0"/>
          </a:p>
          <a:p>
            <a:pPr marL="0" marR="0" lvl="0" indent="0" algn="l" defTabSz="914400" rtl="0" eaLnBrk="1" fontAlgn="base" latinLnBrk="0" hangingPunct="1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2400" b="1" noProof="0" dirty="0">
                <a:ln>
                  <a:noFill/>
                </a:ln>
                <a:effectLst/>
                <a:uLnTx/>
                <a:uFillTx/>
                <a:cs typeface="微软雅黑" panose="020B0503020204020204" charset="-122"/>
                <a:sym typeface="+mn-ea"/>
              </a:rPr>
              <a:t>1. 事务故障的恢复</a:t>
            </a:r>
            <a:r>
              <a:rPr lang="en-US" altLang="zh-CN" sz="2400" b="1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cs typeface="微软雅黑" panose="020B0503020204020204" charset="-122"/>
                <a:sym typeface="+mn-ea"/>
              </a:rPr>
              <a:t>  ---</a:t>
            </a:r>
            <a:r>
              <a:rPr lang="zh-CN" altLang="en-US" sz="2400" b="1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cs typeface="微软雅黑" panose="020B0503020204020204" charset="-122"/>
                <a:sym typeface="+mn-ea"/>
              </a:rPr>
              <a:t>撤销</a:t>
            </a:r>
            <a:r>
              <a:rPr lang="en-US" altLang="zh-CN" sz="2400" b="1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cs typeface="微软雅黑" panose="020B0503020204020204" charset="-122"/>
                <a:sym typeface="+mn-ea"/>
              </a:rPr>
              <a:t>undo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cs typeface="微软雅黑" panose="020B050302020402020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altLang="zh-CN" sz="2400" b="1" noProof="0" dirty="0">
                <a:ln>
                  <a:noFill/>
                </a:ln>
                <a:effectLst/>
                <a:uLnTx/>
                <a:uFillTx/>
                <a:cs typeface="微软雅黑" panose="020B0503020204020204" charset="-122"/>
                <a:sym typeface="+mn-ea"/>
              </a:rPr>
              <a:t>2. </a:t>
            </a:r>
            <a:r>
              <a:rPr lang="zh-CN" altLang="en-US" sz="2400" b="1" noProof="0" dirty="0">
                <a:ln>
                  <a:noFill/>
                </a:ln>
                <a:effectLst/>
                <a:uLnTx/>
                <a:uFillTx/>
                <a:cs typeface="微软雅黑" panose="020B0503020204020204" charset="-122"/>
                <a:sym typeface="+mn-ea"/>
              </a:rPr>
              <a:t>系统故障的恢复</a:t>
            </a:r>
            <a:r>
              <a:rPr lang="en-US" altLang="zh-CN" sz="240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cs typeface="微软雅黑" panose="020B0503020204020204" charset="-122"/>
                <a:sym typeface="+mn-ea"/>
              </a:rPr>
              <a:t>---</a:t>
            </a:r>
            <a:r>
              <a:rPr lang="zh-CN" altLang="en-US" sz="240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cs typeface="微软雅黑" panose="020B0503020204020204" charset="-122"/>
                <a:sym typeface="+mn-ea"/>
              </a:rPr>
              <a:t>撤销</a:t>
            </a:r>
            <a:r>
              <a:rPr lang="en-US" altLang="zh-CN" sz="240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cs typeface="微软雅黑" panose="020B0503020204020204" charset="-122"/>
                <a:sym typeface="+mn-ea"/>
              </a:rPr>
              <a:t>undo+redo</a:t>
            </a:r>
            <a:r>
              <a:rPr lang="zh-CN" altLang="en-US" sz="240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cs typeface="微软雅黑" panose="020B0503020204020204" charset="-122"/>
                <a:sym typeface="+mn-ea"/>
              </a:rPr>
              <a:t>重做</a:t>
            </a:r>
            <a:endParaRPr lang="en-US" altLang="zh-CN" sz="240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cs typeface="微软雅黑" panose="020B0503020204020204" charset="-122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altLang="zh-CN" sz="2400" b="1" noProof="0" dirty="0">
                <a:ln>
                  <a:noFill/>
                </a:ln>
                <a:effectLst/>
                <a:uLnTx/>
                <a:uFillTx/>
                <a:cs typeface="微软雅黑" panose="020B0503020204020204" charset="-122"/>
                <a:sym typeface="+mn-ea"/>
              </a:rPr>
              <a:t>3. </a:t>
            </a:r>
            <a:r>
              <a:rPr lang="zh-CN" altLang="en-US" sz="2400" b="1" noProof="0" dirty="0">
                <a:ln>
                  <a:noFill/>
                </a:ln>
                <a:effectLst/>
                <a:uLnTx/>
                <a:uFillTx/>
                <a:cs typeface="微软雅黑" panose="020B0503020204020204" charset="-122"/>
                <a:sym typeface="+mn-ea"/>
              </a:rPr>
              <a:t>介质故障的恢复</a:t>
            </a:r>
            <a:r>
              <a:rPr lang="en-US" altLang="zh-CN" sz="240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cs typeface="微软雅黑" panose="020B0503020204020204" charset="-122"/>
                <a:sym typeface="+mn-ea"/>
              </a:rPr>
              <a:t>---redo</a:t>
            </a:r>
            <a:r>
              <a:rPr lang="zh-CN" altLang="en-US" sz="240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cs typeface="微软雅黑" panose="020B0503020204020204" charset="-122"/>
                <a:sym typeface="+mn-ea"/>
              </a:rPr>
              <a:t>重做</a:t>
            </a:r>
            <a:endParaRPr lang="zh-CN" altLang="en-US" sz="240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cs typeface="微软雅黑" panose="020B0503020204020204" charset="-122"/>
              <a:sym typeface="+mn-ea"/>
            </a:endParaRPr>
          </a:p>
          <a:p>
            <a:pPr lvl="1" eaLnBrk="1" hangingPunct="1">
              <a:lnSpc>
                <a:spcPct val="120000"/>
              </a:lnSpc>
              <a:buSzTx/>
              <a:buNone/>
            </a:pPr>
            <a:endParaRPr lang="zh-CN" altLang="en-US" sz="2400" b="1" dirty="0"/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45058" name="Rectangle 2"/>
          <p:cNvSpPr>
            <a:spLocks noGrp="1"/>
          </p:cNvSpPr>
          <p:nvPr>
            <p:ph type="title"/>
          </p:nvPr>
        </p:nvSpPr>
        <p:spPr>
          <a:xfrm>
            <a:off x="1187450" y="476250"/>
            <a:ext cx="5256213" cy="95567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200" b="1" dirty="0"/>
              <a:t>系统故障的恢复</a:t>
            </a:r>
            <a:endParaRPr lang="zh-CN" altLang="en-US" sz="3200" b="1" dirty="0"/>
          </a:p>
        </p:txBody>
      </p:sp>
      <p:sp>
        <p:nvSpPr>
          <p:cNvPr id="45059" name="Rectangle 3"/>
          <p:cNvSpPr>
            <a:spLocks noGrp="1"/>
          </p:cNvSpPr>
          <p:nvPr>
            <p:ph idx="1"/>
          </p:nvPr>
        </p:nvSpPr>
        <p:spPr>
          <a:xfrm>
            <a:off x="539750" y="1773238"/>
            <a:ext cx="8077200" cy="3532187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2400" b="1" dirty="0"/>
              <a:t>恢复方法</a:t>
            </a:r>
            <a:endParaRPr lang="zh-CN" altLang="en-US" sz="2400" b="1" dirty="0"/>
          </a:p>
          <a:p>
            <a:pPr lvl="1" eaLnBrk="1" hangingPunct="1"/>
            <a:r>
              <a:rPr lang="en-US" altLang="zh-CN" sz="2400" b="1" dirty="0"/>
              <a:t>1. Undo </a:t>
            </a:r>
            <a:r>
              <a:rPr lang="zh-CN" altLang="en-US" sz="2400" b="1" dirty="0"/>
              <a:t>故障发生时未完成的事务</a:t>
            </a:r>
            <a:endParaRPr lang="zh-CN" altLang="en-US" sz="2400" b="1" dirty="0"/>
          </a:p>
          <a:p>
            <a:pPr lvl="1" eaLnBrk="1" hangingPunct="1"/>
            <a:r>
              <a:rPr lang="en-US" altLang="zh-CN" sz="2400" b="1" dirty="0"/>
              <a:t>2. Redo </a:t>
            </a:r>
            <a:r>
              <a:rPr lang="zh-CN" altLang="en-US" sz="2400" b="1" dirty="0"/>
              <a:t>已完成的事务</a:t>
            </a:r>
            <a:endParaRPr lang="zh-CN" altLang="en-US" sz="2400" b="1" dirty="0"/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47106" name="Rectangle 2"/>
          <p:cNvSpPr>
            <a:spLocks noGrp="1"/>
          </p:cNvSpPr>
          <p:nvPr>
            <p:ph type="title"/>
          </p:nvPr>
        </p:nvSpPr>
        <p:spPr>
          <a:xfrm>
            <a:off x="900113" y="476250"/>
            <a:ext cx="5338762" cy="73977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200" b="1" dirty="0"/>
              <a:t>介质故障的恢复</a:t>
            </a:r>
            <a:endParaRPr lang="zh-CN" altLang="en-US" sz="3200" b="1" dirty="0"/>
          </a:p>
        </p:txBody>
      </p:sp>
      <p:sp>
        <p:nvSpPr>
          <p:cNvPr id="47107" name="Rectangle 3"/>
          <p:cNvSpPr>
            <a:spLocks noGrp="1"/>
          </p:cNvSpPr>
          <p:nvPr>
            <p:ph idx="1"/>
          </p:nvPr>
        </p:nvSpPr>
        <p:spPr>
          <a:xfrm>
            <a:off x="395288" y="1628775"/>
            <a:ext cx="8353425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b="1" dirty="0"/>
              <a:t>1. </a:t>
            </a:r>
            <a:r>
              <a:rPr lang="zh-CN" altLang="en-US" sz="2400" b="1" dirty="0"/>
              <a:t>重装数据库</a:t>
            </a:r>
            <a:endParaRPr lang="zh-CN" altLang="en-US" sz="2400" b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b="1" dirty="0"/>
              <a:t>    使数据库恢复到一致性状态</a:t>
            </a:r>
            <a:endParaRPr lang="zh-CN" altLang="en-US" sz="2400" b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b="1" dirty="0"/>
              <a:t>2. </a:t>
            </a:r>
            <a:r>
              <a:rPr lang="zh-CN" altLang="en-US" sz="2400" b="1" dirty="0"/>
              <a:t>重做已完成的事务</a:t>
            </a:r>
            <a:endParaRPr lang="zh-CN" altLang="en-US" sz="2400" b="1" dirty="0"/>
          </a:p>
          <a:p>
            <a:pPr eaLnBrk="1" hangingPunct="1">
              <a:lnSpc>
                <a:spcPct val="90000"/>
              </a:lnSpc>
            </a:pPr>
            <a:endParaRPr lang="zh-CN" altLang="en-US" sz="2000" b="1" dirty="0"/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Rectangle 2"/>
          <p:cNvSpPr>
            <a:spLocks noGrp="1"/>
          </p:cNvSpPr>
          <p:nvPr>
            <p:ph idx="1"/>
          </p:nvPr>
        </p:nvSpPr>
        <p:spPr>
          <a:xfrm>
            <a:off x="467043" y="1052513"/>
            <a:ext cx="8401050" cy="3984625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5000"/>
              </a:lnSpc>
              <a:buNone/>
            </a:pPr>
            <a:endParaRPr lang="en-US" altLang="zh-CN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b="1" dirty="0"/>
              <a:t>1</a:t>
            </a:r>
            <a:r>
              <a:rPr lang="zh-CN" altLang="en-US" b="1" dirty="0"/>
              <a:t>、并发操作带来的数据不一致性包括哪几类？每一类的表示方法（丢失修改、不可重复读、读脏数据）</a:t>
            </a:r>
            <a:endParaRPr lang="en-US" altLang="zh-CN" b="1" dirty="0"/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b="1" dirty="0"/>
              <a:t>2</a:t>
            </a:r>
            <a:r>
              <a:rPr lang="zh-CN" altLang="en-US" b="1" dirty="0"/>
              <a:t>、</a:t>
            </a:r>
            <a:r>
              <a:rPr lang="zh-CN" altLang="zh-CN" b="1" dirty="0"/>
              <a:t>基本的封锁类型有几种</a:t>
            </a:r>
            <a:r>
              <a:rPr lang="en-US" altLang="zh-CN" b="1" dirty="0"/>
              <a:t>?</a:t>
            </a:r>
            <a:r>
              <a:rPr lang="zh-CN" altLang="zh-CN" b="1" dirty="0"/>
              <a:t>试叙述它们的含义</a:t>
            </a:r>
            <a:endParaRPr lang="zh-CN" altLang="en-US" b="1" dirty="0"/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b="1" dirty="0"/>
              <a:t>3</a:t>
            </a:r>
            <a:r>
              <a:rPr lang="zh-CN" altLang="en-US" b="1" dirty="0"/>
              <a:t>、</a:t>
            </a:r>
            <a:r>
              <a:rPr lang="zh-CN" altLang="zh-CN" b="1" dirty="0"/>
              <a:t>数据库中死锁产生的原因和解决死锁的方法</a:t>
            </a:r>
            <a:endParaRPr lang="en-US" altLang="zh-CN" b="1" dirty="0"/>
          </a:p>
          <a:p>
            <a:pPr>
              <a:lnSpc>
                <a:spcPct val="115000"/>
              </a:lnSpc>
              <a:spcBef>
                <a:spcPct val="0"/>
              </a:spcBef>
              <a:buNone/>
            </a:pPr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49155" name="Rectangle 3"/>
          <p:cNvSpPr/>
          <p:nvPr/>
        </p:nvSpPr>
        <p:spPr>
          <a:xfrm>
            <a:off x="971550" y="549275"/>
            <a:ext cx="7272338" cy="8842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第</a:t>
            </a:r>
            <a:r>
              <a:rPr lang="en-US" altLang="zh-CN" b="1" dirty="0">
                <a:latin typeface="宋体" panose="02010600030101010101" pitchFamily="2" charset="-122"/>
              </a:rPr>
              <a:t>11</a:t>
            </a:r>
            <a:r>
              <a:rPr lang="zh-CN" altLang="en-US" b="1" dirty="0">
                <a:latin typeface="宋体" panose="02010600030101010101" pitchFamily="2" charset="-122"/>
              </a:rPr>
              <a:t>章 数据库保护</a:t>
            </a:r>
            <a:r>
              <a:rPr lang="en-US" altLang="zh-CN" b="1" dirty="0">
                <a:latin typeface="宋体" panose="02010600030101010101" pitchFamily="2" charset="-122"/>
              </a:rPr>
              <a:t>—</a:t>
            </a:r>
            <a:r>
              <a:rPr lang="zh-CN" altLang="en-US" b="1" dirty="0">
                <a:latin typeface="宋体" panose="02010600030101010101" pitchFamily="2" charset="-122"/>
              </a:rPr>
              <a:t>并发控制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52610" name="Group 2"/>
          <p:cNvGraphicFramePr>
            <a:graphicFrameLocks noGrp="1"/>
          </p:cNvGraphicFramePr>
          <p:nvPr/>
        </p:nvGraphicFramePr>
        <p:xfrm>
          <a:off x="3779838" y="1722438"/>
          <a:ext cx="3313113" cy="4144963"/>
        </p:xfrm>
        <a:graphic>
          <a:graphicData uri="http://schemas.openxmlformats.org/drawingml/2006/table">
            <a:tbl>
              <a:tblPr/>
              <a:tblGrid>
                <a:gridCol w="1944652"/>
                <a:gridCol w="1368460"/>
              </a:tblGrid>
              <a:tr h="398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20" marR="90020" marT="46775" marB="4677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0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20" marR="90020" marT="46775" marB="467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6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① 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读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A=16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②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③ A←A-1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写回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A=15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④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20" marR="90020" marT="46775" marB="4677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读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A=16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A←A-1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写回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A=15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20" marR="90020" marT="46775" marB="467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0189" name="Rectangle 13"/>
          <p:cNvSpPr/>
          <p:nvPr/>
        </p:nvSpPr>
        <p:spPr>
          <a:xfrm>
            <a:off x="3505200" y="5867400"/>
            <a:ext cx="2590800" cy="609600"/>
          </a:xfrm>
          <a:prstGeom prst="rect">
            <a:avLst/>
          </a:prstGeom>
          <a:noFill/>
          <a:ln w="28575">
            <a:noFill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(a) </a:t>
            </a:r>
            <a:r>
              <a:rPr lang="zh-CN" altLang="en-US" sz="2400" b="1" dirty="0">
                <a:latin typeface="Times New Roman" panose="02020603050405020304" pitchFamily="18" charset="0"/>
              </a:rPr>
              <a:t>丢失修改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1202" name="Group 2"/>
          <p:cNvGrpSpPr/>
          <p:nvPr/>
        </p:nvGrpSpPr>
        <p:grpSpPr>
          <a:xfrm>
            <a:off x="2916238" y="1844675"/>
            <a:ext cx="3505200" cy="4079875"/>
            <a:chOff x="2688" y="1152"/>
            <a:chExt cx="2208" cy="2570"/>
          </a:xfrm>
        </p:grpSpPr>
        <p:sp>
          <p:nvSpPr>
            <p:cNvPr id="51204" name="Rectangle 3"/>
            <p:cNvSpPr/>
            <p:nvPr/>
          </p:nvSpPr>
          <p:spPr>
            <a:xfrm>
              <a:off x="3892" y="1402"/>
              <a:ext cx="1004" cy="2320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0000" tIns="46800" rIns="90000" bIns="468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r>
                <a:rPr lang="en-US" altLang="zh-CN" sz="2800" dirty="0"/>
                <a:t> </a:t>
              </a:r>
              <a:endParaRPr lang="en-US" altLang="zh-CN" sz="2000" dirty="0"/>
            </a:p>
            <a:p>
              <a:pPr marL="0" lvl="0" indent="0" eaLnBrk="1" hangingPunct="1">
                <a:buNone/>
              </a:pPr>
              <a:r>
                <a:rPr lang="en-US" altLang="zh-CN" sz="2000" dirty="0"/>
                <a:t> </a:t>
              </a:r>
              <a:endParaRPr lang="en-US" altLang="zh-CN" sz="2000" dirty="0"/>
            </a:p>
            <a:p>
              <a:pPr marL="0" lvl="0" indent="0" eaLnBrk="1" hangingPunct="1">
                <a:buNone/>
              </a:pPr>
              <a:r>
                <a:rPr lang="en-US" altLang="zh-CN" sz="2000" dirty="0"/>
                <a:t> </a:t>
              </a:r>
              <a:endParaRPr lang="en-US" altLang="zh-CN" sz="2000" dirty="0"/>
            </a:p>
            <a:p>
              <a:pPr marL="0" lvl="0" indent="0" eaLnBrk="1" hangingPunct="1">
                <a:buNone/>
              </a:pPr>
              <a:r>
                <a:rPr lang="zh-CN" altLang="en-US" sz="2000" dirty="0"/>
                <a:t>读</a:t>
              </a:r>
              <a:r>
                <a:rPr lang="en-US" altLang="zh-CN" sz="2000" dirty="0"/>
                <a:t>B=100</a:t>
              </a:r>
              <a:endParaRPr lang="en-US" altLang="zh-CN" sz="2000" dirty="0"/>
            </a:p>
            <a:p>
              <a:pPr marL="0" lvl="0" indent="0" eaLnBrk="1" hangingPunct="1">
                <a:buNone/>
              </a:pPr>
              <a:r>
                <a:rPr lang="en-US" altLang="zh-CN" sz="2000" dirty="0"/>
                <a:t>  B←B*2</a:t>
              </a:r>
              <a:endParaRPr lang="en-US" altLang="zh-CN" sz="2000" dirty="0"/>
            </a:p>
            <a:p>
              <a:pPr marL="0" lvl="0" indent="0" eaLnBrk="1" hangingPunct="1">
                <a:buNone/>
              </a:pPr>
              <a:r>
                <a:rPr lang="zh-CN" altLang="en-US" sz="2000" dirty="0"/>
                <a:t>写回</a:t>
              </a:r>
              <a:r>
                <a:rPr lang="en-US" altLang="zh-CN" sz="2000" dirty="0"/>
                <a:t>B=200</a:t>
              </a:r>
              <a:endParaRPr lang="en-US" altLang="zh-CN" sz="2000" dirty="0"/>
            </a:p>
            <a:p>
              <a:pPr marL="0" lvl="0" indent="0" eaLnBrk="1" hangingPunct="1">
                <a:buNone/>
              </a:pPr>
              <a:r>
                <a:rPr lang="en-US" altLang="zh-CN" sz="2000" dirty="0"/>
                <a:t> </a:t>
              </a:r>
              <a:endParaRPr lang="en-US" altLang="zh-CN" sz="2000" dirty="0"/>
            </a:p>
            <a:p>
              <a:pPr marL="0" lvl="0" indent="0" eaLnBrk="1" hangingPunct="1">
                <a:buNone/>
              </a:pPr>
              <a:endParaRPr lang="en-US" altLang="zh-CN" sz="2000" dirty="0"/>
            </a:p>
          </p:txBody>
        </p:sp>
        <p:sp>
          <p:nvSpPr>
            <p:cNvPr id="51205" name="Rectangle 4"/>
            <p:cNvSpPr/>
            <p:nvPr/>
          </p:nvSpPr>
          <p:spPr>
            <a:xfrm>
              <a:off x="2688" y="1402"/>
              <a:ext cx="1204" cy="2320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0000" tIns="46800" rIns="90000" bIns="468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r>
                <a:rPr lang="en-US" altLang="zh-CN" sz="2000" dirty="0"/>
                <a:t>①</a:t>
              </a:r>
              <a:r>
                <a:rPr lang="en-US" altLang="zh-CN" sz="2000" dirty="0"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/>
                <a:t>读</a:t>
              </a:r>
              <a:r>
                <a:rPr lang="en-US" altLang="zh-CN" sz="2000" dirty="0"/>
                <a:t>A=50</a:t>
              </a:r>
              <a:endParaRPr lang="en-US" altLang="zh-CN" sz="2000" dirty="0"/>
            </a:p>
            <a:p>
              <a:pPr marL="0" lvl="0" indent="0" eaLnBrk="1" hangingPunct="1">
                <a:buNone/>
              </a:pPr>
              <a:r>
                <a:rPr lang="en-US" altLang="zh-CN" sz="2000" dirty="0"/>
                <a:t>     </a:t>
              </a:r>
              <a:r>
                <a:rPr lang="zh-CN" altLang="en-US" sz="2000" dirty="0"/>
                <a:t>读</a:t>
              </a:r>
              <a:r>
                <a:rPr lang="en-US" altLang="zh-CN" sz="2000" dirty="0"/>
                <a:t>B=100</a:t>
              </a:r>
              <a:endParaRPr lang="en-US" altLang="zh-CN" sz="2000" dirty="0"/>
            </a:p>
            <a:p>
              <a:pPr marL="0" lvl="0" indent="0" eaLnBrk="1" hangingPunct="1">
                <a:buNone/>
              </a:pPr>
              <a:r>
                <a:rPr lang="en-US" altLang="zh-CN" sz="2000" dirty="0"/>
                <a:t>     </a:t>
              </a:r>
              <a:r>
                <a:rPr lang="zh-CN" altLang="en-US" sz="2000" dirty="0"/>
                <a:t>求和</a:t>
              </a:r>
              <a:r>
                <a:rPr lang="en-US" altLang="zh-CN" sz="2000" dirty="0"/>
                <a:t>=150</a:t>
              </a:r>
              <a:endParaRPr lang="en-US" altLang="zh-CN" sz="2000" dirty="0"/>
            </a:p>
            <a:p>
              <a:pPr marL="0" lvl="0" indent="0" eaLnBrk="1" hangingPunct="1">
                <a:buNone/>
              </a:pPr>
              <a:r>
                <a:rPr lang="en-US" altLang="zh-CN" sz="2000" dirty="0"/>
                <a:t>②</a:t>
              </a:r>
              <a:endParaRPr lang="en-US" altLang="zh-CN" sz="2000" dirty="0"/>
            </a:p>
            <a:p>
              <a:pPr marL="0" lvl="0" indent="0" eaLnBrk="1" hangingPunct="1">
                <a:buNone/>
              </a:pPr>
              <a:r>
                <a:rPr lang="en-US" altLang="zh-CN" sz="2000" dirty="0"/>
                <a:t> </a:t>
              </a:r>
              <a:endParaRPr lang="en-US" altLang="zh-CN" sz="2000" dirty="0"/>
            </a:p>
            <a:p>
              <a:pPr marL="0" lvl="0" indent="0" eaLnBrk="1" hangingPunct="1">
                <a:buNone/>
              </a:pPr>
              <a:r>
                <a:rPr lang="en-US" altLang="zh-CN" sz="2000" dirty="0"/>
                <a:t> </a:t>
              </a:r>
              <a:endParaRPr lang="en-US" altLang="zh-CN" sz="2000" dirty="0"/>
            </a:p>
            <a:p>
              <a:pPr marL="0" lvl="0" indent="0" eaLnBrk="1" hangingPunct="1">
                <a:buNone/>
              </a:pPr>
              <a:r>
                <a:rPr lang="en-US" altLang="zh-CN" sz="2000" dirty="0"/>
                <a:t>③ </a:t>
              </a:r>
              <a:r>
                <a:rPr lang="zh-CN" altLang="en-US" sz="2000" dirty="0"/>
                <a:t>读</a:t>
              </a:r>
              <a:r>
                <a:rPr lang="en-US" altLang="zh-CN" sz="2000" dirty="0"/>
                <a:t>A=50</a:t>
              </a:r>
              <a:endParaRPr lang="en-US" altLang="zh-CN" sz="2000" dirty="0"/>
            </a:p>
            <a:p>
              <a:pPr marL="0" lvl="0" indent="0" eaLnBrk="1" hangingPunct="1">
                <a:buNone/>
              </a:pPr>
              <a:r>
                <a:rPr lang="en-US" altLang="zh-CN" sz="2000" dirty="0"/>
                <a:t>     </a:t>
              </a:r>
              <a:r>
                <a:rPr lang="zh-CN" altLang="en-US" sz="2000" dirty="0"/>
                <a:t>读</a:t>
              </a:r>
              <a:r>
                <a:rPr lang="en-US" altLang="zh-CN" sz="2000" dirty="0"/>
                <a:t>B=200</a:t>
              </a:r>
              <a:endParaRPr lang="en-US" altLang="zh-CN" sz="2000" dirty="0"/>
            </a:p>
            <a:p>
              <a:pPr marL="0" lvl="0" indent="0" eaLnBrk="1" hangingPunct="1">
                <a:buNone/>
              </a:pPr>
              <a:r>
                <a:rPr lang="en-US" altLang="zh-CN" sz="2000" dirty="0"/>
                <a:t>     </a:t>
              </a:r>
              <a:r>
                <a:rPr lang="zh-CN" altLang="en-US" sz="2000" dirty="0"/>
                <a:t>求和</a:t>
              </a:r>
              <a:r>
                <a:rPr lang="en-US" altLang="zh-CN" sz="2000" dirty="0"/>
                <a:t>=250</a:t>
              </a:r>
              <a:endParaRPr lang="en-US" altLang="zh-CN" sz="2000" dirty="0"/>
            </a:p>
            <a:p>
              <a:pPr marL="0" lvl="0" indent="0" eaLnBrk="1" hangingPunct="1">
                <a:buNone/>
              </a:pPr>
              <a:r>
                <a:rPr lang="en-US" altLang="zh-CN" sz="2000" dirty="0"/>
                <a:t>   (</a:t>
              </a:r>
              <a:r>
                <a:rPr lang="zh-CN" altLang="en-US" sz="2000" dirty="0"/>
                <a:t>验算不对</a:t>
              </a:r>
              <a:r>
                <a:rPr lang="en-US" altLang="zh-CN" sz="2000" dirty="0"/>
                <a:t>) </a:t>
              </a:r>
              <a:endParaRPr lang="en-US" altLang="zh-CN" sz="2000" dirty="0"/>
            </a:p>
          </p:txBody>
        </p:sp>
        <p:sp>
          <p:nvSpPr>
            <p:cNvPr id="51206" name="Rectangle 5"/>
            <p:cNvSpPr/>
            <p:nvPr/>
          </p:nvSpPr>
          <p:spPr>
            <a:xfrm>
              <a:off x="3892" y="1152"/>
              <a:ext cx="1004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0000" tIns="46800" rIns="90000" bIns="468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r>
                <a:rPr lang="en-US" altLang="zh-CN" sz="2000" dirty="0"/>
                <a:t>T</a:t>
              </a:r>
              <a:r>
                <a:rPr lang="en-US" altLang="zh-CN" sz="2000" baseline="-25000" dirty="0"/>
                <a:t>2</a:t>
              </a:r>
              <a:endParaRPr lang="en-US" altLang="zh-CN" sz="2000" baseline="-25000" dirty="0"/>
            </a:p>
          </p:txBody>
        </p:sp>
        <p:sp>
          <p:nvSpPr>
            <p:cNvPr id="51207" name="Rectangle 6"/>
            <p:cNvSpPr/>
            <p:nvPr/>
          </p:nvSpPr>
          <p:spPr>
            <a:xfrm>
              <a:off x="2688" y="1152"/>
              <a:ext cx="1204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0000" tIns="46800" rIns="90000" bIns="468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r>
                <a:rPr lang="en-US" altLang="zh-CN" sz="2000" dirty="0"/>
                <a:t>T</a:t>
              </a:r>
              <a:r>
                <a:rPr lang="en-US" altLang="zh-CN" sz="2000" baseline="-25000" dirty="0"/>
                <a:t>1</a:t>
              </a:r>
              <a:endParaRPr lang="en-US" altLang="zh-CN" sz="2000" baseline="-25000" dirty="0"/>
            </a:p>
          </p:txBody>
        </p:sp>
        <p:sp>
          <p:nvSpPr>
            <p:cNvPr id="51208" name="Line 7"/>
            <p:cNvSpPr/>
            <p:nvPr/>
          </p:nvSpPr>
          <p:spPr>
            <a:xfrm>
              <a:off x="2688" y="1152"/>
              <a:ext cx="2208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09" name="Line 8"/>
            <p:cNvSpPr/>
            <p:nvPr/>
          </p:nvSpPr>
          <p:spPr>
            <a:xfrm>
              <a:off x="2688" y="1402"/>
              <a:ext cx="220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10" name="Line 9"/>
            <p:cNvSpPr/>
            <p:nvPr/>
          </p:nvSpPr>
          <p:spPr>
            <a:xfrm>
              <a:off x="2688" y="3722"/>
              <a:ext cx="2208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11" name="Line 10"/>
            <p:cNvSpPr/>
            <p:nvPr/>
          </p:nvSpPr>
          <p:spPr>
            <a:xfrm>
              <a:off x="2688" y="1152"/>
              <a:ext cx="0" cy="257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12" name="Line 11"/>
            <p:cNvSpPr/>
            <p:nvPr/>
          </p:nvSpPr>
          <p:spPr>
            <a:xfrm>
              <a:off x="3892" y="1152"/>
              <a:ext cx="0" cy="257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13" name="Line 12"/>
            <p:cNvSpPr/>
            <p:nvPr/>
          </p:nvSpPr>
          <p:spPr>
            <a:xfrm>
              <a:off x="4896" y="1152"/>
              <a:ext cx="0" cy="257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1203" name="Rectangle 13"/>
          <p:cNvSpPr/>
          <p:nvPr/>
        </p:nvSpPr>
        <p:spPr>
          <a:xfrm>
            <a:off x="3276600" y="5867400"/>
            <a:ext cx="2590800" cy="609600"/>
          </a:xfrm>
          <a:prstGeom prst="rect">
            <a:avLst/>
          </a:prstGeom>
          <a:noFill/>
          <a:ln w="28575">
            <a:noFill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(b) </a:t>
            </a:r>
            <a:r>
              <a:rPr lang="zh-CN" altLang="en-US" sz="2400" b="1" dirty="0">
                <a:latin typeface="Times New Roman" panose="02020603050405020304" pitchFamily="18" charset="0"/>
              </a:rPr>
              <a:t>不可重复读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2226" name="Group 2"/>
          <p:cNvGrpSpPr/>
          <p:nvPr/>
        </p:nvGrpSpPr>
        <p:grpSpPr>
          <a:xfrm>
            <a:off x="2438400" y="1828800"/>
            <a:ext cx="3200400" cy="3471863"/>
            <a:chOff x="1344" y="1104"/>
            <a:chExt cx="2016" cy="2187"/>
          </a:xfrm>
        </p:grpSpPr>
        <p:sp>
          <p:nvSpPr>
            <p:cNvPr id="52228" name="Rectangle 3"/>
            <p:cNvSpPr/>
            <p:nvPr/>
          </p:nvSpPr>
          <p:spPr>
            <a:xfrm>
              <a:off x="2511" y="1354"/>
              <a:ext cx="849" cy="193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0000" tIns="46800" rIns="90000" bIns="468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r>
                <a:rPr lang="en-US" altLang="zh-CN" sz="2800" dirty="0"/>
                <a:t> </a:t>
              </a:r>
              <a:r>
                <a:rPr lang="en-US" altLang="zh-CN" sz="2000" dirty="0"/>
                <a:t> </a:t>
              </a:r>
              <a:endParaRPr lang="en-US" altLang="zh-CN" sz="2000" dirty="0"/>
            </a:p>
            <a:p>
              <a:pPr marL="0" lvl="0" indent="0" eaLnBrk="1" hangingPunct="1">
                <a:buNone/>
              </a:pPr>
              <a:r>
                <a:rPr lang="en-US" altLang="zh-CN" sz="2000" dirty="0"/>
                <a:t> </a:t>
              </a:r>
              <a:endParaRPr lang="en-US" altLang="zh-CN" sz="2000" dirty="0"/>
            </a:p>
            <a:p>
              <a:pPr marL="0" lvl="0" indent="0" eaLnBrk="1" hangingPunct="1">
                <a:buNone/>
              </a:pPr>
              <a:r>
                <a:rPr lang="en-US" altLang="zh-CN" sz="2000" dirty="0"/>
                <a:t> </a:t>
              </a:r>
              <a:endParaRPr lang="en-US" altLang="zh-CN" sz="2000" dirty="0"/>
            </a:p>
            <a:p>
              <a:pPr marL="0" lvl="0" indent="0" eaLnBrk="1" hangingPunct="1">
                <a:buNone/>
              </a:pPr>
              <a:r>
                <a:rPr lang="zh-CN" altLang="en-US" sz="2000" dirty="0"/>
                <a:t>读</a:t>
              </a:r>
              <a:r>
                <a:rPr lang="en-US" altLang="zh-CN" sz="2000" dirty="0"/>
                <a:t>C=200</a:t>
              </a:r>
              <a:endParaRPr lang="en-US" altLang="zh-CN" sz="2000" dirty="0"/>
            </a:p>
            <a:p>
              <a:pPr marL="0" lvl="0" indent="0" eaLnBrk="1" hangingPunct="1">
                <a:buNone/>
              </a:pPr>
              <a:r>
                <a:rPr lang="en-US" altLang="zh-CN" sz="2000" dirty="0"/>
                <a:t> </a:t>
              </a:r>
              <a:endParaRPr lang="en-US" altLang="zh-CN" sz="2000" dirty="0"/>
            </a:p>
            <a:p>
              <a:pPr marL="0" lvl="0" indent="0" eaLnBrk="1" hangingPunct="1">
                <a:buNone/>
              </a:pPr>
              <a:r>
                <a:rPr lang="en-US" altLang="zh-CN" sz="2000" dirty="0"/>
                <a:t> </a:t>
              </a:r>
              <a:endParaRPr lang="en-US" altLang="zh-CN" sz="2000" dirty="0"/>
            </a:p>
            <a:p>
              <a:pPr marL="0" lvl="0" indent="0" eaLnBrk="1" hangingPunct="1">
                <a:buNone/>
              </a:pPr>
              <a:r>
                <a:rPr lang="en-US" altLang="zh-CN" sz="2000" dirty="0"/>
                <a:t> </a:t>
              </a:r>
              <a:endParaRPr lang="en-US" altLang="zh-CN" sz="2000" dirty="0"/>
            </a:p>
            <a:p>
              <a:pPr marL="0" lvl="0" indent="0" eaLnBrk="1" hangingPunct="1">
                <a:buNone/>
              </a:pPr>
              <a:endParaRPr lang="en-US" altLang="zh-CN" sz="2000" dirty="0"/>
            </a:p>
          </p:txBody>
        </p:sp>
        <p:sp>
          <p:nvSpPr>
            <p:cNvPr id="52229" name="Rectangle 4"/>
            <p:cNvSpPr/>
            <p:nvPr/>
          </p:nvSpPr>
          <p:spPr>
            <a:xfrm>
              <a:off x="1344" y="1354"/>
              <a:ext cx="1296" cy="193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0000" tIns="46800" rIns="90000" bIns="468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r>
                <a:rPr lang="en-US" altLang="zh-CN" sz="2000" dirty="0"/>
                <a:t>① </a:t>
              </a:r>
              <a:r>
                <a:rPr lang="zh-CN" altLang="en-US" sz="2000" dirty="0"/>
                <a:t>读</a:t>
              </a:r>
              <a:r>
                <a:rPr lang="en-US" altLang="zh-CN" sz="2000" dirty="0"/>
                <a:t>C=100</a:t>
              </a:r>
              <a:endParaRPr lang="en-US" altLang="zh-CN" sz="2000" dirty="0"/>
            </a:p>
            <a:p>
              <a:pPr marL="0" lvl="0" indent="0" eaLnBrk="1" hangingPunct="1">
                <a:buNone/>
              </a:pPr>
              <a:r>
                <a:rPr lang="en-US" altLang="zh-CN" sz="2000" dirty="0"/>
                <a:t>     C←C*2</a:t>
              </a:r>
              <a:endParaRPr lang="en-US" altLang="zh-CN" sz="2000" dirty="0"/>
            </a:p>
            <a:p>
              <a:pPr marL="0" lvl="0" indent="0" eaLnBrk="1" hangingPunct="1">
                <a:buNone/>
              </a:pPr>
              <a:r>
                <a:rPr lang="en-US" altLang="zh-CN" sz="2000" dirty="0"/>
                <a:t>     </a:t>
              </a:r>
              <a:r>
                <a:rPr lang="zh-CN" altLang="en-US" sz="2000" dirty="0"/>
                <a:t>写回</a:t>
              </a:r>
              <a:r>
                <a:rPr lang="en-US" altLang="zh-CN" sz="2000" dirty="0"/>
                <a:t>C</a:t>
              </a:r>
              <a:endParaRPr lang="en-US" altLang="zh-CN" sz="2000" dirty="0"/>
            </a:p>
            <a:p>
              <a:pPr marL="0" lvl="0" indent="0" eaLnBrk="1" hangingPunct="1">
                <a:buNone/>
              </a:pPr>
              <a:r>
                <a:rPr lang="en-US" altLang="zh-CN" sz="2000" dirty="0"/>
                <a:t>②   </a:t>
              </a:r>
              <a:endParaRPr lang="en-US" altLang="zh-CN" sz="2000" dirty="0"/>
            </a:p>
            <a:p>
              <a:pPr marL="0" lvl="0" indent="0" eaLnBrk="1" hangingPunct="1">
                <a:buNone/>
              </a:pPr>
              <a:r>
                <a:rPr lang="en-US" altLang="zh-CN" sz="2000" dirty="0"/>
                <a:t> </a:t>
              </a:r>
              <a:endParaRPr lang="en-US" altLang="zh-CN" sz="2000" dirty="0"/>
            </a:p>
            <a:p>
              <a:pPr marL="0" lvl="0" indent="0" eaLnBrk="1" hangingPunct="1">
                <a:buNone/>
              </a:pPr>
              <a:r>
                <a:rPr lang="en-US" altLang="zh-CN" sz="2000" dirty="0"/>
                <a:t> </a:t>
              </a:r>
              <a:endParaRPr lang="en-US" altLang="zh-CN" sz="2000" dirty="0"/>
            </a:p>
            <a:p>
              <a:pPr marL="0" lvl="0" indent="0" eaLnBrk="1" hangingPunct="1">
                <a:buNone/>
              </a:pPr>
              <a:r>
                <a:rPr lang="en-US" altLang="zh-CN" sz="2000" dirty="0"/>
                <a:t>③ ROLLBACK</a:t>
              </a:r>
              <a:endParaRPr lang="en-US" altLang="zh-CN" sz="2000" dirty="0"/>
            </a:p>
            <a:p>
              <a:pPr marL="0" lvl="0" indent="0" eaLnBrk="1" hangingPunct="1">
                <a:buNone/>
              </a:pPr>
              <a:r>
                <a:rPr lang="en-US" altLang="zh-CN" sz="2000" dirty="0"/>
                <a:t>     C</a:t>
              </a:r>
              <a:r>
                <a:rPr lang="zh-CN" altLang="en-US" sz="2000" dirty="0"/>
                <a:t>恢复为</a:t>
              </a:r>
              <a:r>
                <a:rPr lang="en-US" altLang="zh-CN" sz="2000" dirty="0"/>
                <a:t>100</a:t>
              </a:r>
              <a:endParaRPr lang="en-US" altLang="zh-CN" sz="2000" dirty="0"/>
            </a:p>
          </p:txBody>
        </p:sp>
        <p:sp>
          <p:nvSpPr>
            <p:cNvPr id="52230" name="Rectangle 5"/>
            <p:cNvSpPr/>
            <p:nvPr/>
          </p:nvSpPr>
          <p:spPr>
            <a:xfrm>
              <a:off x="2511" y="1104"/>
              <a:ext cx="849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0000" tIns="46800" rIns="90000" bIns="468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r>
                <a:rPr lang="en-US" altLang="zh-CN" sz="2000" dirty="0"/>
                <a:t>T</a:t>
              </a:r>
              <a:r>
                <a:rPr lang="en-US" altLang="zh-CN" sz="2000" baseline="-25000" dirty="0"/>
                <a:t>2</a:t>
              </a:r>
              <a:endParaRPr lang="en-US" altLang="zh-CN" sz="2000" baseline="-25000" dirty="0"/>
            </a:p>
          </p:txBody>
        </p:sp>
        <p:sp>
          <p:nvSpPr>
            <p:cNvPr id="52231" name="Rectangle 6"/>
            <p:cNvSpPr/>
            <p:nvPr/>
          </p:nvSpPr>
          <p:spPr>
            <a:xfrm>
              <a:off x="1344" y="1104"/>
              <a:ext cx="1167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0000" tIns="46800" rIns="90000" bIns="468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r>
                <a:rPr lang="en-US" altLang="zh-CN" sz="2000" dirty="0"/>
                <a:t>T</a:t>
              </a:r>
              <a:r>
                <a:rPr lang="en-US" altLang="zh-CN" sz="2000" baseline="-25000" dirty="0"/>
                <a:t>1</a:t>
              </a:r>
              <a:endParaRPr lang="en-US" altLang="zh-CN" sz="2000" baseline="-25000" dirty="0"/>
            </a:p>
          </p:txBody>
        </p:sp>
        <p:sp>
          <p:nvSpPr>
            <p:cNvPr id="52232" name="Line 7"/>
            <p:cNvSpPr/>
            <p:nvPr/>
          </p:nvSpPr>
          <p:spPr>
            <a:xfrm>
              <a:off x="1344" y="1104"/>
              <a:ext cx="201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33" name="Line 8"/>
            <p:cNvSpPr/>
            <p:nvPr/>
          </p:nvSpPr>
          <p:spPr>
            <a:xfrm>
              <a:off x="1344" y="1354"/>
              <a:ext cx="201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34" name="Line 9"/>
            <p:cNvSpPr/>
            <p:nvPr/>
          </p:nvSpPr>
          <p:spPr>
            <a:xfrm>
              <a:off x="1344" y="3291"/>
              <a:ext cx="201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35" name="Line 10"/>
            <p:cNvSpPr/>
            <p:nvPr/>
          </p:nvSpPr>
          <p:spPr>
            <a:xfrm>
              <a:off x="1344" y="1104"/>
              <a:ext cx="0" cy="2187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36" name="Line 11"/>
            <p:cNvSpPr/>
            <p:nvPr/>
          </p:nvSpPr>
          <p:spPr>
            <a:xfrm>
              <a:off x="2496" y="1104"/>
              <a:ext cx="0" cy="2187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37" name="Line 12"/>
            <p:cNvSpPr/>
            <p:nvPr/>
          </p:nvSpPr>
          <p:spPr>
            <a:xfrm>
              <a:off x="3360" y="1104"/>
              <a:ext cx="0" cy="2187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2227" name="Rectangle 13"/>
          <p:cNvSpPr/>
          <p:nvPr/>
        </p:nvSpPr>
        <p:spPr>
          <a:xfrm>
            <a:off x="2438400" y="5410200"/>
            <a:ext cx="2590800" cy="609600"/>
          </a:xfrm>
          <a:prstGeom prst="rect">
            <a:avLst/>
          </a:prstGeom>
          <a:noFill/>
          <a:ln w="28575">
            <a:noFill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(c) </a:t>
            </a:r>
            <a:r>
              <a:rPr lang="zh-CN" altLang="en-US" sz="2400" b="1" dirty="0">
                <a:latin typeface="Times New Roman" panose="02020603050405020304" pitchFamily="18" charset="0"/>
              </a:rPr>
              <a:t>读“脏”数据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3" name="Rectangle 2"/>
          <p:cNvSpPr>
            <a:spLocks noGrp="1"/>
          </p:cNvSpPr>
          <p:nvPr>
            <p:ph type="title"/>
          </p:nvPr>
        </p:nvSpPr>
        <p:spPr>
          <a:xfrm>
            <a:off x="928688" y="500063"/>
            <a:ext cx="5267325" cy="811212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b="1" dirty="0"/>
              <a:t>考试题目类型</a:t>
            </a:r>
            <a:endParaRPr lang="zh-CN" altLang="en-US" sz="3600" b="1" dirty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>
          <a:xfrm>
            <a:off x="358775" y="1412875"/>
            <a:ext cx="8785225" cy="53292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、单选题（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10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题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*2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分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=20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分）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基础理论知识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、填空题（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10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题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*1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分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=10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分）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基础理论知识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、简答题（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题，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分）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数据库的定义和特点；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数据库独立性的含义；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3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关系模型的完整性约束条件；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4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事务的定义和特性；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5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封锁类型；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6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三级封锁协议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、查询题（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24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分）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关系代数（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题）、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SQL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语句（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题）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、设计题（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分）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E-R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图及关系模型的转换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、分析题（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15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分）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函数依赖及范式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Ø"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WordArt 2"/>
          <p:cNvSpPr>
            <a:spLocks noTextEdit="1"/>
          </p:cNvSpPr>
          <p:nvPr/>
        </p:nvSpPr>
        <p:spPr>
          <a:xfrm>
            <a:off x="1476375" y="2636838"/>
            <a:ext cx="6400800" cy="16002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  <a:normAutofit/>
          </a:bodyPr>
          <a:p>
            <a:pPr algn="ctr"/>
            <a:r>
              <a:rPr lang="zh-CN" altLang="en-US" sz="3600">
                <a:ln w="9525" cap="sq" cmpd="sng">
                  <a:solidFill>
                    <a:srgbClr val="CC99FF"/>
                  </a:solidFill>
                  <a:prstDash val="solid"/>
                  <a:headEnd type="none" w="sm" len="sm"/>
                  <a:tailEnd type="none" w="sm" len="sm"/>
                </a:ln>
                <a:solidFill>
                  <a:schemeClr val="folHlink"/>
                </a:solidFill>
                <a:effectLst>
                  <a:outerShdw dist="53882" dir="2699999" algn="ctr" rotWithShape="0">
                    <a:srgbClr val="9999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祝各位同学复习愉快、考试顺利！</a:t>
            </a:r>
            <a:endParaRPr lang="zh-CN" altLang="en-US" sz="3600">
              <a:ln w="9525" cap="sq" cmpd="sng">
                <a:solidFill>
                  <a:srgbClr val="CC99FF"/>
                </a:solidFill>
                <a:prstDash val="solid"/>
                <a:headEnd type="none" w="sm" len="sm"/>
                <a:tailEnd type="none" w="sm" len="sm"/>
              </a:ln>
              <a:solidFill>
                <a:schemeClr val="folHlink"/>
              </a:solidFill>
              <a:effectLst>
                <a:outerShdw dist="53882" dir="2699999" algn="ctr" rotWithShape="0">
                  <a:srgbClr val="9999FF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数据库系统概论">
  <a:themeElements>
    <a:clrScheme name="活力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">
      <a:majorFont>
        <a:latin typeface="Franklin Gothic Medium"/>
        <a:ea typeface="微软雅黑"/>
        <a:cs typeface=""/>
      </a:majorFont>
      <a:minorFont>
        <a:latin typeface="Franklin Gothic Medium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数据库系统概论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0</TotalTime>
  <Words>6594</Words>
  <Application>WPS 演示</Application>
  <PresentationFormat>全屏显示(4:3)</PresentationFormat>
  <Paragraphs>899</Paragraphs>
  <Slides>56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56</vt:i4>
      </vt:variant>
    </vt:vector>
  </HeadingPairs>
  <TitlesOfParts>
    <vt:vector size="76" baseType="lpstr">
      <vt:lpstr>Arial</vt:lpstr>
      <vt:lpstr>宋体</vt:lpstr>
      <vt:lpstr>Wingdings</vt:lpstr>
      <vt:lpstr>Arial Black</vt:lpstr>
      <vt:lpstr>Times New Roman</vt:lpstr>
      <vt:lpstr>微软雅黑</vt:lpstr>
      <vt:lpstr>华文琥珀</vt:lpstr>
      <vt:lpstr>Tahoma</vt:lpstr>
      <vt:lpstr>Symbol</vt:lpstr>
      <vt:lpstr>Arial Unicode MS</vt:lpstr>
      <vt:lpstr>Franklin Gothic Medium</vt:lpstr>
      <vt:lpstr>Courier New</vt:lpstr>
      <vt:lpstr>Monotype Sorts</vt:lpstr>
      <vt:lpstr>Wingdings</vt:lpstr>
      <vt:lpstr>_x000B__x000C_</vt:lpstr>
      <vt:lpstr>Segoe Print</vt:lpstr>
      <vt:lpstr>MS PGothic</vt:lpstr>
      <vt:lpstr>Pixel</vt:lpstr>
      <vt:lpstr>1_Pixel</vt:lpstr>
      <vt:lpstr>数据库系统概论</vt:lpstr>
      <vt:lpstr>回顾</vt:lpstr>
      <vt:lpstr>PowerPoint 演示文稿</vt:lpstr>
      <vt:lpstr>PowerPoint 演示文稿</vt:lpstr>
      <vt:lpstr>PowerPoint 演示文稿</vt:lpstr>
      <vt:lpstr>第2章 关系数据库</vt:lpstr>
      <vt:lpstr>第2章 关系数据库</vt:lpstr>
      <vt:lpstr>第2章 关系数据库 P45图2.4 </vt:lpstr>
      <vt:lpstr>笛卡儿积</vt:lpstr>
      <vt:lpstr>选择运算</vt:lpstr>
      <vt:lpstr>投影运算</vt:lpstr>
      <vt:lpstr>P91 连接查询</vt:lpstr>
      <vt:lpstr>P91 连接查询</vt:lpstr>
      <vt:lpstr>系R和S，它们进行了什么运算？</vt:lpstr>
      <vt:lpstr>第二章  </vt:lpstr>
      <vt:lpstr>第三章  SQL</vt:lpstr>
      <vt:lpstr>第三章  SQL</vt:lpstr>
      <vt:lpstr>增删改查</vt:lpstr>
      <vt:lpstr>基本表的定义</vt:lpstr>
      <vt:lpstr>基本表修改</vt:lpstr>
      <vt:lpstr>2、数据查询</vt:lpstr>
      <vt:lpstr>聚集函数 </vt:lpstr>
      <vt:lpstr>插入元组</vt:lpstr>
      <vt:lpstr>修改数据</vt:lpstr>
      <vt:lpstr>删除数据</vt:lpstr>
      <vt:lpstr>建立视图</vt:lpstr>
      <vt:lpstr>第4章  数据库保护—安全性</vt:lpstr>
      <vt:lpstr>PowerPoint 演示文稿</vt:lpstr>
      <vt:lpstr>第6章 关系数据理论</vt:lpstr>
      <vt:lpstr>第6章 关系数据理论</vt:lpstr>
      <vt:lpstr>3.例题 函数依赖闭包 </vt:lpstr>
      <vt:lpstr>3.例题 函数依赖闭包 </vt:lpstr>
      <vt:lpstr>3.例题 函数依赖闭包 </vt:lpstr>
      <vt:lpstr>4. Armstrong公理系统的有效性与完备性</vt:lpstr>
      <vt:lpstr>4. Armstrong公理系统的有效性与完备性</vt:lpstr>
      <vt:lpstr>4. Armstrong公理系统的有效性与完备性</vt:lpstr>
      <vt:lpstr>题目1</vt:lpstr>
      <vt:lpstr>题目2</vt:lpstr>
      <vt:lpstr>PowerPoint 演示文稿</vt:lpstr>
      <vt:lpstr>题目3</vt:lpstr>
      <vt:lpstr>PowerPoint 演示文稿</vt:lpstr>
      <vt:lpstr>题目4</vt:lpstr>
      <vt:lpstr>PowerPoint 演示文稿</vt:lpstr>
      <vt:lpstr>PowerPoint 演示文稿</vt:lpstr>
      <vt:lpstr>第7章 数据库设计 PPT的37页</vt:lpstr>
      <vt:lpstr>第7章 数据库设计</vt:lpstr>
      <vt:lpstr>E-R图向关系模型的转换（续）</vt:lpstr>
      <vt:lpstr>PowerPoint 演示文稿</vt:lpstr>
      <vt:lpstr>事务故障的恢复</vt:lpstr>
      <vt:lpstr>系统故障的恢复</vt:lpstr>
      <vt:lpstr>介质故障的恢复</vt:lpstr>
      <vt:lpstr>PowerPoint 演示文稿</vt:lpstr>
      <vt:lpstr>PowerPoint 演示文稿</vt:lpstr>
      <vt:lpstr>PowerPoint 演示文稿</vt:lpstr>
      <vt:lpstr>PowerPoint 演示文稿</vt:lpstr>
      <vt:lpstr>考试题目类型</vt:lpstr>
      <vt:lpstr>PowerPoint 演示文稿</vt:lpstr>
    </vt:vector>
  </TitlesOfParts>
  <Company>Microsoft 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复习提纲</dc:title>
  <dc:creator>phy</dc:creator>
  <cp:lastModifiedBy>茗</cp:lastModifiedBy>
  <cp:revision>323</cp:revision>
  <dcterms:created xsi:type="dcterms:W3CDTF">2006-01-09T10:00:00Z</dcterms:created>
  <dcterms:modified xsi:type="dcterms:W3CDTF">2026-05-25T03:38:08Z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1C30D3B4845E42A19A6C2F328CA94638_12</vt:lpwstr>
  </property>
  <property fmtid="{D5CDD505-2E9C-101B-9397-08002B2CF9AE}" pid="3" name="KSOProductBuildVer">
    <vt:lpwstr>2052-12.1.0.26375</vt:lpwstr>
  </property>
</Properties>
</file>