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29"/>
  </p:notesMasterIdLst>
  <p:handoutMasterIdLst>
    <p:handoutMasterId r:id="rId30"/>
  </p:handoutMasterIdLst>
  <p:sldIdLst>
    <p:sldId id="1410" r:id="rId6"/>
    <p:sldId id="1418" r:id="rId7"/>
    <p:sldId id="1413" r:id="rId8"/>
    <p:sldId id="1411" r:id="rId9"/>
    <p:sldId id="1412" r:id="rId10"/>
    <p:sldId id="1415" r:id="rId11"/>
    <p:sldId id="1416" r:id="rId12"/>
    <p:sldId id="1417" r:id="rId13"/>
    <p:sldId id="1414" r:id="rId14"/>
    <p:sldId id="1419" r:id="rId15"/>
    <p:sldId id="1420" r:id="rId16"/>
    <p:sldId id="1421" r:id="rId17"/>
    <p:sldId id="1423" r:id="rId18"/>
    <p:sldId id="1424" r:id="rId19"/>
    <p:sldId id="1425" r:id="rId20"/>
    <p:sldId id="1426" r:id="rId21"/>
    <p:sldId id="1427" r:id="rId22"/>
    <p:sldId id="1428" r:id="rId23"/>
    <p:sldId id="1429" r:id="rId24"/>
    <p:sldId id="1430" r:id="rId25"/>
    <p:sldId id="1431" r:id="rId26"/>
    <p:sldId id="1432" r:id="rId27"/>
    <p:sldId id="1422" r:id="rId28"/>
  </p:sldIdLst>
  <p:sldSz cx="12192000" cy="6858000"/>
  <p:notesSz cx="6833870" cy="9979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94651"/>
  </p:normalViewPr>
  <p:slideViewPr>
    <p:cSldViewPr snapToObjects="1" showGuides="1">
      <p:cViewPr varScale="1">
        <p:scale>
          <a:sx n="59" d="100"/>
          <a:sy n="59" d="100"/>
        </p:scale>
        <p:origin x="868" y="52"/>
      </p:cViewPr>
      <p:guideLst>
        <p:guide orient="horz" pos="2160"/>
        <p:guide pos="39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7325" y="0"/>
            <a:ext cx="2950924" cy="5464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9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90"/>
            </a:lvl1pPr>
          </a:lstStyle>
          <a:p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7325" y="10343899"/>
            <a:ext cx="2950924" cy="546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9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2275" cy="498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84F3FDE9-766E-824F-8219-5FA0102948F5}" type="datetimeFigureOut">
              <a:rPr lang="zh-CN" altLang="en-US"/>
            </a:fld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488" y="747713"/>
            <a:ext cx="665162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2625" y="4740275"/>
            <a:ext cx="5467350" cy="4489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7375"/>
            <a:ext cx="2960688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9477375"/>
            <a:ext cx="2962275" cy="5000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04FE809C-0FE3-3145-BED1-7DEB80ACC30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39851"/>
            <a:ext cx="5384800" cy="4854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-33338"/>
            <a:ext cx="2743200" cy="6227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-33338"/>
            <a:ext cx="8026400" cy="6227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308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  <a:endParaRPr lang="zh-CN" altLang="zh-CN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39851"/>
            <a:ext cx="10972800" cy="485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  <a:endParaRPr lang="zh-CN" altLang="zh-CN"/>
          </a:p>
          <a:p>
            <a:pPr lvl="1"/>
            <a:r>
              <a:rPr lang="zh-CN" altLang="zh-CN"/>
              <a:t>第二级</a:t>
            </a:r>
            <a:endParaRPr lang="zh-CN" altLang="zh-CN"/>
          </a:p>
          <a:p>
            <a:pPr lvl="2"/>
            <a:r>
              <a:rPr lang="zh-CN" altLang="zh-CN"/>
              <a:t>第三级</a:t>
            </a:r>
            <a:endParaRPr lang="zh-CN" altLang="zh-CN"/>
          </a:p>
          <a:p>
            <a:pPr lvl="3"/>
            <a:r>
              <a:rPr lang="zh-CN" altLang="zh-CN"/>
              <a:t>第四级</a:t>
            </a:r>
            <a:endParaRPr lang="zh-CN" altLang="zh-CN"/>
          </a:p>
          <a:p>
            <a:pPr lvl="4"/>
            <a:r>
              <a:rPr lang="zh-CN" altLang="zh-CN"/>
              <a:t>第五级</a:t>
            </a:r>
            <a:endParaRPr lang="zh-CN" altLang="zh-CN"/>
          </a:p>
        </p:txBody>
      </p:sp>
      <p:sp>
        <p:nvSpPr>
          <p:cNvPr id="2" name="WordArt 8"/>
          <p:cNvSpPr/>
          <p:nvPr userDrawn="1"/>
        </p:nvSpPr>
        <p:spPr>
          <a:xfrm rot="20636009">
            <a:off x="1944857" y="1830959"/>
            <a:ext cx="7582205" cy="290992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1328"/>
              </a:avLst>
            </a:prstTxWarp>
            <a:norm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中国人民大学信息学院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kern="1200" cap="none" spc="0" normalizeH="0" baseline="0" noProof="1">
                <a:ln w="9525" cap="flat" cmpd="sng">
                  <a:solidFill>
                    <a:schemeClr val="bg1">
                      <a:alpha val="5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  <a:noFill/>
                <a:latin typeface="华文琥珀" panose="02010800040101010101" charset="-122"/>
                <a:ea typeface="华文琥珀" panose="02010800040101010101" charset="-122"/>
                <a:cs typeface="微软雅黑" panose="020B0503020204020204" charset="-122"/>
              </a:rPr>
              <a:t>数据库系统概论</a:t>
            </a:r>
            <a:endParaRPr kumimoji="0" lang="zh-CN" altLang="en-US" sz="3600" b="0" i="0" u="none" strike="noStrike" kern="1200" cap="none" spc="0" normalizeH="0" baseline="0" noProof="1">
              <a:ln w="9525" cap="flat" cmpd="sng">
                <a:solidFill>
                  <a:schemeClr val="bg1">
                    <a:alpha val="50000"/>
                  </a:schemeClr>
                </a:solidFill>
                <a:prstDash val="solid"/>
                <a:headEnd type="none" w="med" len="med"/>
                <a:tailEnd type="none" w="med" len="med"/>
              </a:ln>
              <a:noFill/>
              <a:latin typeface="华文琥珀" panose="02010800040101010101" charset="-122"/>
              <a:ea typeface="华文琥珀" panose="02010800040101010101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微软雅黑" panose="020B050302020402020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GROUP BY</a:t>
            </a:r>
            <a:r>
              <a:rPr lang="zh-CN" altLang="en-US" sz="3600"/>
              <a:t>子句（续）</a:t>
            </a:r>
            <a:endParaRPr lang="zh-CN" alt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321945" y="1111885"/>
            <a:ext cx="11696700" cy="558419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3200"/>
              <a:t>[</a:t>
            </a:r>
            <a:r>
              <a:rPr lang="zh-CN" altLang="en-US" sz="3200"/>
              <a:t>例</a:t>
            </a:r>
            <a:r>
              <a:rPr lang="en-US" altLang="zh-CN" sz="3200"/>
              <a:t>3.48 ]</a:t>
            </a:r>
            <a:r>
              <a:rPr lang="zh-CN" altLang="en-US" sz="3200"/>
              <a:t>查询平均成绩大于等于</a:t>
            </a:r>
            <a:r>
              <a:rPr lang="en-US" altLang="zh-CN" sz="3200"/>
              <a:t>90</a:t>
            </a:r>
            <a:r>
              <a:rPr lang="zh-CN" altLang="en-US" sz="3200"/>
              <a:t>分的学生学号和平均成绩</a:t>
            </a:r>
            <a:endParaRPr lang="zh-CN" altLang="en-US" sz="3200"/>
          </a:p>
          <a:p>
            <a:pPr marL="0" indent="0" algn="just">
              <a:buNone/>
            </a:pPr>
            <a:endParaRPr lang="zh-CN" altLang="zh-CN" sz="3200"/>
          </a:p>
          <a:p>
            <a:pPr marL="0" indent="0" algn="just">
              <a:buNone/>
            </a:pPr>
            <a:endParaRPr lang="zh-CN" altLang="en-US" sz="3200"/>
          </a:p>
        </p:txBody>
      </p:sp>
      <p:sp>
        <p:nvSpPr>
          <p:cNvPr id="2" name="文本框 1"/>
          <p:cNvSpPr txBox="1"/>
          <p:nvPr/>
        </p:nvSpPr>
        <p:spPr>
          <a:xfrm>
            <a:off x="351155" y="3140710"/>
            <a:ext cx="11734165" cy="30460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可以放什么？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原来表里就有的列名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（比如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Sno, Sname, Grade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对列做运算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聚合出来的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新东西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（比如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AVG(Grade), MAX(Grade)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extract(year from current_date)-extract(year from Sbirthdate) 等等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式子</a:t>
            </a:r>
            <a:endParaRPr 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分组是怎么分的？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BY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谁，就按谁的值分组，值一样的放一组。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按学号分组：学号一样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同一组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按分数分组：分数一样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同一组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63750" y="1557020"/>
            <a:ext cx="775081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>
              <a:buNone/>
            </a:pPr>
            <a:r>
              <a:rPr lang="en-US" altLang="zh-CN" sz="2800" b="1">
                <a:sym typeface="+mn-ea"/>
              </a:rPr>
              <a:t>SELECT Sno,AVG(Grade)</a:t>
            </a:r>
            <a:endParaRPr lang="zh-CN" altLang="zh-CN" sz="2800" b="1"/>
          </a:p>
          <a:p>
            <a:pPr marL="0" indent="0" algn="just">
              <a:buNone/>
            </a:pPr>
            <a:r>
              <a:rPr lang="en-US" altLang="zh-CN" sz="2800" b="1">
                <a:sym typeface="+mn-ea"/>
              </a:rPr>
              <a:t>FROM SC</a:t>
            </a:r>
            <a:endParaRPr lang="zh-CN" altLang="zh-CN" sz="2800" b="1"/>
          </a:p>
          <a:p>
            <a:pPr marL="0" indent="0" algn="just">
              <a:buNone/>
            </a:pPr>
            <a:r>
              <a:rPr lang="en-US" altLang="zh-CN" sz="2800" b="1">
                <a:sym typeface="+mn-ea"/>
              </a:rPr>
              <a:t>GROUP BY Sno</a:t>
            </a:r>
            <a:endParaRPr lang="zh-CN" altLang="zh-CN" sz="2800" b="1"/>
          </a:p>
          <a:p>
            <a:pPr marL="0" indent="0" algn="just">
              <a:buNone/>
            </a:pPr>
            <a:r>
              <a:rPr lang="en-US" altLang="zh-CN" sz="2800" b="1">
                <a:solidFill>
                  <a:srgbClr val="000000"/>
                </a:solidFill>
                <a:sym typeface="+mn-ea"/>
              </a:rPr>
              <a:t>HAVING AVG(Grade)&gt;=90;</a:t>
            </a:r>
            <a:endParaRPr lang="en-US" altLang="zh-CN" sz="2800" b="1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GROUP BY</a:t>
            </a:r>
            <a:r>
              <a:rPr lang="zh-CN" altLang="en-US" sz="3600"/>
              <a:t>子句（续）</a:t>
            </a:r>
            <a:endParaRPr lang="zh-CN" altLang="en-US" sz="3600"/>
          </a:p>
        </p:txBody>
      </p:sp>
      <p:sp>
        <p:nvSpPr>
          <p:cNvPr id="2" name="文本框 1"/>
          <p:cNvSpPr txBox="1"/>
          <p:nvPr/>
        </p:nvSpPr>
        <p:spPr>
          <a:xfrm>
            <a:off x="263525" y="765175"/>
            <a:ext cx="11734165" cy="56311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可以放什么？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原来表里就有的列名（比如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Sno, Sname, Grade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对列做运算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聚合出来的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“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新东西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（比如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AVG(Grade), MAX(Grade)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extract(year from current_date)-extract(year from Sbirthdate) 等等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式子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分组是怎么分的？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BY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谁，就按谁的值分组，值一样的放一组。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按学号分组：学号一样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同一组</a:t>
            </a: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3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594360" y="1098550"/>
            <a:ext cx="11206480" cy="51638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3600" dirty="0"/>
              <a:t>查找学生的学号、姓名、年龄</a:t>
            </a:r>
            <a:endParaRPr lang="zh-CN" altLang="en-US" sz="3600" dirty="0"/>
          </a:p>
          <a:p>
            <a:pPr marL="0" indent="0" eaLnBrk="1" hangingPunct="1">
              <a:buNone/>
            </a:pPr>
            <a:endParaRPr lang="en-US" altLang="zh-CN" sz="3600" dirty="0"/>
          </a:p>
          <a:p>
            <a:pPr marL="0" indent="0" eaLnBrk="1" hangingPunct="1">
              <a:buNone/>
            </a:pPr>
            <a:r>
              <a:rPr lang="en-US" altLang="zh-CN" sz="3600" dirty="0"/>
              <a:t>SELECT </a:t>
            </a:r>
            <a:endParaRPr lang="en-US" altLang="zh-CN" sz="3600" dirty="0"/>
          </a:p>
          <a:p>
            <a:pPr marL="0" indent="0" eaLnBrk="1" hangingPunct="1">
              <a:buNone/>
            </a:pPr>
            <a:r>
              <a:rPr lang="en-US" altLang="zh-CN" sz="3600" dirty="0"/>
              <a:t>    Sno,</a:t>
            </a:r>
            <a:endParaRPr lang="en-US" altLang="zh-CN" sz="3600" dirty="0"/>
          </a:p>
          <a:p>
            <a:pPr marL="0" indent="0" eaLnBrk="1" hangingPunct="1">
              <a:buNone/>
            </a:pPr>
            <a:r>
              <a:rPr lang="en-US" altLang="zh-CN" sz="3600" dirty="0"/>
              <a:t>    Sname,</a:t>
            </a:r>
            <a:endParaRPr lang="en-US" altLang="zh-CN" sz="3600" dirty="0"/>
          </a:p>
          <a:p>
            <a:pPr marL="0" indent="0" eaLnBrk="1" hangingPunct="1">
              <a:buNone/>
            </a:pPr>
            <a:r>
              <a:rPr lang="en-US" altLang="zh-CN" sz="3600" dirty="0"/>
              <a:t>    EXTRACT(YEAR FROM AGE(CURRENT_DATE, Sbirthdate)) Sage</a:t>
            </a:r>
            <a:endParaRPr lang="en-US" altLang="zh-CN" sz="3600" dirty="0"/>
          </a:p>
          <a:p>
            <a:pPr marL="0" indent="0" eaLnBrk="1" hangingPunct="1">
              <a:buNone/>
            </a:pPr>
            <a:r>
              <a:rPr lang="en-US" altLang="zh-CN" sz="3600" dirty="0"/>
              <a:t>FROM Student;</a:t>
            </a:r>
            <a:endParaRPr lang="en-US" altLang="zh-CN" sz="3600" dirty="0"/>
          </a:p>
          <a:p>
            <a:pPr marL="0" indent="0" eaLnBrk="1" hangingPunct="1">
              <a:buNone/>
            </a:pPr>
            <a:endParaRPr lang="en-US" altLang="zh-CN" sz="3600" dirty="0"/>
          </a:p>
          <a:p>
            <a:pPr marL="0" indent="0" eaLnBrk="1" hangingPunct="1">
              <a:buNone/>
            </a:pPr>
            <a:endParaRPr lang="en-US" altLang="zh-CN" sz="36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续</a:t>
            </a:r>
            <a:endParaRPr lang="zh-CN" altLang="en-US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GROUP BY</a:t>
            </a:r>
            <a:r>
              <a:rPr lang="zh-CN" altLang="en-US" sz="3600"/>
              <a:t>子句（续）</a:t>
            </a:r>
            <a:endParaRPr lang="zh-CN" altLang="en-US" sz="3600"/>
          </a:p>
        </p:txBody>
      </p:sp>
      <p:sp>
        <p:nvSpPr>
          <p:cNvPr id="99331" name="内容占位符 2"/>
          <p:cNvSpPr>
            <a:spLocks noGrp="1" noChangeArrowheads="1"/>
          </p:cNvSpPr>
          <p:nvPr>
            <p:ph idx="4294967295"/>
          </p:nvPr>
        </p:nvSpPr>
        <p:spPr>
          <a:xfrm>
            <a:off x="1981201" y="835660"/>
            <a:ext cx="8582025" cy="56451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3.48 ]</a:t>
            </a:r>
            <a:r>
              <a:rPr lang="zh-CN" altLang="en-US"/>
              <a:t>查询平均成绩大于等于</a:t>
            </a:r>
            <a:r>
              <a:rPr lang="en-US" altLang="zh-CN"/>
              <a:t>90</a:t>
            </a:r>
            <a:r>
              <a:rPr lang="zh-CN" altLang="en-US"/>
              <a:t>分的学生学号和平均成绩</a:t>
            </a:r>
            <a:endParaRPr lang="zh-CN" altLang="en-US"/>
          </a:p>
          <a:p>
            <a:pPr marL="0" indent="0" algn="just">
              <a:buNone/>
            </a:pPr>
            <a:r>
              <a:rPr lang="en-US" altLang="zh-CN"/>
              <a:t>SELECT Sno,AVG(Grade)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FROM SC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GROUP BY Sno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>
                <a:solidFill>
                  <a:srgbClr val="000000"/>
                </a:solidFill>
              </a:rPr>
              <a:t>HAVING AVG(Grade)&gt;=90;</a:t>
            </a:r>
            <a:endParaRPr lang="zh-CN" altLang="zh-CN"/>
          </a:p>
          <a:p>
            <a:pPr marL="0" indent="0" algn="just">
              <a:buNone/>
            </a:pPr>
            <a:r>
              <a:rPr lang="zh-CN" altLang="zh-CN">
                <a:solidFill>
                  <a:srgbClr val="7030A0"/>
                </a:solidFill>
              </a:rPr>
              <a:t>下面的语句是错误的：</a:t>
            </a:r>
            <a:endParaRPr lang="zh-CN" altLang="zh-CN">
              <a:solidFill>
                <a:srgbClr val="7030A0"/>
              </a:solidFill>
            </a:endParaRPr>
          </a:p>
          <a:p>
            <a:pPr marL="0" indent="0" algn="just">
              <a:buNone/>
            </a:pPr>
            <a:r>
              <a:rPr lang="en-US" altLang="zh-CN"/>
              <a:t>SELECT Sno,AVG(Grade)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/>
              <a:t>FROM SC</a:t>
            </a:r>
            <a:endParaRPr lang="zh-CN" altLang="zh-CN"/>
          </a:p>
          <a:p>
            <a:pPr marL="0" indent="0" algn="just">
              <a:buNone/>
            </a:pPr>
            <a:r>
              <a:rPr lang="en-US" altLang="zh-CN">
                <a:solidFill>
                  <a:srgbClr val="FF0000"/>
                </a:solidFill>
              </a:rPr>
              <a:t>WHERE AVG(Grade)&gt;=90</a:t>
            </a:r>
            <a:endParaRPr lang="zh-CN" altLang="zh-CN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altLang="zh-CN"/>
              <a:t>GROUP BY Sno;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7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4400" dirty="0"/>
              <a:t>[</a:t>
            </a:r>
            <a:r>
              <a:rPr lang="zh-CN" altLang="en-US" sz="4400" dirty="0"/>
              <a:t>例</a:t>
            </a:r>
            <a:r>
              <a:rPr lang="en-US" altLang="zh-CN" sz="4400" dirty="0"/>
              <a:t>3.85]</a:t>
            </a:r>
            <a:r>
              <a:rPr lang="zh-CN" altLang="en-US" sz="4400" dirty="0"/>
              <a:t> 选出选修</a:t>
            </a:r>
            <a:r>
              <a:rPr lang="en-US" altLang="zh-CN" sz="4400" dirty="0"/>
              <a:t>81001</a:t>
            </a:r>
            <a:r>
              <a:rPr lang="zh-CN" altLang="en-US" sz="4400" dirty="0"/>
              <a:t>号课程且成绩不及格的学生以及缺考的学生。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SELECT </a:t>
            </a:r>
            <a:r>
              <a:rPr lang="en-US" altLang="zh-CN" sz="4400" dirty="0" err="1"/>
              <a:t>Sno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FROM SC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WHERE </a:t>
            </a:r>
            <a:r>
              <a:rPr lang="en-US" altLang="zh-CN" sz="4400" dirty="0" err="1"/>
              <a:t>Cno</a:t>
            </a:r>
            <a:r>
              <a:rPr lang="en-US" altLang="zh-CN" sz="4400" dirty="0"/>
              <a:t>='81001' AND (Grade &lt; 60 OR Grade IS NULL);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3216275" y="4077335"/>
            <a:ext cx="624014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hangingPunct="1">
              <a:buNone/>
            </a:pPr>
            <a:r>
              <a:rPr 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 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 →</a:t>
            </a:r>
            <a:r>
              <a:rPr lang="en-US" altLang="zh-CN" sz="28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 (B OR C)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且，与：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及，和：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7760" y="1341120"/>
            <a:ext cx="1029208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筛选出 选修了 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81001 </a:t>
            </a:r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号课程，并且满足「成绩不及格（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&lt;60 </a:t>
            </a:r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分）」或「缺考（成绩为 </a:t>
            </a:r>
            <a:r>
              <a:rPr lang="en-US" altLang="zh-CN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</a:t>
            </a:r>
            <a:r>
              <a:rPr lang="zh-CN" altLang="en-US" sz="3200" b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）」的学生。</a:t>
            </a:r>
            <a:endParaRPr lang="zh-CN" altLang="en-US" sz="3200" b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AND</a:t>
            </a:r>
            <a:r>
              <a:rPr lang="zh-CN" altLang="en-US" sz="3600"/>
              <a:t>，</a:t>
            </a:r>
            <a:r>
              <a:rPr lang="en-US" altLang="zh-CN" sz="3600"/>
              <a:t>OR</a:t>
            </a:r>
            <a:endParaRPr lang="en-US" altLang="zh-CN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7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en-US" altLang="zh-CN" sz="4400" dirty="0"/>
              <a:t>[</a:t>
            </a:r>
            <a:r>
              <a:rPr lang="zh-CN" altLang="en-US" sz="4400" dirty="0"/>
              <a:t>例</a:t>
            </a:r>
            <a:r>
              <a:rPr lang="en-US" altLang="zh-CN" sz="4400" dirty="0"/>
              <a:t>3.85]</a:t>
            </a:r>
            <a:r>
              <a:rPr lang="zh-CN" altLang="en-US" sz="4400" dirty="0"/>
              <a:t> 选出选修</a:t>
            </a:r>
            <a:r>
              <a:rPr lang="en-US" altLang="zh-CN" sz="4400" dirty="0"/>
              <a:t>81001</a:t>
            </a:r>
            <a:r>
              <a:rPr lang="zh-CN" altLang="en-US" sz="4400" dirty="0"/>
              <a:t>号课程且成绩不及格的学生以及缺考的学生。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SELECT </a:t>
            </a:r>
            <a:r>
              <a:rPr lang="en-US" altLang="zh-CN" sz="4400" dirty="0" err="1"/>
              <a:t>Sno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FROM SC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en-US" altLang="zh-CN" sz="4400" dirty="0"/>
              <a:t>WHERE </a:t>
            </a:r>
            <a:r>
              <a:rPr lang="en-US" altLang="zh-CN" sz="4400" dirty="0" err="1"/>
              <a:t>Cno</a:t>
            </a:r>
            <a:r>
              <a:rPr lang="en-US" altLang="zh-CN" sz="4400" dirty="0"/>
              <a:t>='81001' AND (Grade &lt; 60 OR Grade IS NULL);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3216275" y="4077335"/>
            <a:ext cx="624014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eaLnBrk="1" hangingPunct="1">
              <a:buNone/>
            </a:pPr>
            <a:r>
              <a:rPr 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 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 →</a:t>
            </a:r>
            <a:r>
              <a:rPr lang="en-US" altLang="zh-CN" sz="28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 (B OR C)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且，与：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and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及，和：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AND</a:t>
            </a:r>
            <a:r>
              <a:rPr lang="zh-CN" altLang="en-US" sz="3600"/>
              <a:t>，</a:t>
            </a:r>
            <a:r>
              <a:rPr lang="en-US" altLang="zh-CN" sz="3600"/>
              <a:t>OR</a:t>
            </a:r>
            <a:endParaRPr lang="en-US" altLang="zh-CN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603355" cy="39230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8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学生表：</a:t>
            </a:r>
            <a:r>
              <a:rPr lang="en-US" altLang="zh-CN" sz="4400" dirty="0"/>
              <a:t>Student(Sno, </a:t>
            </a:r>
            <a:r>
              <a:rPr lang="en-US" altLang="zh-CN" sz="4400" dirty="0">
                <a:solidFill>
                  <a:srgbClr val="7030A0"/>
                </a:solidFill>
              </a:rPr>
              <a:t>Sname</a:t>
            </a:r>
            <a:r>
              <a:rPr lang="en-US" altLang="zh-CN" sz="4400" dirty="0"/>
              <a:t>, Sdept)       </a:t>
            </a:r>
            <a:r>
              <a:rPr lang="en-US" altLang="zh-CN" sz="4400" dirty="0">
                <a:sym typeface="+mn-ea"/>
              </a:rPr>
              <a:t>/*Sdept</a:t>
            </a:r>
            <a:r>
              <a:rPr lang="zh-CN" altLang="en-US" sz="4400" dirty="0">
                <a:sym typeface="+mn-ea"/>
              </a:rPr>
              <a:t>所在系</a:t>
            </a:r>
            <a:r>
              <a:rPr lang="en-US" altLang="zh-CN" sz="4400" dirty="0">
                <a:sym typeface="+mn-ea"/>
              </a:rPr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选课表：</a:t>
            </a:r>
            <a:r>
              <a:rPr lang="en-US" altLang="zh-CN" sz="4400" dirty="0"/>
              <a:t>SC(Sno, </a:t>
            </a:r>
            <a:r>
              <a:rPr lang="en-US" altLang="zh-CN" sz="4400" dirty="0">
                <a:solidFill>
                  <a:srgbClr val="7030A0"/>
                </a:solidFill>
              </a:rPr>
              <a:t>Cno</a:t>
            </a:r>
            <a:r>
              <a:rPr lang="en-US" altLang="zh-CN" sz="4400" dirty="0"/>
              <a:t>, </a:t>
            </a:r>
            <a:r>
              <a:rPr lang="en-US" altLang="zh-CN" sz="4400" dirty="0">
                <a:solidFill>
                  <a:srgbClr val="7030A0"/>
                </a:solidFill>
              </a:rPr>
              <a:t>Grade</a:t>
            </a:r>
            <a:r>
              <a:rPr lang="en-US" altLang="zh-CN" sz="4400" dirty="0"/>
              <a:t>)    /*Cno</a:t>
            </a:r>
            <a:r>
              <a:rPr lang="zh-CN" altLang="en-US" sz="4400" dirty="0"/>
              <a:t>课程号</a:t>
            </a:r>
            <a:r>
              <a:rPr lang="en-US" altLang="zh-CN" sz="4400" dirty="0"/>
              <a:t>*/</a:t>
            </a:r>
            <a:endParaRPr lang="en-US" altLang="zh-CN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建立信息管理与信息系统专业选修81001号课程且成绩在90分以上的学生的视图，包括学号、姓名、成绩属性。</a:t>
            </a:r>
            <a:endParaRPr lang="en-US" altLang="zh-CN" sz="4400" dirty="0"/>
          </a:p>
          <a:p>
            <a:pPr marL="0" indent="0" eaLnBrk="1" hangingPunct="1">
              <a:buNone/>
            </a:pPr>
            <a:endParaRPr lang="zh-CN" altLang="en-US" sz="44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AND</a:t>
            </a:r>
            <a:r>
              <a:rPr lang="zh-CN" altLang="en-US" sz="3600"/>
              <a:t>，</a:t>
            </a:r>
            <a:r>
              <a:rPr lang="en-US" altLang="zh-CN" sz="3600"/>
              <a:t>OR</a:t>
            </a:r>
            <a:endParaRPr lang="en-US" altLang="zh-CN" sz="3600"/>
          </a:p>
        </p:txBody>
      </p:sp>
      <p:sp>
        <p:nvSpPr>
          <p:cNvPr id="4" name="文本框 3"/>
          <p:cNvSpPr txBox="1"/>
          <p:nvPr/>
        </p:nvSpPr>
        <p:spPr>
          <a:xfrm>
            <a:off x="335915" y="3285490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v_90score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</a:t>
            </a:r>
            <a:endParaRPr lang="en-US" altLang="zh-CN" sz="2800" b="1" i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Student.Sno, Student.Sname, SC.Grade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Student, SC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Student.Sno = SC.Sno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Sdept = '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信息管理与信息系统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</a:t>
            </a:r>
            <a:r>
              <a:rPr lang="en-US" altLang="zh-CN" sz="28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Cno = '81001' AND Grade &gt; 90;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5" name="内容占位符 2"/>
          <p:cNvSpPr>
            <a:spLocks noGrp="1" noChangeArrowheads="1"/>
          </p:cNvSpPr>
          <p:nvPr/>
        </p:nvSpPr>
        <p:spPr>
          <a:xfrm>
            <a:off x="335915" y="836930"/>
            <a:ext cx="11779885" cy="56343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7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4400" dirty="0"/>
              <a:t>设某教学数据库中有三个关系：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学生关系</a:t>
            </a:r>
            <a:r>
              <a:rPr lang="en-US" altLang="zh-CN" sz="4400" dirty="0"/>
              <a:t>S(Sno,Sname,Sdept)，</a:t>
            </a:r>
            <a:r>
              <a:rPr lang="zh-CN" altLang="en-US" sz="4400" dirty="0"/>
              <a:t>其中</a:t>
            </a:r>
            <a:r>
              <a:rPr lang="en-US" altLang="zh-CN" sz="4400" dirty="0"/>
              <a:t>Sno</a:t>
            </a:r>
            <a:r>
              <a:rPr lang="zh-CN" altLang="en-US" sz="4400" dirty="0"/>
              <a:t>为学号，</a:t>
            </a:r>
            <a:r>
              <a:rPr lang="en-US" altLang="zh-CN" sz="4400" dirty="0"/>
              <a:t>Sname</a:t>
            </a:r>
            <a:r>
              <a:rPr lang="zh-CN" altLang="en-US" sz="4400" dirty="0"/>
              <a:t>为姓名，</a:t>
            </a:r>
            <a:r>
              <a:rPr lang="en-US" altLang="zh-CN" sz="4400" dirty="0"/>
              <a:t>Sdept</a:t>
            </a:r>
            <a:r>
              <a:rPr lang="zh-CN" altLang="en-US" sz="4400" dirty="0"/>
              <a:t>为所在系。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选课关系</a:t>
            </a:r>
            <a:r>
              <a:rPr lang="en-US" altLang="zh-CN" sz="4400" dirty="0"/>
              <a:t>SC(Sno,Cno,Grade)，</a:t>
            </a:r>
            <a:r>
              <a:rPr lang="zh-CN" altLang="en-US" sz="4400" dirty="0"/>
              <a:t>其中</a:t>
            </a:r>
            <a:r>
              <a:rPr lang="en-US" altLang="zh-CN" sz="4400" dirty="0"/>
              <a:t>Sno</a:t>
            </a:r>
            <a:r>
              <a:rPr lang="zh-CN" altLang="en-US" sz="4400" dirty="0"/>
              <a:t>为学号，</a:t>
            </a:r>
            <a:r>
              <a:rPr lang="en-US" altLang="zh-CN" sz="4400" dirty="0"/>
              <a:t>Cno</a:t>
            </a:r>
            <a:r>
              <a:rPr lang="zh-CN" altLang="en-US" sz="4400" dirty="0"/>
              <a:t>为课程号，</a:t>
            </a:r>
            <a:r>
              <a:rPr lang="en-US" altLang="zh-CN" sz="4400" dirty="0"/>
              <a:t>Grade</a:t>
            </a:r>
            <a:r>
              <a:rPr lang="zh-CN" altLang="en-US" sz="4400" dirty="0"/>
              <a:t>为成绩。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/>
              <a:t>课程关系</a:t>
            </a:r>
            <a:r>
              <a:rPr lang="en-US" altLang="zh-CN" sz="4400" dirty="0"/>
              <a:t>C(Cno,Cname, Teacher)，</a:t>
            </a:r>
            <a:r>
              <a:rPr lang="zh-CN" altLang="en-US" sz="4400" dirty="0"/>
              <a:t>其中</a:t>
            </a:r>
            <a:r>
              <a:rPr lang="en-US" altLang="zh-CN" sz="4400" dirty="0"/>
              <a:t>Cno</a:t>
            </a:r>
            <a:r>
              <a:rPr lang="zh-CN" altLang="en-US" sz="4400" dirty="0"/>
              <a:t>为课程号，</a:t>
            </a:r>
            <a:r>
              <a:rPr lang="en-US" altLang="zh-CN" sz="4400" dirty="0"/>
              <a:t>Cname</a:t>
            </a:r>
            <a:r>
              <a:rPr lang="zh-CN" altLang="en-US" sz="4400" dirty="0"/>
              <a:t>为课程名，</a:t>
            </a:r>
            <a:r>
              <a:rPr lang="en-US" altLang="zh-CN" sz="4400" dirty="0"/>
              <a:t>Teacher</a:t>
            </a:r>
            <a:r>
              <a:rPr lang="zh-CN" altLang="en-US" sz="4400" dirty="0"/>
              <a:t>为授课老师姓名。</a:t>
            </a:r>
            <a:endParaRPr lang="zh-CN" altLang="en-US" sz="4400" dirty="0"/>
          </a:p>
          <a:p>
            <a:pPr marL="0" indent="0" eaLnBrk="1" hangingPunct="1">
              <a:buNone/>
            </a:pPr>
            <a:r>
              <a:rPr lang="zh-CN" altLang="en-US" sz="4400" dirty="0">
                <a:solidFill>
                  <a:srgbClr val="7030A0"/>
                </a:solidFill>
              </a:rPr>
              <a:t>为信息工程系（'</a:t>
            </a:r>
            <a:r>
              <a:rPr lang="en-US" altLang="zh-CN" sz="4400" dirty="0">
                <a:solidFill>
                  <a:srgbClr val="7030A0"/>
                </a:solidFill>
              </a:rPr>
              <a:t>IS'）</a:t>
            </a:r>
            <a:r>
              <a:rPr lang="zh-CN" altLang="en-US" sz="4400" dirty="0">
                <a:solidFill>
                  <a:srgbClr val="7030A0"/>
                </a:solidFill>
              </a:rPr>
              <a:t>建立一个视图</a:t>
            </a:r>
            <a:r>
              <a:rPr lang="en-US" altLang="zh-CN" sz="4400" dirty="0">
                <a:solidFill>
                  <a:srgbClr val="7030A0"/>
                </a:solidFill>
              </a:rPr>
              <a:t>IS_AVG，</a:t>
            </a:r>
            <a:r>
              <a:rPr lang="zh-CN" altLang="en-US" sz="4400" dirty="0">
                <a:solidFill>
                  <a:srgbClr val="7030A0"/>
                </a:solidFill>
              </a:rPr>
              <a:t>要求显示该系学生的学号及选修课程的平均成绩。</a:t>
            </a:r>
            <a:endParaRPr lang="zh-CN" altLang="en-US" sz="4400" dirty="0">
              <a:solidFill>
                <a:srgbClr val="7030A0"/>
              </a:solidFill>
            </a:endParaRPr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r>
              <a:rPr lang="en-US" altLang="zh-CN" sz="2000" dirty="0">
                <a:sym typeface="+mn-ea"/>
              </a:rPr>
              <a:t>   </a:t>
            </a:r>
            <a:r>
              <a:rPr lang="en-US" altLang="zh-CN" sz="2000" dirty="0">
                <a:solidFill>
                  <a:srgbClr val="7030A0"/>
                </a:solidFill>
                <a:sym typeface="+mn-ea"/>
              </a:rPr>
              <a:t>         </a:t>
            </a: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  <a:p>
            <a:pPr marL="0" indent="0" eaLnBrk="1" hangingPunct="1">
              <a:buNone/>
            </a:pPr>
            <a:endParaRPr lang="en-US" altLang="zh-CN" sz="2000" dirty="0"/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VIEW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IS_AVG(Sno, AVG_Grade)  AS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S.Sno, AVG(Grade)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S, SC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WHERE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S.Sno=SC.Sno </a:t>
            </a:r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S.Sdept='IS'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GROUP BY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S.Sno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9865" y="1196975"/>
            <a:ext cx="11733530" cy="282956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    是位于用户与操作系统之间的一层数据管理软件。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 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数据库系统 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数据库管理系统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    是数据库的主要特征之一，也是数据库系统与文件系统的本质区别。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数据结构化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数据的共享性高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数据独立性高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D．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冗余度低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69240" y="1196975"/>
            <a:ext cx="11896725" cy="290258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3.数据库的三级模式结构中，       是数据物理结构和存储方式的描述，是数据在数据库内部的组织方式。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外模式			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内模式			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			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用户模式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4.下面对于关系模式基本特征中描述不正确的是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列是同质的		         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列的顺序可以任意交换			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行的顺序可以任意交换			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分量是可再分的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94310" y="1196975"/>
            <a:ext cx="11997690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5.在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中，与关系代数中的选择运算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对应的子句是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SELECT           B. FROM            C. WHERE       D. HAVING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6.自然连接是构成新关系的有效方法。一般情况下,当对关系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使用自然连接时,要求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含有一个或多个共有的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元组		    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              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			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7.如下图所示，两个关系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S，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它们进行       运算后结果为关系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T。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 R∪S   			B.  R×S	 	         C. R ⋈ S         D.  R÷S 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740" y="3573145"/>
            <a:ext cx="8922385" cy="24415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8.下列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动词中，如果需要从学生表(学号，姓名，年龄)中增加一列出生日期，则需要使用的是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SELECT		    B. DELETE			 C. UPDATE		 D. ALTER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903710" cy="287337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9.用下面的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语句建立一个基本表</a:t>
            </a:r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COURSE，</a:t>
            </a:r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有课号、课名、学分属性，如下：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TABLE COURSE (CNO CHAR (4) PRIMARY KEY,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CNAME CHAR (8) NOT NULL,  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CCREDIT  INT);             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则可以正确插入元组到表中的语句是       。</a:t>
            </a:r>
            <a:endParaRPr lang="zh-CN" altLang="en-US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INSERT  INTO  COURSE  VALUES (‘C1’，’English’，2)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INSERT  INTO  COURSE  VALUES (‘C1’，NULL，2)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INSERT  INTO  COURSE  VALUES (NULL，’Math’，2)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INSERT  INTO  COURSE  VALUES(‘C1’，’Chinese’)</a:t>
            </a:r>
            <a:endParaRPr lang="en-US" altLang="zh-CN" sz="28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10.SQL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中提供了许多聚集函数，对于学生关系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S(SNO,SNAME,SEX,AGE,SDEPT)，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如果需要查询“计算机系”的总人数，则使用到的聚集函数是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COUNT  		 B. MAX	  	 C. AVG 	 D. SUM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11.SQL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中谓词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LIKE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可以用来进行字符串的匹配，匹配串可以含有通配符。以下哪一个通配符代表任意单个字符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23570" y="1177290"/>
            <a:ext cx="11410950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12.下列能够实现“把用户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U1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对学生表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的更新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一列权限收回”这一功能的是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GRANT UPDATE (GRADE) ON TABLE SC TO U1       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 REVOKE UPDATE (GRADE) ON TABLE SC FROM U1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C. GRANT UPDATE (GRADE) ON TABLE SC FROM U1    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D. REVOKE UPDATE (GRADE) ON TABLE SC TO U1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23570" y="45402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13.在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TABLE SC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中定义属性的同时，需要根据应用要求定义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GRADE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取值范围为“0~100”，需要使用的是     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A. PRIMARY KEY		B.  UNIQUE   C. CHECK	   D. FOREIGN KEY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14.设有关系模式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R(X, Y, Z),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其函数依赖集为：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F={X→Y，Y→Z}。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则其最高达到第几范式（   ）。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1NF      B. 2NF     C. 3NF      D. BCNF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5095" y="1196975"/>
            <a:ext cx="11943080" cy="286385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  ①  是数据库中存储的基本对象。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关系数据库中，表中的一行即为一个  ②  ，一列即为一个  ③  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在数据库的两层映像中， ④ 映像保证了数据与程序的逻辑独立性。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已知某教务系统有学生关系</a:t>
            </a:r>
            <a:r>
              <a:rPr lang="en-US" altLang="zh-CN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S（Sno,Sname,Age），</a:t>
            </a:r>
            <a:r>
              <a:rPr lang="zh-CN" altLang="en-US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选课关系 </a:t>
            </a:r>
            <a:r>
              <a:rPr lang="en-US" altLang="zh-CN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SC（Sno,Cno,Grade），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课程关系 </a:t>
            </a:r>
            <a:r>
              <a:rPr lang="en-US" altLang="zh-CN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C（Cno,Cname,Teacher），</a:t>
            </a:r>
            <a:r>
              <a:rPr lang="zh-CN" altLang="en-US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若需要将学号为“230001”的成绩更新为85，请将该</a:t>
            </a:r>
            <a:r>
              <a:rPr lang="en-US" altLang="zh-CN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</a:t>
            </a:r>
            <a:r>
              <a:rPr lang="zh-CN" altLang="en-US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语句补充完整： </a:t>
            </a:r>
            <a:r>
              <a:rPr lang="en-US" altLang="zh-CN" sz="3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UPDATE  ⑤  SET   ⑥  WHERE  ⑦   </a:t>
            </a:r>
            <a:endParaRPr lang="en-US" altLang="zh-CN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39470" y="1196975"/>
            <a:ext cx="11228705" cy="294259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简答题（共15分，每题5分）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关系模型有三类完整性约束，简述每类约束含义分别是什么？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什么叫做事务？事务的</a:t>
            </a:r>
            <a:r>
              <a:rPr lang="en-US" altLang="zh-CN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ACID</a:t>
            </a:r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特性又分别指哪四个特性？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/>
            <a:r>
              <a:rPr lang="zh-CN" altLang="en-US" sz="36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封锁是实现并发控制的重要技术，请问一般有哪几种封锁类型？并详细描述这几种类型。</a:t>
            </a:r>
            <a:endParaRPr lang="zh-CN" altLang="en-US" sz="3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62" name="标题 1"/>
          <p:cNvSpPr>
            <a:spLocks noGrp="1" noChangeArrowheads="1"/>
          </p:cNvSpPr>
          <p:nvPr/>
        </p:nvSpPr>
        <p:spPr>
          <a:xfrm>
            <a:off x="609600" y="-33338"/>
            <a:ext cx="10972800" cy="11318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+mj-lt"/>
                <a:ea typeface="+mj-ea"/>
                <a:cs typeface="微软雅黑" panose="020B0503020204020204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/>
              <a:t>视图</a:t>
            </a:r>
            <a:endParaRPr lang="zh-CN" altLang="en-US"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数据库系统概论">
  <a:themeElements>
    <a:clrScheme name="1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数据库系统概论">
  <a:themeElements>
    <a:clrScheme name="2_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数据库系统概论">
  <a:themeElements>
    <a:clrScheme name="数据库系统概论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数据库系统概论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据库系统概论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据库系统概论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4038</Words>
  <Application>WPS 演示</Application>
  <PresentationFormat>宽屏</PresentationFormat>
  <Paragraphs>222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华文琥珀</vt:lpstr>
      <vt:lpstr>微软雅黑</vt:lpstr>
      <vt:lpstr>Calibri</vt:lpstr>
      <vt:lpstr>Franklin Gothic Medium</vt:lpstr>
      <vt:lpstr>Arial Unicode MS</vt:lpstr>
      <vt:lpstr>Times New Roman</vt:lpstr>
      <vt:lpstr>MS PGothic</vt:lpstr>
      <vt:lpstr>数据库系统概论</vt:lpstr>
      <vt:lpstr>1_数据库系统概论</vt:lpstr>
      <vt:lpstr>2_数据库系统概论</vt:lpstr>
      <vt:lpstr>3_数据库系统概论</vt:lpstr>
      <vt:lpstr>GROUP BY子句（续）</vt:lpstr>
      <vt:lpstr>GROUP BY子句（续）</vt:lpstr>
      <vt:lpstr>PowerPoint 演示文稿</vt:lpstr>
      <vt:lpstr>GROUP BY子句（续）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guixiang</dc:creator>
  <cp:lastModifiedBy>茗</cp:lastModifiedBy>
  <cp:revision>372</cp:revision>
  <dcterms:created xsi:type="dcterms:W3CDTF">2014-10-23T04:37:00Z</dcterms:created>
  <dcterms:modified xsi:type="dcterms:W3CDTF">2026-04-30T03:41:34Z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641152CE318A4F8A8066D53ECC2E7705_12</vt:lpwstr>
  </property>
</Properties>
</file>